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1468" autoAdjust="0"/>
  </p:normalViewPr>
  <p:slideViewPr>
    <p:cSldViewPr snapToGrid="0" snapToObjects="1">
      <p:cViewPr varScale="1">
        <p:scale>
          <a:sx n="67" d="100"/>
          <a:sy n="67" d="100"/>
        </p:scale>
        <p:origin x="1190"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97593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Em xin chào quý thầy cô trong hội đồng chấm khóa luận tốt nghiệp.</a:t>
            </a:r>
          </a:p>
          <a:p>
            <a:r>
              <a:t>Em là La Đại Lộc, sinh viên lớp Công nghệ thông tin 45B, mã số sinh viên 4551050116.</a:t>
            </a:r>
          </a:p>
          <a:p>
            <a:r>
              <a:t>Hôm nay em xin trình bày khóa luận tốt nghiệp với đề tài: "Ứng dụng kiến trúc Hybrid (Edge-Cloud) và Deep Learning trong bài toán nhận diện hành vi tài xế xe khách".</a:t>
            </a:r>
          </a:p>
          <a:p>
            <a:r>
              <a:t>Đề tài được thực hiện dưới sự hướng dẫn của TS. Nguyễn Thanh Bình.</a:t>
            </a:r>
          </a:p>
          <a:p>
            <a:r>
              <a:t>Em xin bắt đầu phần trình bày của mình.</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Để quý thầy cô dễ theo dõi, em xin trình bày nội dung khóa luận theo 5 phần chính.</a:t>
            </a:r>
          </a:p>
          <a:p>
            <a:r>
              <a:t>Phần 1: Em sẽ trình bày bối cảnh và lý do chọn đề tài, bao gồm thực trạng an toàn giao thông và các hạn chế của phương pháp truyền thống.</a:t>
            </a:r>
          </a:p>
          <a:p>
            <a:r>
              <a:t>Phần 2: Tổng quan các công nghệ sử dụng trong đề tài, bao gồm YOLO, MediaPipe Pose, SlowFast và các kỹ thuật tối ưu cho thiết bị Edge.</a:t>
            </a:r>
          </a:p>
          <a:p>
            <a:r>
              <a:t>Phần 3: Phân tích và thiết kế kiến trúc hệ thống Hybrid Edge-Cloud.</a:t>
            </a:r>
          </a:p>
          <a:p>
            <a:r>
              <a:t>Phần 4: Quá trình xây dựng, triển khai và đánh giá kết quả thực nghiệm.</a:t>
            </a:r>
          </a:p>
          <a:p>
            <a:r>
              <a:t>Phần 5: Kết luận và các hướng phát triển trong tương lai.</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Đề tài của em xuất phát từ thực trạng an toàn giao thông hiện nay.</a:t>
            </a:r>
          </a:p>
          <a:p>
            <a:r>
              <a:t>Theo các báo cáo từ WHO, phần lớn các vụ tai nạn giao thông nghiêm trọng không phải do lỗi kỹ thuật của phương tiện, mà bắt nguồn từ yếu tố chủ quan của con người.</a:t>
            </a:r>
          </a:p>
          <a:p>
            <a:r>
              <a:t>Trong đó, sự mất tập trung khi lái xe chiếm tỷ trọng cao nhất. Các hành vi nguy hiểm điển hình bao gồm: sử dụng điện thoại di động, hút thuốc và không thắt dây an toàn.</a:t>
            </a:r>
          </a:p>
          <a:p>
            <a:r>
              <a:t>Những hành vi này làm tăng đáng kể độ trễ phản xạ, tước đi thời gian vàng để tài xế xử lý tình huống khẩn cấp.</a:t>
            </a:r>
          </a:p>
          <a:p>
            <a:r>
              <a:t>Do đó, việc xây dựng hệ thống giám sát hành vi tài xế là rất cần thiết.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Trước</a:t>
            </a:r>
            <a:r>
              <a:rPr dirty="0"/>
              <a:t> </a:t>
            </a:r>
            <a:r>
              <a:rPr dirty="0" err="1"/>
              <a:t>khi</a:t>
            </a:r>
            <a:r>
              <a:rPr dirty="0"/>
              <a:t> </a:t>
            </a:r>
            <a:r>
              <a:rPr dirty="0" err="1"/>
              <a:t>có</a:t>
            </a:r>
            <a:r>
              <a:rPr dirty="0"/>
              <a:t> </a:t>
            </a:r>
            <a:r>
              <a:rPr dirty="0" err="1"/>
              <a:t>công</a:t>
            </a:r>
            <a:r>
              <a:rPr dirty="0"/>
              <a:t> </a:t>
            </a:r>
            <a:r>
              <a:rPr dirty="0" err="1"/>
              <a:t>nghệ</a:t>
            </a:r>
            <a:r>
              <a:rPr dirty="0"/>
              <a:t> Deep Learning, </a:t>
            </a:r>
            <a:r>
              <a:rPr dirty="0" err="1"/>
              <a:t>các</a:t>
            </a:r>
            <a:r>
              <a:rPr dirty="0"/>
              <a:t> </a:t>
            </a:r>
            <a:r>
              <a:rPr dirty="0" err="1"/>
              <a:t>hệ</a:t>
            </a:r>
            <a:r>
              <a:rPr dirty="0"/>
              <a:t> </a:t>
            </a:r>
            <a:r>
              <a:rPr dirty="0" err="1"/>
              <a:t>thống</a:t>
            </a:r>
            <a:r>
              <a:rPr dirty="0"/>
              <a:t> </a:t>
            </a:r>
            <a:r>
              <a:rPr dirty="0" err="1"/>
              <a:t>giám</a:t>
            </a:r>
            <a:r>
              <a:rPr dirty="0"/>
              <a:t> </a:t>
            </a:r>
            <a:r>
              <a:rPr dirty="0" err="1"/>
              <a:t>sát</a:t>
            </a:r>
            <a:r>
              <a:rPr dirty="0"/>
              <a:t> </a:t>
            </a:r>
            <a:r>
              <a:rPr dirty="0" err="1"/>
              <a:t>chủ</a:t>
            </a:r>
            <a:r>
              <a:rPr dirty="0"/>
              <a:t> </a:t>
            </a:r>
            <a:r>
              <a:rPr dirty="0" err="1"/>
              <a:t>yếu</a:t>
            </a:r>
            <a:r>
              <a:rPr dirty="0"/>
              <a:t> </a:t>
            </a:r>
            <a:r>
              <a:rPr dirty="0" err="1"/>
              <a:t>dựa</a:t>
            </a:r>
            <a:r>
              <a:rPr dirty="0"/>
              <a:t> </a:t>
            </a:r>
            <a:r>
              <a:rPr dirty="0" err="1"/>
              <a:t>vào</a:t>
            </a:r>
            <a:r>
              <a:rPr dirty="0"/>
              <a:t> camera </a:t>
            </a:r>
            <a:r>
              <a:rPr dirty="0" err="1"/>
              <a:t>hành</a:t>
            </a:r>
            <a:r>
              <a:rPr dirty="0"/>
              <a:t> </a:t>
            </a:r>
            <a:r>
              <a:rPr dirty="0" err="1"/>
              <a:t>trình</a:t>
            </a:r>
            <a:r>
              <a:rPr dirty="0"/>
              <a:t> </a:t>
            </a:r>
            <a:r>
              <a:rPr dirty="0" err="1"/>
              <a:t>truyền</a:t>
            </a:r>
            <a:r>
              <a:rPr dirty="0"/>
              <a:t> </a:t>
            </a:r>
            <a:r>
              <a:rPr dirty="0" err="1"/>
              <a:t>thống</a:t>
            </a:r>
            <a:r>
              <a:rPr dirty="0"/>
              <a:t>.</a:t>
            </a:r>
          </a:p>
          <a:p>
            <a:r>
              <a:rPr dirty="0"/>
              <a:t>Camera </a:t>
            </a:r>
            <a:r>
              <a:rPr dirty="0" err="1"/>
              <a:t>hành</a:t>
            </a:r>
            <a:r>
              <a:rPr dirty="0"/>
              <a:t> </a:t>
            </a:r>
            <a:r>
              <a:rPr dirty="0" err="1"/>
              <a:t>trình</a:t>
            </a:r>
            <a:r>
              <a:rPr dirty="0"/>
              <a:t> </a:t>
            </a:r>
            <a:r>
              <a:rPr dirty="0" err="1"/>
              <a:t>về</a:t>
            </a:r>
            <a:r>
              <a:rPr dirty="0"/>
              <a:t> </a:t>
            </a:r>
            <a:r>
              <a:rPr dirty="0" err="1"/>
              <a:t>bản</a:t>
            </a:r>
            <a:r>
              <a:rPr dirty="0"/>
              <a:t> </a:t>
            </a:r>
            <a:r>
              <a:rPr dirty="0" err="1"/>
              <a:t>chất</a:t>
            </a:r>
            <a:r>
              <a:rPr dirty="0"/>
              <a:t> </a:t>
            </a:r>
            <a:r>
              <a:rPr dirty="0" err="1"/>
              <a:t>chỉ</a:t>
            </a:r>
            <a:r>
              <a:rPr dirty="0"/>
              <a:t> </a:t>
            </a:r>
            <a:r>
              <a:rPr dirty="0" err="1"/>
              <a:t>là</a:t>
            </a:r>
            <a:r>
              <a:rPr dirty="0"/>
              <a:t> </a:t>
            </a:r>
            <a:r>
              <a:rPr dirty="0" err="1"/>
              <a:t>thiết</a:t>
            </a:r>
            <a:r>
              <a:rPr dirty="0"/>
              <a:t> </a:t>
            </a:r>
            <a:r>
              <a:rPr dirty="0" err="1"/>
              <a:t>bị</a:t>
            </a:r>
            <a:r>
              <a:rPr dirty="0"/>
              <a:t> </a:t>
            </a:r>
            <a:r>
              <a:rPr dirty="0" err="1"/>
              <a:t>ghi</a:t>
            </a:r>
            <a:r>
              <a:rPr dirty="0"/>
              <a:t> </a:t>
            </a:r>
            <a:r>
              <a:rPr dirty="0" err="1"/>
              <a:t>hình</a:t>
            </a:r>
            <a:r>
              <a:rPr dirty="0"/>
              <a:t> </a:t>
            </a:r>
            <a:r>
              <a:rPr dirty="0" err="1"/>
              <a:t>thụ</a:t>
            </a:r>
            <a:r>
              <a:rPr dirty="0"/>
              <a:t> </a:t>
            </a:r>
            <a:r>
              <a:rPr dirty="0" err="1"/>
              <a:t>động</a:t>
            </a:r>
            <a:r>
              <a:rPr dirty="0"/>
              <a:t>, </a:t>
            </a:r>
            <a:r>
              <a:rPr dirty="0" err="1"/>
              <a:t>việc</a:t>
            </a:r>
            <a:r>
              <a:rPr dirty="0"/>
              <a:t> </a:t>
            </a:r>
            <a:r>
              <a:rPr dirty="0" err="1"/>
              <a:t>phát</a:t>
            </a:r>
            <a:r>
              <a:rPr dirty="0"/>
              <a:t> </a:t>
            </a:r>
            <a:r>
              <a:rPr dirty="0" err="1"/>
              <a:t>hiện</a:t>
            </a:r>
            <a:r>
              <a:rPr dirty="0"/>
              <a:t> vi </a:t>
            </a:r>
            <a:r>
              <a:rPr dirty="0" err="1"/>
              <a:t>phạm</a:t>
            </a:r>
            <a:r>
              <a:rPr dirty="0"/>
              <a:t> </a:t>
            </a:r>
            <a:r>
              <a:rPr dirty="0" err="1"/>
              <a:t>phải</a:t>
            </a:r>
            <a:r>
              <a:rPr dirty="0"/>
              <a:t> </a:t>
            </a:r>
            <a:r>
              <a:rPr dirty="0" err="1"/>
              <a:t>thực</a:t>
            </a:r>
            <a:r>
              <a:rPr dirty="0"/>
              <a:t> </a:t>
            </a:r>
            <a:r>
              <a:rPr dirty="0" err="1"/>
              <a:t>hiện</a:t>
            </a:r>
            <a:r>
              <a:rPr dirty="0"/>
              <a:t> </a:t>
            </a:r>
            <a:r>
              <a:rPr dirty="0" err="1"/>
              <a:t>thủ</a:t>
            </a:r>
            <a:r>
              <a:rPr dirty="0"/>
              <a:t> </a:t>
            </a:r>
            <a:r>
              <a:rPr dirty="0" err="1"/>
              <a:t>công</a:t>
            </a:r>
            <a:r>
              <a:rPr dirty="0"/>
              <a:t> </a:t>
            </a:r>
            <a:r>
              <a:rPr dirty="0" err="1"/>
              <a:t>sau</a:t>
            </a:r>
            <a:r>
              <a:rPr dirty="0"/>
              <a:t> </a:t>
            </a:r>
            <a:r>
              <a:rPr dirty="0" err="1"/>
              <a:t>khi</a:t>
            </a:r>
            <a:r>
              <a:rPr dirty="0"/>
              <a:t> </a:t>
            </a:r>
            <a:r>
              <a:rPr dirty="0" err="1"/>
              <a:t>sự</a:t>
            </a:r>
            <a:r>
              <a:rPr dirty="0"/>
              <a:t> </a:t>
            </a:r>
            <a:r>
              <a:rPr dirty="0" err="1"/>
              <a:t>cố</a:t>
            </a:r>
            <a:r>
              <a:rPr dirty="0"/>
              <a:t> </a:t>
            </a:r>
            <a:r>
              <a:rPr dirty="0" err="1"/>
              <a:t>xảy</a:t>
            </a:r>
            <a:r>
              <a:rPr dirty="0"/>
              <a:t> </a:t>
            </a:r>
            <a:r>
              <a:rPr dirty="0" err="1"/>
              <a:t>ra.</a:t>
            </a:r>
            <a:endParaRPr dirty="0"/>
          </a:p>
          <a:p>
            <a:r>
              <a:rPr dirty="0" err="1"/>
              <a:t>Một</a:t>
            </a:r>
            <a:r>
              <a:rPr dirty="0"/>
              <a:t> </a:t>
            </a:r>
            <a:r>
              <a:rPr dirty="0" err="1"/>
              <a:t>số</a:t>
            </a:r>
            <a:r>
              <a:rPr dirty="0"/>
              <a:t> </a:t>
            </a:r>
            <a:r>
              <a:rPr dirty="0" err="1"/>
              <a:t>hệ</a:t>
            </a:r>
            <a:r>
              <a:rPr dirty="0"/>
              <a:t> </a:t>
            </a:r>
            <a:r>
              <a:rPr dirty="0" err="1"/>
              <a:t>thống</a:t>
            </a:r>
            <a:r>
              <a:rPr dirty="0"/>
              <a:t> </a:t>
            </a:r>
            <a:r>
              <a:rPr dirty="0" err="1"/>
              <a:t>tích</a:t>
            </a:r>
            <a:r>
              <a:rPr dirty="0"/>
              <a:t> </a:t>
            </a:r>
            <a:r>
              <a:rPr dirty="0" err="1"/>
              <a:t>hợp</a:t>
            </a:r>
            <a:r>
              <a:rPr dirty="0"/>
              <a:t> Object Detection </a:t>
            </a:r>
            <a:r>
              <a:rPr dirty="0" err="1"/>
              <a:t>cơ</a:t>
            </a:r>
            <a:r>
              <a:rPr dirty="0"/>
              <a:t> </a:t>
            </a:r>
            <a:r>
              <a:rPr dirty="0" err="1"/>
              <a:t>bản</a:t>
            </a:r>
            <a:r>
              <a:rPr dirty="0"/>
              <a:t>, </a:t>
            </a:r>
            <a:r>
              <a:rPr dirty="0" err="1"/>
              <a:t>nhưng</a:t>
            </a:r>
            <a:r>
              <a:rPr dirty="0"/>
              <a:t> </a:t>
            </a:r>
            <a:r>
              <a:rPr dirty="0" err="1"/>
              <a:t>chỉ</a:t>
            </a:r>
            <a:r>
              <a:rPr dirty="0"/>
              <a:t> </a:t>
            </a:r>
            <a:r>
              <a:rPr dirty="0" err="1"/>
              <a:t>phát</a:t>
            </a:r>
            <a:r>
              <a:rPr dirty="0"/>
              <a:t> </a:t>
            </a:r>
            <a:r>
              <a:rPr dirty="0" err="1"/>
              <a:t>hiện</a:t>
            </a:r>
            <a:r>
              <a:rPr dirty="0"/>
              <a:t> </a:t>
            </a:r>
            <a:r>
              <a:rPr dirty="0" err="1"/>
              <a:t>vật</a:t>
            </a:r>
            <a:r>
              <a:rPr dirty="0"/>
              <a:t> </a:t>
            </a:r>
            <a:r>
              <a:rPr dirty="0" err="1"/>
              <a:t>thể</a:t>
            </a:r>
            <a:r>
              <a:rPr dirty="0"/>
              <a:t> </a:t>
            </a:r>
            <a:r>
              <a:rPr dirty="0" err="1"/>
              <a:t>đơn</a:t>
            </a:r>
            <a:r>
              <a:rPr dirty="0"/>
              <a:t> </a:t>
            </a:r>
            <a:r>
              <a:rPr dirty="0" err="1"/>
              <a:t>lẻ</a:t>
            </a:r>
            <a:r>
              <a:rPr dirty="0"/>
              <a:t> </a:t>
            </a:r>
            <a:r>
              <a:rPr dirty="0" err="1"/>
              <a:t>mà</a:t>
            </a:r>
            <a:r>
              <a:rPr dirty="0"/>
              <a:t> </a:t>
            </a:r>
            <a:r>
              <a:rPr dirty="0" err="1"/>
              <a:t>thiếu</a:t>
            </a:r>
            <a:r>
              <a:rPr dirty="0"/>
              <a:t> </a:t>
            </a:r>
            <a:r>
              <a:rPr dirty="0" err="1"/>
              <a:t>cơ</a:t>
            </a:r>
            <a:r>
              <a:rPr dirty="0"/>
              <a:t> </a:t>
            </a:r>
            <a:r>
              <a:rPr dirty="0" err="1"/>
              <a:t>chế</a:t>
            </a:r>
            <a:r>
              <a:rPr dirty="0"/>
              <a:t> </a:t>
            </a:r>
            <a:r>
              <a:rPr dirty="0" err="1"/>
              <a:t>hiểu</a:t>
            </a:r>
            <a:r>
              <a:rPr dirty="0"/>
              <a:t> </a:t>
            </a:r>
            <a:r>
              <a:rPr dirty="0" err="1"/>
              <a:t>ngữ</a:t>
            </a:r>
            <a:r>
              <a:rPr dirty="0"/>
              <a:t> </a:t>
            </a:r>
            <a:r>
              <a:rPr dirty="0" err="1"/>
              <a:t>cảnh</a:t>
            </a:r>
            <a:r>
              <a:rPr dirty="0"/>
              <a:t>.</a:t>
            </a:r>
          </a:p>
          <a:p>
            <a:r>
              <a:rPr dirty="0" err="1"/>
              <a:t>Ví</a:t>
            </a:r>
            <a:r>
              <a:rPr dirty="0"/>
              <a:t> </a:t>
            </a:r>
            <a:r>
              <a:rPr dirty="0" err="1"/>
              <a:t>dụ</a:t>
            </a:r>
            <a:r>
              <a:rPr dirty="0"/>
              <a:t>, </a:t>
            </a:r>
            <a:r>
              <a:rPr dirty="0" err="1"/>
              <a:t>hệ</a:t>
            </a:r>
            <a:r>
              <a:rPr dirty="0"/>
              <a:t> </a:t>
            </a:r>
            <a:r>
              <a:rPr dirty="0" err="1"/>
              <a:t>thống</a:t>
            </a:r>
            <a:r>
              <a:rPr dirty="0"/>
              <a:t> </a:t>
            </a:r>
            <a:r>
              <a:rPr dirty="0" err="1"/>
              <a:t>có</a:t>
            </a:r>
            <a:r>
              <a:rPr dirty="0"/>
              <a:t> </a:t>
            </a:r>
            <a:r>
              <a:rPr dirty="0" err="1"/>
              <a:t>thể</a:t>
            </a:r>
            <a:r>
              <a:rPr dirty="0"/>
              <a:t> </a:t>
            </a:r>
            <a:r>
              <a:rPr dirty="0" err="1"/>
              <a:t>nhận</a:t>
            </a:r>
            <a:r>
              <a:rPr dirty="0"/>
              <a:t> </a:t>
            </a:r>
            <a:r>
              <a:rPr dirty="0" err="1"/>
              <a:t>diện</a:t>
            </a:r>
            <a:r>
              <a:rPr dirty="0"/>
              <a:t> </a:t>
            </a:r>
            <a:r>
              <a:rPr dirty="0" err="1"/>
              <a:t>điện</a:t>
            </a:r>
            <a:r>
              <a:rPr dirty="0"/>
              <a:t> </a:t>
            </a:r>
            <a:r>
              <a:rPr dirty="0" err="1"/>
              <a:t>thoại</a:t>
            </a:r>
            <a:r>
              <a:rPr dirty="0"/>
              <a:t> </a:t>
            </a:r>
            <a:r>
              <a:rPr dirty="0" err="1"/>
              <a:t>trong</a:t>
            </a:r>
            <a:r>
              <a:rPr dirty="0"/>
              <a:t> </a:t>
            </a:r>
            <a:r>
              <a:rPr dirty="0" err="1"/>
              <a:t>khung</a:t>
            </a:r>
            <a:r>
              <a:rPr dirty="0"/>
              <a:t> </a:t>
            </a:r>
            <a:r>
              <a:rPr dirty="0" err="1"/>
              <a:t>hình</a:t>
            </a:r>
            <a:r>
              <a:rPr dirty="0"/>
              <a:t>, </a:t>
            </a:r>
            <a:r>
              <a:rPr dirty="0" err="1"/>
              <a:t>nhưng</a:t>
            </a:r>
            <a:r>
              <a:rPr dirty="0"/>
              <a:t> </a:t>
            </a:r>
            <a:r>
              <a:rPr dirty="0" err="1"/>
              <a:t>không</a:t>
            </a:r>
            <a:r>
              <a:rPr dirty="0"/>
              <a:t> </a:t>
            </a:r>
            <a:r>
              <a:rPr dirty="0" err="1"/>
              <a:t>biết</a:t>
            </a:r>
            <a:r>
              <a:rPr dirty="0"/>
              <a:t> </a:t>
            </a:r>
            <a:r>
              <a:rPr dirty="0" err="1"/>
              <a:t>đó</a:t>
            </a:r>
            <a:r>
              <a:rPr dirty="0"/>
              <a:t> </a:t>
            </a:r>
            <a:r>
              <a:rPr dirty="0" err="1"/>
              <a:t>là</a:t>
            </a:r>
            <a:r>
              <a:rPr dirty="0"/>
              <a:t> </a:t>
            </a:r>
            <a:r>
              <a:rPr dirty="0" err="1"/>
              <a:t>của</a:t>
            </a:r>
            <a:r>
              <a:rPr dirty="0"/>
              <a:t> </a:t>
            </a:r>
            <a:r>
              <a:rPr dirty="0" err="1"/>
              <a:t>tài</a:t>
            </a:r>
            <a:r>
              <a:rPr dirty="0"/>
              <a:t> </a:t>
            </a:r>
            <a:r>
              <a:rPr dirty="0" err="1"/>
              <a:t>xế</a:t>
            </a:r>
            <a:r>
              <a:rPr dirty="0"/>
              <a:t> hay </a:t>
            </a:r>
            <a:r>
              <a:rPr dirty="0" err="1"/>
              <a:t>hành</a:t>
            </a:r>
            <a:r>
              <a:rPr dirty="0"/>
              <a:t> </a:t>
            </a:r>
            <a:r>
              <a:rPr dirty="0" err="1"/>
              <a:t>khách</a:t>
            </a:r>
            <a:r>
              <a:rPr dirty="0"/>
              <a:t> </a:t>
            </a:r>
            <a:r>
              <a:rPr dirty="0" err="1"/>
              <a:t>ghế</a:t>
            </a:r>
            <a:r>
              <a:rPr dirty="0"/>
              <a:t> </a:t>
            </a:r>
            <a:r>
              <a:rPr dirty="0" err="1"/>
              <a:t>phụ</a:t>
            </a:r>
            <a:r>
              <a:rPr dirty="0"/>
              <a:t>.</a:t>
            </a:r>
          </a:p>
          <a:p>
            <a:r>
              <a:rPr dirty="0" err="1"/>
              <a:t>Điều</a:t>
            </a:r>
            <a:r>
              <a:rPr dirty="0"/>
              <a:t> </a:t>
            </a:r>
            <a:r>
              <a:rPr dirty="0" err="1"/>
              <a:t>này</a:t>
            </a:r>
            <a:r>
              <a:rPr dirty="0"/>
              <a:t> </a:t>
            </a:r>
            <a:r>
              <a:rPr dirty="0" err="1"/>
              <a:t>dẫn</a:t>
            </a:r>
            <a:r>
              <a:rPr dirty="0"/>
              <a:t> </a:t>
            </a:r>
            <a:r>
              <a:rPr dirty="0" err="1"/>
              <a:t>đến</a:t>
            </a:r>
            <a:r>
              <a:rPr dirty="0"/>
              <a:t> </a:t>
            </a:r>
            <a:r>
              <a:rPr dirty="0" err="1"/>
              <a:t>tỷ</a:t>
            </a:r>
            <a:r>
              <a:rPr dirty="0"/>
              <a:t> </a:t>
            </a:r>
            <a:r>
              <a:rPr dirty="0" err="1"/>
              <a:t>lệ</a:t>
            </a:r>
            <a:r>
              <a:rPr dirty="0"/>
              <a:t> </a:t>
            </a:r>
            <a:r>
              <a:rPr dirty="0" err="1"/>
              <a:t>cảnh</a:t>
            </a:r>
            <a:r>
              <a:rPr dirty="0"/>
              <a:t> </a:t>
            </a:r>
            <a:r>
              <a:rPr dirty="0" err="1"/>
              <a:t>báo</a:t>
            </a:r>
            <a:r>
              <a:rPr dirty="0"/>
              <a:t> </a:t>
            </a:r>
            <a:r>
              <a:rPr dirty="0" err="1"/>
              <a:t>sai</a:t>
            </a:r>
            <a:r>
              <a:rPr dirty="0"/>
              <a:t> </a:t>
            </a:r>
            <a:r>
              <a:rPr dirty="0" err="1"/>
              <a:t>cao</a:t>
            </a:r>
            <a:r>
              <a:rPr dirty="0"/>
              <a:t>, </a:t>
            </a:r>
            <a:r>
              <a:rPr dirty="0" err="1"/>
              <a:t>gây</a:t>
            </a:r>
            <a:r>
              <a:rPr dirty="0"/>
              <a:t> </a:t>
            </a:r>
            <a:r>
              <a:rPr dirty="0" err="1"/>
              <a:t>mệt</a:t>
            </a:r>
            <a:r>
              <a:rPr dirty="0"/>
              <a:t> </a:t>
            </a:r>
            <a:r>
              <a:rPr dirty="0" err="1"/>
              <a:t>mỏi</a:t>
            </a:r>
            <a:r>
              <a:rPr dirty="0"/>
              <a:t> </a:t>
            </a:r>
            <a:r>
              <a:rPr dirty="0" err="1"/>
              <a:t>cho</a:t>
            </a:r>
            <a:r>
              <a:rPr dirty="0"/>
              <a:t> </a:t>
            </a:r>
            <a:r>
              <a:rPr dirty="0" err="1"/>
              <a:t>tài</a:t>
            </a:r>
            <a:r>
              <a:rPr dirty="0"/>
              <a:t> </a:t>
            </a:r>
            <a:r>
              <a:rPr dirty="0" err="1"/>
              <a:t>xế</a:t>
            </a:r>
            <a:r>
              <a:rPr dirty="0"/>
              <a:t> </a:t>
            </a:r>
            <a:r>
              <a:rPr dirty="0" err="1"/>
              <a:t>và</a:t>
            </a:r>
            <a:r>
              <a:rPr dirty="0"/>
              <a:t> </a:t>
            </a:r>
            <a:r>
              <a:rPr dirty="0" err="1"/>
              <a:t>làm</a:t>
            </a:r>
            <a:r>
              <a:rPr dirty="0"/>
              <a:t> </a:t>
            </a:r>
            <a:r>
              <a:rPr dirty="0" err="1"/>
              <a:t>giảm</a:t>
            </a:r>
            <a:r>
              <a:rPr dirty="0"/>
              <a:t> </a:t>
            </a:r>
            <a:r>
              <a:rPr dirty="0" err="1"/>
              <a:t>niềm</a:t>
            </a:r>
            <a:r>
              <a:rPr dirty="0"/>
              <a:t> tin </a:t>
            </a:r>
            <a:r>
              <a:rPr dirty="0" err="1"/>
              <a:t>vào</a:t>
            </a:r>
            <a:r>
              <a:rPr dirty="0"/>
              <a:t> </a:t>
            </a:r>
            <a:r>
              <a:rPr dirty="0" err="1"/>
              <a:t>hệ</a:t>
            </a:r>
            <a:r>
              <a:rPr dirty="0"/>
              <a:t> </a:t>
            </a:r>
            <a:r>
              <a:rPr dirty="0" err="1"/>
              <a:t>thống</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Đề tài có 4 mục tiêu chính:</a:t>
            </a:r>
          </a:p>
          <a:p>
            <a:r>
              <a:t>Thứ nhất, xây dựng hệ thống DMS có khả năng nhận diện 3 nhóm hành vi nguy hiểm: sử dụng điện thoại, hút thuốc và không thắt dây an toàn.</a:t>
            </a:r>
          </a:p>
          <a:p>
            <a:r>
              <a:t>Thứ hai, triển khai xử lý video trực tiếp tại Edge bằng cách kết hợp YOLO và MediaPipe Pose trên thiết bị nhúng.</a:t>
            </a:r>
          </a:p>
          <a:p>
            <a:r>
              <a:t>Thứ ba, xây dựng phân hệ Cloud để tiếp nhận cảnh báo, lưu trữ bằng chứng và cung cấp dashboard giám sát tập trung.</a:t>
            </a:r>
          </a:p>
          <a:p>
            <a:r>
              <a:t>Thứ tư, đánh giá hiệu quả hệ thống qua các chỉ số FPS, độ chính xác và khả năng truy vết cảnh báo.</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Về phạm vi nghiên cứu, đề tài tập trung vào 3 nhóm hành vi chính: sử dụng điện thoại, hút thuốc và không thắt dây an toàn.</a:t>
            </a:r>
          </a:p>
          <a:p>
            <a:r>
              <a:t>Về công nghệ, hệ thống sử dụng YOLO cho phát hiện đối tượng, MediaPipe Pose cho ước lượng tư thế, Behavior Rules Engine cho suy luận hành vi và SlowFast cho xác thực hậu kiểm trên Cloud.</a:t>
            </a:r>
          </a:p>
          <a:p>
            <a:r>
              <a:t>Về đánh giá, đề tài sử dụng các chỉ số FPS để đo hiệu năng xử lý, cùng các chỉ Precision, Recall, F1-Score và mAP để đánh giá độ chính xác.</a:t>
            </a:r>
          </a:p>
          <a:p>
            <a:r>
              <a:t>Kiến trúc hệ thống là Hybrid Edge-Cloud, xử lý video từ camera trong khoang lái.</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Hệ</a:t>
            </a:r>
            <a:r>
              <a:rPr dirty="0"/>
              <a:t> </a:t>
            </a:r>
            <a:r>
              <a:rPr dirty="0" err="1"/>
              <a:t>thống</a:t>
            </a:r>
            <a:r>
              <a:rPr dirty="0"/>
              <a:t> </a:t>
            </a:r>
            <a:r>
              <a:rPr dirty="0" err="1"/>
              <a:t>được</a:t>
            </a:r>
            <a:r>
              <a:rPr dirty="0"/>
              <a:t> </a:t>
            </a:r>
            <a:r>
              <a:rPr dirty="0" err="1"/>
              <a:t>thiết</a:t>
            </a:r>
            <a:r>
              <a:rPr dirty="0"/>
              <a:t> </a:t>
            </a:r>
            <a:r>
              <a:rPr dirty="0" err="1"/>
              <a:t>kế</a:t>
            </a:r>
            <a:r>
              <a:rPr dirty="0"/>
              <a:t> </a:t>
            </a:r>
            <a:r>
              <a:rPr dirty="0" err="1"/>
              <a:t>theo</a:t>
            </a:r>
            <a:r>
              <a:rPr dirty="0"/>
              <a:t> </a:t>
            </a:r>
            <a:r>
              <a:rPr dirty="0" err="1"/>
              <a:t>kiến</a:t>
            </a:r>
            <a:r>
              <a:rPr dirty="0"/>
              <a:t> </a:t>
            </a:r>
            <a:r>
              <a:rPr dirty="0" err="1"/>
              <a:t>trúc</a:t>
            </a:r>
            <a:r>
              <a:rPr dirty="0"/>
              <a:t> Hybrid Edge-Cloud </a:t>
            </a:r>
            <a:r>
              <a:rPr dirty="0" err="1"/>
              <a:t>gồm</a:t>
            </a:r>
            <a:r>
              <a:rPr dirty="0"/>
              <a:t> </a:t>
            </a:r>
            <a:r>
              <a:rPr dirty="0" err="1"/>
              <a:t>hai</a:t>
            </a:r>
            <a:r>
              <a:rPr dirty="0"/>
              <a:t> </a:t>
            </a:r>
            <a:r>
              <a:rPr dirty="0" err="1"/>
              <a:t>phân</a:t>
            </a:r>
            <a:r>
              <a:rPr dirty="0"/>
              <a:t> </a:t>
            </a:r>
            <a:r>
              <a:rPr dirty="0" err="1"/>
              <a:t>hệ</a:t>
            </a:r>
            <a:r>
              <a:rPr dirty="0"/>
              <a:t> </a:t>
            </a:r>
            <a:r>
              <a:rPr dirty="0" err="1"/>
              <a:t>chính</a:t>
            </a:r>
            <a:r>
              <a:rPr dirty="0"/>
              <a:t>.</a:t>
            </a:r>
          </a:p>
          <a:p>
            <a:r>
              <a:rPr dirty="0" err="1"/>
              <a:t>Phân</a:t>
            </a:r>
            <a:r>
              <a:rPr dirty="0"/>
              <a:t> </a:t>
            </a:r>
            <a:r>
              <a:rPr dirty="0" err="1"/>
              <a:t>hệ</a:t>
            </a:r>
            <a:r>
              <a:rPr dirty="0"/>
              <a:t> Edge </a:t>
            </a:r>
            <a:r>
              <a:rPr dirty="0" err="1"/>
              <a:t>được</a:t>
            </a:r>
            <a:r>
              <a:rPr dirty="0"/>
              <a:t> </a:t>
            </a:r>
            <a:r>
              <a:rPr dirty="0" err="1"/>
              <a:t>triển</a:t>
            </a:r>
            <a:r>
              <a:rPr dirty="0"/>
              <a:t> </a:t>
            </a:r>
            <a:r>
              <a:rPr dirty="0" err="1"/>
              <a:t>khai</a:t>
            </a:r>
            <a:r>
              <a:rPr dirty="0"/>
              <a:t> </a:t>
            </a:r>
            <a:r>
              <a:rPr dirty="0" err="1"/>
              <a:t>trên</a:t>
            </a:r>
            <a:r>
              <a:rPr dirty="0"/>
              <a:t> </a:t>
            </a:r>
            <a:r>
              <a:rPr dirty="0" err="1"/>
              <a:t>thiết</a:t>
            </a:r>
            <a:r>
              <a:rPr dirty="0"/>
              <a:t> </a:t>
            </a:r>
            <a:r>
              <a:rPr dirty="0" err="1"/>
              <a:t>bị</a:t>
            </a:r>
            <a:r>
              <a:rPr dirty="0"/>
              <a:t> </a:t>
            </a:r>
            <a:r>
              <a:rPr dirty="0" err="1"/>
              <a:t>nhúng</a:t>
            </a:r>
            <a:r>
              <a:rPr dirty="0"/>
              <a:t> NVIDIA Jetson </a:t>
            </a:r>
            <a:r>
              <a:rPr dirty="0" err="1"/>
              <a:t>tại</a:t>
            </a:r>
            <a:r>
              <a:rPr dirty="0"/>
              <a:t> </a:t>
            </a:r>
            <a:r>
              <a:rPr dirty="0" err="1"/>
              <a:t>phương</a:t>
            </a:r>
            <a:r>
              <a:rPr dirty="0"/>
              <a:t> </a:t>
            </a:r>
            <a:r>
              <a:rPr dirty="0" err="1"/>
              <a:t>tiện</a:t>
            </a:r>
            <a:r>
              <a:rPr dirty="0"/>
              <a:t>. Edge </a:t>
            </a:r>
            <a:r>
              <a:rPr dirty="0" err="1"/>
              <a:t>chịu</a:t>
            </a:r>
            <a:r>
              <a:rPr dirty="0"/>
              <a:t> </a:t>
            </a:r>
            <a:r>
              <a:rPr dirty="0" err="1"/>
              <a:t>trách</a:t>
            </a:r>
            <a:r>
              <a:rPr dirty="0"/>
              <a:t> </a:t>
            </a:r>
            <a:r>
              <a:rPr dirty="0" err="1"/>
              <a:t>nhiệm</a:t>
            </a:r>
            <a:r>
              <a:rPr dirty="0"/>
              <a:t> </a:t>
            </a:r>
            <a:r>
              <a:rPr dirty="0" err="1"/>
              <a:t>tiếp</a:t>
            </a:r>
            <a:r>
              <a:rPr dirty="0"/>
              <a:t> </a:t>
            </a:r>
            <a:r>
              <a:rPr dirty="0" err="1"/>
              <a:t>nhận</a:t>
            </a:r>
            <a:r>
              <a:rPr dirty="0"/>
              <a:t> </a:t>
            </a:r>
            <a:r>
              <a:rPr dirty="0" err="1"/>
              <a:t>luồng</a:t>
            </a:r>
            <a:r>
              <a:rPr dirty="0"/>
              <a:t> video, </a:t>
            </a:r>
            <a:r>
              <a:rPr dirty="0" err="1"/>
              <a:t>chạy</a:t>
            </a:r>
            <a:r>
              <a:rPr dirty="0"/>
              <a:t> YOLO </a:t>
            </a:r>
            <a:r>
              <a:rPr dirty="0" err="1"/>
              <a:t>và</a:t>
            </a:r>
            <a:r>
              <a:rPr dirty="0"/>
              <a:t> </a:t>
            </a:r>
            <a:r>
              <a:rPr dirty="0" err="1"/>
              <a:t>MediaPipe</a:t>
            </a:r>
            <a:r>
              <a:rPr dirty="0"/>
              <a:t> Pose </a:t>
            </a:r>
            <a:r>
              <a:rPr dirty="0" err="1"/>
              <a:t>để</a:t>
            </a:r>
            <a:r>
              <a:rPr dirty="0"/>
              <a:t> </a:t>
            </a:r>
            <a:r>
              <a:rPr dirty="0" err="1"/>
              <a:t>phát</a:t>
            </a:r>
            <a:r>
              <a:rPr dirty="0"/>
              <a:t> </a:t>
            </a:r>
            <a:r>
              <a:rPr dirty="0" err="1"/>
              <a:t>hiện</a:t>
            </a:r>
            <a:r>
              <a:rPr dirty="0"/>
              <a:t> </a:t>
            </a:r>
            <a:r>
              <a:rPr dirty="0" err="1"/>
              <a:t>đối</a:t>
            </a:r>
            <a:r>
              <a:rPr dirty="0"/>
              <a:t> </a:t>
            </a:r>
            <a:r>
              <a:rPr dirty="0" err="1"/>
              <a:t>tượng</a:t>
            </a:r>
            <a:r>
              <a:rPr dirty="0"/>
              <a:t> </a:t>
            </a:r>
            <a:r>
              <a:rPr dirty="0" err="1"/>
              <a:t>và</a:t>
            </a:r>
            <a:r>
              <a:rPr dirty="0"/>
              <a:t> </a:t>
            </a:r>
            <a:r>
              <a:rPr dirty="0" err="1"/>
              <a:t>ước</a:t>
            </a:r>
            <a:r>
              <a:rPr dirty="0"/>
              <a:t> </a:t>
            </a:r>
            <a:r>
              <a:rPr dirty="0" err="1"/>
              <a:t>lượng</a:t>
            </a:r>
            <a:r>
              <a:rPr dirty="0"/>
              <a:t> </a:t>
            </a:r>
            <a:r>
              <a:rPr dirty="0" err="1"/>
              <a:t>tư</a:t>
            </a:r>
            <a:r>
              <a:rPr dirty="0"/>
              <a:t> </a:t>
            </a:r>
            <a:r>
              <a:rPr dirty="0" err="1"/>
              <a:t>thế</a:t>
            </a:r>
            <a:r>
              <a:rPr dirty="0"/>
              <a:t>, </a:t>
            </a:r>
            <a:r>
              <a:rPr dirty="0" err="1"/>
              <a:t>sau</a:t>
            </a:r>
            <a:r>
              <a:rPr dirty="0"/>
              <a:t> </a:t>
            </a:r>
            <a:r>
              <a:rPr dirty="0" err="1"/>
              <a:t>đó</a:t>
            </a:r>
            <a:r>
              <a:rPr dirty="0"/>
              <a:t> </a:t>
            </a:r>
            <a:r>
              <a:rPr dirty="0" err="1"/>
              <a:t>dùng</a:t>
            </a:r>
            <a:r>
              <a:rPr dirty="0"/>
              <a:t> Behavior Rules Engine </a:t>
            </a:r>
            <a:r>
              <a:rPr dirty="0" err="1"/>
              <a:t>để</a:t>
            </a:r>
            <a:r>
              <a:rPr dirty="0"/>
              <a:t> </a:t>
            </a:r>
            <a:r>
              <a:rPr dirty="0" err="1"/>
              <a:t>đánh</a:t>
            </a:r>
            <a:r>
              <a:rPr dirty="0"/>
              <a:t> </a:t>
            </a:r>
            <a:r>
              <a:rPr dirty="0" err="1"/>
              <a:t>giá</a:t>
            </a:r>
            <a:r>
              <a:rPr dirty="0"/>
              <a:t> </a:t>
            </a:r>
            <a:r>
              <a:rPr dirty="0" err="1"/>
              <a:t>hành</a:t>
            </a:r>
            <a:r>
              <a:rPr dirty="0"/>
              <a:t> vi. Khi </a:t>
            </a:r>
            <a:r>
              <a:rPr dirty="0" err="1"/>
              <a:t>phát</a:t>
            </a:r>
            <a:r>
              <a:rPr dirty="0"/>
              <a:t> </a:t>
            </a:r>
            <a:r>
              <a:rPr dirty="0" err="1"/>
              <a:t>hiện</a:t>
            </a:r>
            <a:r>
              <a:rPr dirty="0"/>
              <a:t> vi </a:t>
            </a:r>
            <a:r>
              <a:rPr dirty="0" err="1"/>
              <a:t>phạm</a:t>
            </a:r>
            <a:r>
              <a:rPr dirty="0"/>
              <a:t>, Edge </a:t>
            </a:r>
            <a:r>
              <a:rPr dirty="0" err="1"/>
              <a:t>kích</a:t>
            </a:r>
            <a:r>
              <a:rPr dirty="0"/>
              <a:t> </a:t>
            </a:r>
            <a:r>
              <a:rPr dirty="0" err="1"/>
              <a:t>hoạt</a:t>
            </a:r>
            <a:r>
              <a:rPr dirty="0"/>
              <a:t> </a:t>
            </a:r>
            <a:r>
              <a:rPr dirty="0" err="1"/>
              <a:t>cảnh</a:t>
            </a:r>
            <a:r>
              <a:rPr dirty="0"/>
              <a:t> </a:t>
            </a:r>
            <a:r>
              <a:rPr dirty="0" err="1"/>
              <a:t>báo</a:t>
            </a:r>
            <a:r>
              <a:rPr dirty="0"/>
              <a:t> </a:t>
            </a:r>
            <a:r>
              <a:rPr dirty="0" err="1"/>
              <a:t>cục</a:t>
            </a:r>
            <a:r>
              <a:rPr dirty="0"/>
              <a:t> </a:t>
            </a:r>
            <a:r>
              <a:rPr dirty="0" err="1"/>
              <a:t>bộ</a:t>
            </a:r>
            <a:r>
              <a:rPr dirty="0"/>
              <a:t> </a:t>
            </a:r>
            <a:r>
              <a:rPr dirty="0" err="1"/>
              <a:t>cho</a:t>
            </a:r>
            <a:r>
              <a:rPr dirty="0"/>
              <a:t> </a:t>
            </a:r>
            <a:r>
              <a:rPr dirty="0" err="1"/>
              <a:t>tài</a:t>
            </a:r>
            <a:r>
              <a:rPr dirty="0"/>
              <a:t> </a:t>
            </a:r>
            <a:r>
              <a:rPr dirty="0" err="1"/>
              <a:t>xế</a:t>
            </a:r>
            <a:r>
              <a:rPr dirty="0"/>
              <a:t> </a:t>
            </a:r>
            <a:r>
              <a:rPr dirty="0" err="1"/>
              <a:t>và</a:t>
            </a:r>
            <a:r>
              <a:rPr dirty="0"/>
              <a:t> </a:t>
            </a:r>
            <a:r>
              <a:rPr dirty="0" err="1"/>
              <a:t>gửi</a:t>
            </a:r>
            <a:r>
              <a:rPr dirty="0"/>
              <a:t> </a:t>
            </a:r>
            <a:r>
              <a:rPr dirty="0" err="1"/>
              <a:t>dữ</a:t>
            </a:r>
            <a:r>
              <a:rPr dirty="0"/>
              <a:t> </a:t>
            </a:r>
            <a:r>
              <a:rPr dirty="0" err="1"/>
              <a:t>liệu</a:t>
            </a:r>
            <a:r>
              <a:rPr dirty="0"/>
              <a:t> </a:t>
            </a:r>
            <a:r>
              <a:rPr dirty="0" err="1"/>
              <a:t>lên</a:t>
            </a:r>
            <a:r>
              <a:rPr dirty="0"/>
              <a:t> Cloud.</a:t>
            </a:r>
          </a:p>
          <a:p>
            <a:r>
              <a:rPr dirty="0" err="1"/>
              <a:t>Phân</a:t>
            </a:r>
            <a:r>
              <a:rPr dirty="0"/>
              <a:t> </a:t>
            </a:r>
            <a:r>
              <a:rPr dirty="0" err="1"/>
              <a:t>hệ</a:t>
            </a:r>
            <a:r>
              <a:rPr dirty="0"/>
              <a:t> Cloud </a:t>
            </a:r>
            <a:r>
              <a:rPr dirty="0" err="1"/>
              <a:t>sử</a:t>
            </a:r>
            <a:r>
              <a:rPr dirty="0"/>
              <a:t> </a:t>
            </a:r>
            <a:r>
              <a:rPr dirty="0" err="1"/>
              <a:t>dụng</a:t>
            </a:r>
            <a:r>
              <a:rPr dirty="0"/>
              <a:t> </a:t>
            </a:r>
            <a:r>
              <a:rPr dirty="0" err="1"/>
              <a:t>FastAPI</a:t>
            </a:r>
            <a:r>
              <a:rPr dirty="0"/>
              <a:t> </a:t>
            </a:r>
            <a:r>
              <a:rPr dirty="0" err="1"/>
              <a:t>để</a:t>
            </a:r>
            <a:r>
              <a:rPr dirty="0"/>
              <a:t> </a:t>
            </a:r>
            <a:r>
              <a:rPr dirty="0" err="1"/>
              <a:t>tiếp</a:t>
            </a:r>
            <a:r>
              <a:rPr dirty="0"/>
              <a:t> </a:t>
            </a:r>
            <a:r>
              <a:rPr dirty="0" err="1"/>
              <a:t>nhận</a:t>
            </a:r>
            <a:r>
              <a:rPr dirty="0"/>
              <a:t> </a:t>
            </a:r>
            <a:r>
              <a:rPr dirty="0" err="1"/>
              <a:t>dữ</a:t>
            </a:r>
            <a:r>
              <a:rPr dirty="0"/>
              <a:t> </a:t>
            </a:r>
            <a:r>
              <a:rPr dirty="0" err="1"/>
              <a:t>liệu</a:t>
            </a:r>
            <a:r>
              <a:rPr dirty="0"/>
              <a:t>, </a:t>
            </a:r>
            <a:r>
              <a:rPr dirty="0" err="1"/>
              <a:t>lưu</a:t>
            </a:r>
            <a:r>
              <a:rPr dirty="0"/>
              <a:t> metadata </a:t>
            </a:r>
            <a:r>
              <a:rPr dirty="0" err="1"/>
              <a:t>vào</a:t>
            </a:r>
            <a:r>
              <a:rPr dirty="0"/>
              <a:t> SQLite, </a:t>
            </a:r>
            <a:r>
              <a:rPr dirty="0" err="1"/>
              <a:t>lưu</a:t>
            </a:r>
            <a:r>
              <a:rPr dirty="0"/>
              <a:t> </a:t>
            </a:r>
            <a:r>
              <a:rPr dirty="0" err="1"/>
              <a:t>bằng</a:t>
            </a:r>
            <a:r>
              <a:rPr dirty="0"/>
              <a:t> </a:t>
            </a:r>
            <a:r>
              <a:rPr dirty="0" err="1"/>
              <a:t>chứng</a:t>
            </a:r>
            <a:r>
              <a:rPr dirty="0"/>
              <a:t> </a:t>
            </a:r>
            <a:r>
              <a:rPr dirty="0" err="1"/>
              <a:t>hình</a:t>
            </a:r>
            <a:r>
              <a:rPr dirty="0"/>
              <a:t> </a:t>
            </a:r>
            <a:r>
              <a:rPr dirty="0" err="1"/>
              <a:t>ảnh</a:t>
            </a:r>
            <a:r>
              <a:rPr dirty="0"/>
              <a:t>/video. Cloud </a:t>
            </a:r>
            <a:r>
              <a:rPr dirty="0" err="1"/>
              <a:t>cũng</a:t>
            </a:r>
            <a:r>
              <a:rPr dirty="0"/>
              <a:t> </a:t>
            </a:r>
            <a:r>
              <a:rPr dirty="0" err="1"/>
              <a:t>hỗ</a:t>
            </a:r>
            <a:r>
              <a:rPr dirty="0"/>
              <a:t> </a:t>
            </a:r>
            <a:r>
              <a:rPr dirty="0" err="1"/>
              <a:t>trợ</a:t>
            </a:r>
            <a:r>
              <a:rPr dirty="0"/>
              <a:t> </a:t>
            </a:r>
            <a:r>
              <a:rPr dirty="0" err="1"/>
              <a:t>xác</a:t>
            </a:r>
            <a:r>
              <a:rPr dirty="0"/>
              <a:t> </a:t>
            </a:r>
            <a:r>
              <a:rPr dirty="0" err="1"/>
              <a:t>thực</a:t>
            </a:r>
            <a:r>
              <a:rPr dirty="0"/>
              <a:t> </a:t>
            </a:r>
            <a:r>
              <a:rPr dirty="0" err="1"/>
              <a:t>hậu</a:t>
            </a:r>
            <a:r>
              <a:rPr dirty="0"/>
              <a:t> </a:t>
            </a:r>
            <a:r>
              <a:rPr dirty="0" err="1"/>
              <a:t>kiểm</a:t>
            </a:r>
            <a:r>
              <a:rPr dirty="0"/>
              <a:t> </a:t>
            </a:r>
            <a:r>
              <a:rPr dirty="0" err="1"/>
              <a:t>bằng</a:t>
            </a:r>
            <a:r>
              <a:rPr dirty="0"/>
              <a:t> </a:t>
            </a:r>
            <a:r>
              <a:rPr dirty="0" err="1"/>
              <a:t>SlowFast</a:t>
            </a:r>
            <a:r>
              <a:rPr dirty="0"/>
              <a:t> </a:t>
            </a:r>
            <a:r>
              <a:rPr dirty="0" err="1"/>
              <a:t>và</a:t>
            </a:r>
            <a:r>
              <a:rPr dirty="0"/>
              <a:t> </a:t>
            </a:r>
            <a:r>
              <a:rPr dirty="0" err="1"/>
              <a:t>cung</a:t>
            </a:r>
            <a:r>
              <a:rPr dirty="0"/>
              <a:t> </a:t>
            </a:r>
            <a:r>
              <a:rPr dirty="0" err="1"/>
              <a:t>cấp</a:t>
            </a:r>
            <a:r>
              <a:rPr dirty="0"/>
              <a:t> Dashboard </a:t>
            </a:r>
            <a:r>
              <a:rPr dirty="0" err="1"/>
              <a:t>giám</a:t>
            </a:r>
            <a:r>
              <a:rPr dirty="0"/>
              <a:t> </a:t>
            </a:r>
            <a:r>
              <a:rPr dirty="0" err="1"/>
              <a:t>sát</a:t>
            </a:r>
            <a:r>
              <a:rPr dirty="0"/>
              <a:t> </a:t>
            </a:r>
            <a:r>
              <a:rPr dirty="0" err="1"/>
              <a:t>tập</a:t>
            </a:r>
            <a:r>
              <a:rPr dirty="0"/>
              <a:t> </a:t>
            </a:r>
            <a:r>
              <a:rPr dirty="0" err="1"/>
              <a:t>trung</a:t>
            </a:r>
            <a:r>
              <a:rPr dirty="0"/>
              <a:t>.</a:t>
            </a:r>
          </a:p>
          <a:p>
            <a:r>
              <a:rPr dirty="0" err="1"/>
              <a:t>Nguyên</a:t>
            </a:r>
            <a:r>
              <a:rPr dirty="0"/>
              <a:t> </a:t>
            </a:r>
            <a:r>
              <a:rPr dirty="0" err="1"/>
              <a:t>tắc</a:t>
            </a:r>
            <a:r>
              <a:rPr dirty="0"/>
              <a:t> </a:t>
            </a:r>
            <a:r>
              <a:rPr dirty="0" err="1"/>
              <a:t>thiết</a:t>
            </a:r>
            <a:r>
              <a:rPr dirty="0"/>
              <a:t> </a:t>
            </a:r>
            <a:r>
              <a:rPr dirty="0" err="1"/>
              <a:t>kế</a:t>
            </a:r>
            <a:r>
              <a:rPr dirty="0"/>
              <a:t> </a:t>
            </a:r>
            <a:r>
              <a:rPr dirty="0" err="1"/>
              <a:t>là</a:t>
            </a:r>
            <a:r>
              <a:rPr dirty="0"/>
              <a:t>: </a:t>
            </a:r>
            <a:r>
              <a:rPr dirty="0" err="1"/>
              <a:t>Xử</a:t>
            </a:r>
            <a:r>
              <a:rPr dirty="0"/>
              <a:t> </a:t>
            </a:r>
            <a:r>
              <a:rPr dirty="0" err="1"/>
              <a:t>lý</a:t>
            </a:r>
            <a:r>
              <a:rPr dirty="0"/>
              <a:t> </a:t>
            </a:r>
            <a:r>
              <a:rPr dirty="0" err="1"/>
              <a:t>chiến</a:t>
            </a:r>
            <a:r>
              <a:rPr dirty="0"/>
              <a:t> </a:t>
            </a:r>
            <a:r>
              <a:rPr dirty="0" err="1"/>
              <a:t>thuật</a:t>
            </a:r>
            <a:r>
              <a:rPr dirty="0"/>
              <a:t> </a:t>
            </a:r>
            <a:r>
              <a:rPr dirty="0" err="1"/>
              <a:t>tại</a:t>
            </a:r>
            <a:r>
              <a:rPr dirty="0"/>
              <a:t> </a:t>
            </a:r>
            <a:r>
              <a:rPr dirty="0" err="1"/>
              <a:t>Biên</a:t>
            </a:r>
            <a:r>
              <a:rPr dirty="0"/>
              <a:t>, </a:t>
            </a:r>
            <a:r>
              <a:rPr dirty="0" err="1"/>
              <a:t>Quản</a:t>
            </a:r>
            <a:r>
              <a:rPr dirty="0"/>
              <a:t> </a:t>
            </a:r>
            <a:r>
              <a:rPr dirty="0" err="1"/>
              <a:t>lý</a:t>
            </a:r>
            <a:r>
              <a:rPr dirty="0"/>
              <a:t> </a:t>
            </a:r>
            <a:r>
              <a:rPr dirty="0" err="1"/>
              <a:t>chiến</a:t>
            </a:r>
            <a:r>
              <a:rPr dirty="0"/>
              <a:t> </a:t>
            </a:r>
            <a:r>
              <a:rPr dirty="0" err="1"/>
              <a:t>lược</a:t>
            </a:r>
            <a:r>
              <a:rPr dirty="0"/>
              <a:t> </a:t>
            </a:r>
            <a:r>
              <a:rPr dirty="0" err="1"/>
              <a:t>trên</a:t>
            </a:r>
            <a:r>
              <a:rPr dirty="0"/>
              <a:t> </a:t>
            </a:r>
            <a:r>
              <a:rPr dirty="0" err="1"/>
              <a:t>Đám</a:t>
            </a:r>
            <a:r>
              <a:rPr dirty="0"/>
              <a:t> </a:t>
            </a:r>
            <a:r>
              <a:rPr dirty="0" err="1"/>
              <a:t>mây</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Để hiểu tại sao đề tài sử dụng kiến trúc Hybrid, em xin so sánh Edge AI và Cloud AI.</a:t>
            </a:r>
          </a:p>
          <a:p>
            <a:r>
              <a:t>Edge AI xử lý tại chỗ với độ trễ thấp dưới 50ms, chỉ cần băng thông thấp vì chỉ gửi metadata, dữ liệu vẫn nằm tại thiết bị đảm bảo bảo mật. Đặc biệt, Edge AI có thể hoạt động ngoại tuyến khi mất kết nối mạng.</a:t>
            </a:r>
          </a:p>
          <a:p>
            <a:r>
              <a:t>Tuy nhiên, Edge AI bị giới hạn về năng lực tính toán do phần cứng nhúng.</a:t>
            </a:r>
          </a:p>
          <a:p>
            <a:r>
              <a:t>Cloud AI có năng lực tính toán lớn và có thể mở rộng, nhưng phụ thuộc vào mạng, có độ trễ cao và chi phí vận hành lớn.</a:t>
            </a:r>
          </a:p>
          <a:p>
            <a:r>
              <a:t>Kiến trúc Hybrid kết hợp ưu điểm của cả hai: Edge xử lý thời gian thực, Cloud quản lý và giám sát tập trung.</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Hệ thống sử dụng các công nghệ chính sau:</a:t>
            </a:r>
          </a:p>
          <a:p>
            <a:r>
              <a:t>YOLO cho phát hiện đối tượng, nhận diện 4 lớp: phone, smoking, seatbelt và no-seatbelt.</a:t>
            </a:r>
          </a:p>
          <a:p>
            <a:r>
              <a:t>MediaPipe Pose để ước lượng tư thế, trích xuất 13 landmarks quan trọng của cơ thể tài xế.</a:t>
            </a:r>
          </a:p>
          <a:p>
            <a:r>
              <a:t>SlowFast cho nhận diện hành động, hỗ trợ xác thực hành vi theo chuỗi thời gian trên Cloud.</a:t>
            </a:r>
          </a:p>
          <a:p>
            <a:r>
              <a:t>TensorRT để tối ưu hiệu năng suy luận trên thiết bị Edge.</a:t>
            </a:r>
          </a:p>
          <a:p>
            <a:r>
              <a:t>Tại phân hệ Cloud, hệ thống sử dụng FastAPI làm backend, SQLite kết hợp SQLAlchemy cho cơ sở dữ liệu, và React 19 với Vite 7 để xây dựng Dashboard giám sát.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YOLO là mô hình phát hiện đối tượng một giai đoạn, được đánh giá cao về tốc độ.</a:t>
            </a:r>
          </a:p>
          <a:p>
            <a:r>
              <a:t>Kiến trúc YOLO gồm 3 phần chính: Backbone trích xuất đặc trưng, Neck kết hợp đặc trưng đa tỉ lệ, và Head đưa ra dự đoán bounding box cùng class.</a:t>
            </a:r>
          </a:p>
          <a:p>
            <a:r>
              <a:t>Trong hệ thống, YOLO được huấn luyện để nhận diện 4 lớp đối tượng: phone, smoking, seatbelt và no-seatbelt.</a:t>
            </a:r>
          </a:p>
          <a:p>
            <a:r>
              <a:t>YOLO đóng vai trò là tầng trích xuất đặc trưng không gian sơ cấp, cung cấp tọa độ bounding box cho các tầng xử lý phía sau.</a:t>
            </a:r>
          </a:p>
          <a:p>
            <a:r>
              <a:t>Đầu ra của YOLO không được sử dụng trực tiếp mà kết hợp với MediaPipe Pose để xác thực ngữ cảnh, giúp giảm cảnh báo sai.</a:t>
            </a:r>
          </a:p>
          <a:p>
            <a:r>
              <a:t>Đề tài sử dụng mô hình YOLO11m của Ultralytics với kích thước ảnh đầu vào 768x768.</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MediaPipe Pose là framework ước lượng tư thế người do Google phát triển, dựa trên kiến trúc BlazePose siêu nhẹ.</a:t>
            </a:r>
          </a:p>
          <a:p>
            <a:r>
              <a:t>Hệ thống sử dụng 13 trong số 33 điểm mốc, tập trung vào vùng mặt, vai, tay và hông.</a:t>
            </a:r>
          </a:p>
          <a:p>
            <a:r>
              <a:t>Các điểm mốc này được lọc theo chỉ số visibility với ngưỡng 0.35 để loại bỏ tọa độ bị nhiễu.</a:t>
            </a:r>
          </a:p>
          <a:p>
            <a:r>
              <a:t>Vai trò chính của MediaPipe Pose trong hệ thống là: cung cấp hệ tọa độ sinh trắc học, xây dựng Driver ROI và Chest ROI, đo khoảng cách giữa vật thể và cơ thể tài xế.</a:t>
            </a:r>
          </a:p>
          <a:p>
            <a:r>
              <a:t>Đặc biệt, MediaPipe hỗ trợ làm mượt theo thời gian, giúp giảm hiện tượng jitter của các điểm mốc giữa các khung hình liên tiếp.</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SlowFast là kiến trúc mạng nơ-ron cho phân tích video, gồm hai pathway chạy song song.</a:t>
            </a:r>
          </a:p>
          <a:p>
            <a:r>
              <a:t>Slow Pathway xử lý ít frame hơn, tập trung học đặc trưng không gian như hình dạng, cấu trúc cơ thể.</a:t>
            </a:r>
          </a:p>
          <a:p>
            <a:r>
              <a:t>Fast Pathway xử lý nhiều frame hơn, tập trung vào thông tin thời gian và chuyển động nhanh.</a:t>
            </a:r>
          </a:p>
          <a:p>
            <a:r>
              <a:t>Hai pathway được kết nối qua lateral connections để trao đổi thông tin.</a:t>
            </a:r>
          </a:p>
          <a:p>
            <a:r>
              <a:t>Trong kiến trúc hệ thống, SlowFast được triển khai tại Cloud, đóng vai trò tầng xác thực chuyên sâu.</a:t>
            </a:r>
          </a:p>
          <a:p>
            <a:r>
              <a:t>Khi Edge phát hiện nghi vấn, video clip được gửi lên Cloud để SlowFast phân tích và xác nhận.</a:t>
            </a:r>
          </a:p>
          <a:p>
            <a:r>
              <a:t>Hiện tại, hệ thống sử dụng mô hình SlowFast đã huấn luyện sẵn trên Kinetics-400, chưa fine-tune chuyên sâu cho hành vi tài xế.</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Để triển khai trên thiết bị Edge có tài nguyên hạn chế, đề tài áp dụng 3 nhóm kỹ thuật tối ưu.</a:t>
            </a:r>
          </a:p>
          <a:p>
            <a:r>
              <a:t>Thứ nhất là lượng tử hóa, chuyển đổi từ FP32 xuống FP16 hoặc INT8, giúp giảm kích thước mô hình và tăng tốc tính toán.</a:t>
            </a:r>
          </a:p>
          <a:p>
            <a:r>
              <a:t>Thứ hai là TensorRT, trình biên dịch của NVIDIA giúp hợp nhất các lớp tính toán, tự động tinh chỉnh nhân và tối ưu bộ nhớ.</a:t>
            </a:r>
          </a:p>
          <a:p>
            <a:r>
              <a:t>Thứ ba là các chiến lược runtime như Frame Skipping, chỉ chạy YOLO mỗi 2 frame và MediaPipe mỗi 3 frame, cùng với việc resize đầu vào về 640 pixel.</a:t>
            </a:r>
          </a:p>
          <a:p>
            <a:r>
              <a:t>Đặc biệt, MediaPipe Pose chỉ được kích hoạt khi YOLO phát hiện đối tượng khả nghi, giúp tiết kiệm tài nguyên đáng kể.</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Pipeline xử lý tại Edge được thiết kế tuần tự gồm 8 bước chính.</a:t>
            </a:r>
          </a:p>
          <a:p>
            <a:r>
              <a:t>Bắt đầu từ Camera Input, khung hình được resize về 640 pixel, sau đó Frame Counter kiểm soát tần suất chạy mô hình.</a:t>
            </a:r>
          </a:p>
          <a:p>
            <a:r>
              <a:t>YOLO Detection chỉ chạy mỗi 2 frame để tiết kiệm tài nguyên. Nếu phát hiện đối tượng liên quan, MediaPipe Pose được kích hoạt.</a:t>
            </a:r>
          </a:p>
          <a:p>
            <a:r>
              <a:t>Kết quả từ cả hai mô hình được đưa vào Behavior Rules Engine để đánh giá hành vi vi phạm.</a:t>
            </a:r>
          </a:p>
          <a:p>
            <a:r>
              <a:t>Khi xác nhận vi phạm, hệ thống đồng thời: kích hoạt cảnh báo cục bộ qua AlertManager, lưu bằng chứng qua EvidenceWriter, và hiển thị kết quả qua OverlayRenderer.</a:t>
            </a:r>
          </a:p>
          <a:p>
            <a:r>
              <a:t>Ba cơ chế tối ưu chính là: hạ độ phân giải, frame skipping và lazy activation cho Pose.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Hệ thống sử dụng cơ chế suy luận hai tầng kết hợp YOLO và MediaPipe Pose.</a:t>
            </a:r>
          </a:p>
          <a:p>
            <a:r>
              <a:t>Tầng 1 là YOLO, phát hiện đối tượng và cung cấp bounding box cùng confidence score.</a:t>
            </a:r>
          </a:p>
          <a:p>
            <a:r>
              <a:t>Tầng 2 là MediaPipe Pose, trích xuất 13 landmarks để xây dựng Driver ROI và Chest ROI, đo khoảng cách giữa vật thể và cơ thể.</a:t>
            </a:r>
          </a:p>
          <a:p>
            <a:r>
              <a:t>Tầng 3 là Behavior Rules Engine, tính điểm vi phạm dựa trên công thức kết hợp confidence của YOLO, khoảng cách đến cổ tay và vùng mặt.</a:t>
            </a:r>
          </a:p>
          <a:p>
            <a:r>
              <a:t>Đối với hành vi dùng điện thoại, hệ thống không fallback về YOLO đơn lẻ nếu không có pose.</a:t>
            </a:r>
          </a:p>
          <a:p>
            <a:r>
              <a:t>Đối với hút thuốc, có cơ chế fallback với confidence thô ≥ 0.70 khi pose không khả dụng.</a:t>
            </a:r>
          </a:p>
          <a:p>
            <a:r>
              <a:t>Cơ chế này giúp giảm đáng kể cảnh báo sai so với phương pháp chỉ dùng YOLO.</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Hệ thống xây dựng hai vùng quan tâm quan trọng từ dữ liệu MediaPipe Pose.</a:t>
            </a:r>
          </a:p>
          <a:p>
            <a:r>
              <a:t>Driver ROI là vùng thao tác chính của tài xế, được xây dựng từ tọa độ mũi, tai, vai và cổ tay.</a:t>
            </a:r>
          </a:p>
          <a:p>
            <a:r>
              <a:t>Vùng này giúp hệ thống phân biệt vật thể của tài xế với vật thể của hành khách hoặc trên bảng điều khiển.</a:t>
            </a:r>
          </a:p>
          <a:p>
            <a:r>
              <a:t>Chest ROI là vùng ngực, được nội suy từ hai vai và trục xương sống.</a:t>
            </a:r>
          </a:p>
          <a:p>
            <a:r>
              <a:t>Vùng này phục vụ đánh giá trạng thái dây an toàn, bằng cách đối chiếu bounding box dây an toàn với ranh giới Chest ROI.</a:t>
            </a:r>
          </a:p>
          <a:p>
            <a:r>
              <a:t>Cả hai ROI đều được xây dựng động từ dữ liệu Pose, giúp giảm phụ thuộc vào góc camera và vị trí lắp đặt.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Đối với hành vi sử dụng điện thoại, hệ thống thực hiện theo luồng 6 bước.</a:t>
            </a:r>
          </a:p>
          <a:p>
            <a:r>
              <a:t>Đầu tiên, YOLO phát hiện điện thoại trong khung hình. Sau đó kiểm tra xem bounding box có nằm trong Driver ROI không.</a:t>
            </a:r>
          </a:p>
          <a:p>
            <a:r>
              <a:t>Nếu nằm trong vùng người lái, hệ thống tính khoảng cách Euclidean từ điện thoại đến cổ tay và vùng đầu.</a:t>
            </a:r>
          </a:p>
          <a:p>
            <a:r>
              <a:t>Điểm vi phạm được tính theo công thức kết hợp confidence của YOLO, proximity với cổ tay và vùng mặt.</a:t>
            </a:r>
          </a:p>
          <a:p>
            <a:r>
              <a:t>Hệ thống yêu cầu xác nhận liên tục 7 frame vượt ngưỡng 0.62 trước khi tạo cảnh báo, giúp tránh cảnh báo sai do nhiễu tạm thời.</a:t>
            </a:r>
          </a:p>
          <a:p>
            <a:r>
              <a:t>Ngoài ra, cơ chế cooldown 4 giây giữa 2 cảnh báo cùng loại giúp tránh spam cảnh báo.</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Hành vi hút thuốc là thách thức lớn nhất trong 3 hành vi cần phát hiện.</a:t>
            </a:r>
          </a:p>
          <a:p>
            <a:r>
              <a:t>Điếu thuốc có kích thước rất nhỏ, dễ bị che khuất bởi ngón tay, và có nhiều vật thể tương đồng gây nhiễu như bút, ống hút.</a:t>
            </a:r>
          </a:p>
          <a:p>
            <a:r>
              <a:t>Hệ thống phát hiện hút thuốc bằng cách: YOLO xác định vùng nghi vấn, sau đó MediaPipe kiểm tra khoảng cách giữa cổ tay và vùng miệng.</a:t>
            </a:r>
          </a:p>
          <a:p>
            <a:r>
              <a:t>Đặc biệt, hành vi hút thuốc có cơ chế fallback: khi MediaPipe Pose không khả dụng, hệ thống vẫn có thể xác nhận dựa trên confidence thô của YOLO nếu ≥ 0.70.</a:t>
            </a:r>
          </a:p>
          <a:p>
            <a:r>
              <a:t>Cơ chế fallback này giúp tránh bỏ sót trong điều kiện pose thất bại, nhưng chỉ áp dụng riêng cho hành vi hút thuốc.</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Đối với hành vi không thắt dây an toàn, hệ thống sử dụng vùng Chest ROI được xây dựng từ MediaPipe Pose.</a:t>
            </a:r>
          </a:p>
          <a:p>
            <a:r>
              <a:t>YOLO phát hiện trạng thái seatbelt hoặc no-seatbelt, sau đó đối chiếu bounding box với ranh giới Chest ROI.</a:t>
            </a:r>
          </a:p>
          <a:p>
            <a:r>
              <a:t>Hệ thống kiểm tra sự tồn tại của dải dây đi cắt ngang qua vùng ngực. Nếu không phát hiện được dải dây, cảnh báo sẽ được tạo.</a:t>
            </a:r>
          </a:p>
          <a:p>
            <a:r>
              <a:t>Ngưỡng tin cậy cho phát hiện dây an toàn là 0.45 với margin 0.07, yêu cầu xác nhận 12 frame liên tiếp.</a:t>
            </a:r>
          </a:p>
          <a:p>
            <a:r>
              <a:t>Đây là hành vi an toàn thụ động, không trực tiếp gây tai nạn nhưng tước đi lớp bảo vệ quan trọng khi sự cố xảy ra.</a:t>
            </a:r>
          </a:p>
          <a:p>
            <a:r>
              <a:t>Thách thức lớn nhất là dây an toàn có thể hòa lẫn với áo hoặc quai túi, cần dataset đa dạng về trang phục.</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Backend Cloud được thiết kế theo kiến trúc phân lớp gồm 3 lớp chính.</a:t>
            </a:r>
          </a:p>
          <a:p>
            <a:r>
              <a:t>Router Layer định nghĩa các API endpoints, tiếp nhận request từ Edge và Dashboard.</a:t>
            </a:r>
          </a:p>
          <a:p>
            <a:r>
              <a:t>Schema Layer sử dụng Pydantic để kiểm tra và chuẩn hóa dữ liệu đầu vào, đảm bảo cấu trúc thống nhất.</a:t>
            </a:r>
          </a:p>
          <a:p>
            <a:r>
              <a:t>Model Layer sử dụng SQLAlchemy ORM để ánh xạ cơ sở dữ liệu, thực hiện các thao tác CRUD.</a:t>
            </a:r>
          </a:p>
          <a:p>
            <a:r>
              <a:t>Hệ thống có 3 API endpoints chính: POST /alerts để Edge gửi cảnh báo, GET /api/alerts để Dashboard truy vấn, và POST /alerts/{id}/verify để kích hoạt xác thực SlowFast.</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Bảng Alerts là bảng chính trong cơ sở dữ liệu, chứa toàn bộ thông tin về các sự kiện vi phạm.</a:t>
            </a:r>
          </a:p>
          <a:p>
            <a:r>
              <a:t>Mỗi bản ghi bao gồm: id tự tăng, loại vi phạm, thời gian, độ tin cậy, mã thiết bị, đường dẫn ảnh và video bằng chứng, cùng trạng thái xác thực.</a:t>
            </a:r>
          </a:p>
          <a:p>
            <a:r>
              <a:t>Khi Edge gửi dữ liệu lên Cloud, request được gửi dưới dạng multipart/form-data đến POST /alerts.</a:t>
            </a:r>
          </a:p>
          <a:p>
            <a:r>
              <a:t>Backend kiểm tra tính hợp lệ bằng Pydantic, sau đó lưu file bằng chứng vào File System và ghi metadata vào SQLite.</a:t>
            </a:r>
          </a:p>
          <a:p>
            <a:r>
              <a:t>Cấu trúc lưu trữ được phân loại theo frames, clips và events để dễ truy vết.</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Dashboard giám sát được xây dựng bằng React 19 với Vite 7, tạo thành ứng dụng SPA.</a:t>
            </a:r>
          </a:p>
          <a:p>
            <a:r>
              <a:t>Giao diện gồm 4 phần chức năng chính:</a:t>
            </a:r>
          </a:p>
          <a:p>
            <a:r>
              <a:t>Dashboard Tổng Quan hiển thị biểu đồ xu hướng cảnh báo 24h và phân bố sự kiện, tự động làm mới mỗi 5 giây.</a:t>
            </a:r>
          </a:p>
          <a:p>
            <a:r>
              <a:t>Alerts Center cho phép quản lý danh sách cảnh báo với bộ lọc đa tiêu chí, phân trang và xác thực hàng loạt.</a:t>
            </a:r>
          </a:p>
          <a:p>
            <a:r>
              <a:t>Evidence Modal cho phép xem bằng chứng ảnh/clip, đánh giá thủ công và kích hoạt xác thực SlowFast.</a:t>
            </a:r>
          </a:p>
          <a:p>
            <a:r>
              <a:t>Devices &amp; Settings quản lý thiết bị Edge, cấu hình hệ thống và xuất báo cáo.</a:t>
            </a:r>
          </a:p>
          <a:p>
            <a:r>
              <a:t>Thư viện Recharts được sử dụng để vẽ biểu đồ, Lucide React cho hệ thống icon thống nhất.</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Về môi trường triển khai, phân hệ Edge sử dụng Python với các thư viện Ultralytics YOLO, MediaPipe Pose và OpenCV.</a:t>
            </a:r>
          </a:p>
          <a:p>
            <a:r>
              <a:t>Hệ thống hỗ trợ CUDA để tăng tốc GPU và có chế độ headless mode cho triển khai thực tế.</a:t>
            </a:r>
          </a:p>
          <a:p>
            <a:r>
              <a:t>Phân hệ Cloud sử dụng FastAPI, SQLite kết hợp SQLAlchemy, và React 19 cho Dashboard.</a:t>
            </a:r>
          </a:p>
          <a:p>
            <a:r>
              <a:t>Dữ liệu huấn luyện được kết hợp từ 3 nguồn: Kaggle State Farm với khoảng 102K frames, Roboflow Universe, và dữ liệu tự thu thập.</a:t>
            </a:r>
          </a:p>
          <a:p>
            <a:r>
              <a:t>Mô hình được huấn luyện với 4 lớp đối tượng: phone, smoking, seatbelt và no-seatbelt.</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Bảng 4.1 cho thấy kết quả đánh giá hiệu năng FPS theo 4 cấu hình khác nhau.</a:t>
            </a:r>
          </a:p>
          <a:p>
            <a:r>
              <a:t>Cấu hình 1 chỉ chạy YOLO, đạt 2.34 FPS. Khi thêm MediaPipe Pose, FPS giảm nhẹ xuống 2.20 do tải tính toán tăng.</a:t>
            </a:r>
          </a:p>
          <a:p>
            <a:r>
              <a:t>Áp dụng frame skipping với N=3, FPS cải thiện lên 3.04. Kết hợp thêm resize, FPS đạt 4.75 - tăng hơn 2 lần so với cấu hình cơ sở.</a:t>
            </a:r>
          </a:p>
          <a:p>
            <a:r>
              <a:t>Kết quả chứng minh hiệu quả của tổ hợp chiến lược tối ưu frame skipping và resize trong việc cân bằng giữa độ chính xác và hiệu năng.</a:t>
            </a:r>
          </a:p>
          <a:p>
            <a:r>
              <a:t>Lưu ý rằng benchmark này chạy trên máy tính CPU, trên thiết bị Edge như Jetson, FPS dự kiến sẽ cao hơn.</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Về đánh giá mô hình YOLO, chỉ số Precision đạt 87.89%, Recall 82.90%, mAP50 đạt 88.93%.</a:t>
            </a:r>
          </a:p>
          <a:p>
            <a:r>
              <a:t>Tuy nhiên, mAP50-95 chỉ đạt 59.81%, phản ánh độ chính xác định vị bounding box còn hạn chế ở các ngưỡng IoU nghiêm ngặt.</a:t>
            </a:r>
          </a:p>
          <a:p>
            <a:r>
              <a:t>Về hiệu suất nhận diện hành vi, hành vi sử dụng điện thoại đạt F1-Score cao nhất 92.92%.</a:t>
            </a:r>
          </a:p>
          <a:p>
            <a:r>
              <a:t>Hành vi hút thuốc có F1-Score thấp nhất 84.70% do đối tượng nhỏ và dễ bị che khuất.</a:t>
            </a:r>
          </a:p>
          <a:p>
            <a:r>
              <a:t>Hành vi không thắt dây an toàn đạt F1-Score 88.47%.</a:t>
            </a:r>
          </a:p>
          <a:p>
            <a:r>
              <a:t>Nhìn chung, hệ thống đạt hiệu suất nhận diện tương đối tốt trên tập kiểm thử.</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Trong quá trình thực nghiệm, em ghi nhận 3 nhóm lỗi chính.</a:t>
            </a:r>
          </a:p>
          <a:p>
            <a:r>
              <a:t>Thứ nhất là nhiễu thị giác, khi các vật thể hình hộp chữ nhật màu tối như ví, sạc dự phòng bị nhận nhầm là điện thoại.</a:t>
            </a:r>
          </a:p>
          <a:p>
            <a:r>
              <a:t>Thứ hai là suy thoái môi trường, khi ngược sáng hoặc thiếu sáng khiến MediaPipe mất landmarks, hoặc dây an toàn hòa lẫn với áo.</a:t>
            </a:r>
          </a:p>
          <a:p>
            <a:r>
              <a:t>Thứ ba là biến dạng phối cảnh, khi camera bị xô lệch do xe xóc làm Driver ROI dịch chuyển sai lệch.</a:t>
            </a:r>
          </a:p>
          <a:p>
            <a:r>
              <a:t>Tuy nhiên, cơ chế lưu trữ bằng chứng giúp hệ thống có thể truy vết và cải thiện liên tục.</a:t>
            </a:r>
          </a:p>
          <a:p>
            <a:r>
              <a:t>Ảnh FP/FN được đẩy về kho dữ liệu để tái huấn luyện, và phân tích bằng chứng giúp điều chỉnh ngưỡng và rules.</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Tóm lại, đề tài đã đạt được 4 kết quả chính.</a:t>
            </a:r>
          </a:p>
          <a:p>
            <a:r>
              <a:t>Thứ nhất, đã thiết kế thành công kiến trúc Hybrid Edge-Cloud với phân vai rõ ràng giữa Edge xử lý thời gian thực và Cloud quản lý tập trung.</a:t>
            </a:r>
          </a:p>
          <a:p>
            <a:r>
              <a:t>Thứ hai, phân hệ Edge kết hợp YOLO và MediaPipe Pose cùng Behavior Rules Engine, có khả năng cảnh báo gần thời gian thực.</a:t>
            </a:r>
          </a:p>
          <a:p>
            <a:r>
              <a:t>Thứ ba, phân hệ Cloud xây dựng bằng FastAPI, SQLite và Dashboard, hỗ trợ lưu trữ và giám sát cảnh báo.</a:t>
            </a:r>
          </a:p>
          <a:p>
            <a:r>
              <a:t>Thứ tư, kết quả thực nghiệm chứng minh tính khả thi với FPS cải thiện và F1-Score cao cho các hành vi.</a:t>
            </a:r>
          </a:p>
          <a:p>
            <a:r>
              <a:t>Nhìn chung, đề tài đã hoàn thành các mục tiêu chính ở mức nguyên mẫu thử nghiệm.</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Về hạn chế, hệ thống còn nhạy cảm với môi trường quang học, dataset chưa đủ độ phủ.</a:t>
            </a:r>
          </a:p>
          <a:p>
            <a:r>
              <a:t>Luật tất định với ngưỡng thủ công thiếu tính thích ứng động. Hiện tại chỉ giới hạn 3 hành vi.</a:t>
            </a:r>
          </a:p>
          <a:p>
            <a:r>
              <a:t>SlowFast mới ở mức baseline, chưa fine-tune chuyên sâu. Chưa kiểm thử trên bo mạch nhúng dài hạn.</a:t>
            </a:r>
          </a:p>
          <a:p>
            <a:r>
              <a:t>Về hướng phát triển, thứ nhất là mở rộng dataset và tích hợp Camera hồng ngoại cho giám sát 24/7.</a:t>
            </a:r>
          </a:p>
          <a:p>
            <a:r>
              <a:t>Thứ hai là thay thế bằng các kiến trúc hiện đại hơn như RT-DETR hoặc Vision Transformers.</a:t>
            </a:r>
          </a:p>
          <a:p>
            <a:r>
              <a:t>Thứ ba là mở rộng sang các hành vi sinh trắc học như Gaze Estimation, Head Pose và PERCLOS cho phát hiện buồn ngủ.</a:t>
            </a:r>
          </a:p>
          <a:p>
            <a:r>
              <a:t>Thứ tư là triển khai trên Jetson Orin với tối ưu TensorRT INT8.</a:t>
            </a:r>
          </a:p>
          <a:p>
            <a:r>
              <a:t>Thứ năm là hoàn thiện SlowFast pipeline. Cuối cùng là triển khai thực địa trên đội xe doanh nghiệp.</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Em xin chân thành cảm ơn quý thầy cô trong hội đồng đã dành thời gian lắng nghe phần trình bày của em.</a:t>
            </a:r>
          </a:p>
          <a:p>
            <a:r>
              <a:t>Em rất mong nhận được sự góp ý và nhận xét của quý thầy cô để đề tài được hoàn thiện hơn.</a:t>
            </a:r>
          </a:p>
          <a:p>
            <a:r>
              <a:t>Nếu quý thầy cô có câu hỏi nào, em sẵn sàng giải đáp ạ.</a:t>
            </a:r>
          </a:p>
          <a:p>
            <a:r>
              <a:t>Em xin cảm ơn!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6/9/2026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6/9/2026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457200" cy="6858000"/>
          </a:xfrm>
          <a:prstGeom prst="rect">
            <a:avLst/>
          </a:prstGeom>
          <a:solidFill>
            <a:srgbClr val="144D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71600" y="731520"/>
            <a:ext cx="9144000" cy="548640"/>
          </a:xfrm>
          <a:prstGeom prst="rect">
            <a:avLst/>
          </a:prstGeom>
          <a:noFill/>
        </p:spPr>
        <p:txBody>
          <a:bodyPr wrap="square">
            <a:spAutoFit/>
          </a:bodyPr>
          <a:lstStyle/>
          <a:p>
            <a:pPr algn="ctr">
              <a:lnSpc>
                <a:spcPts val="2160"/>
              </a:lnSpc>
              <a:spcAft>
                <a:spcPts val="0"/>
              </a:spcAft>
              <a:defRPr sz="1800" b="0">
                <a:solidFill>
                  <a:srgbClr val="42A5F5"/>
                </a:solidFill>
                <a:latin typeface="Calibri"/>
              </a:defRPr>
            </a:pPr>
            <a:r>
              <a:t>BỘ GIÁO DỤC VÀ ĐÀO TẠO</a:t>
            </a:r>
          </a:p>
        </p:txBody>
      </p:sp>
      <p:sp>
        <p:nvSpPr>
          <p:cNvPr id="6" name="TextBox 5"/>
          <p:cNvSpPr txBox="1"/>
          <p:nvPr/>
        </p:nvSpPr>
        <p:spPr>
          <a:xfrm>
            <a:off x="1371600" y="1188720"/>
            <a:ext cx="9144000" cy="548640"/>
          </a:xfrm>
          <a:prstGeom prst="rect">
            <a:avLst/>
          </a:prstGeom>
          <a:noFill/>
        </p:spPr>
        <p:txBody>
          <a:bodyPr wrap="square">
            <a:spAutoFit/>
          </a:bodyPr>
          <a:lstStyle/>
          <a:p>
            <a:pPr algn="ctr">
              <a:lnSpc>
                <a:spcPts val="2640"/>
              </a:lnSpc>
              <a:spcAft>
                <a:spcPts val="0"/>
              </a:spcAft>
              <a:defRPr sz="2200" b="1">
                <a:solidFill>
                  <a:srgbClr val="FFFFFF"/>
                </a:solidFill>
                <a:latin typeface="Calibri"/>
              </a:defRPr>
            </a:pPr>
            <a:r>
              <a:t>TRƯỜNG ĐẠI HỌC QUY NHƠN</a:t>
            </a:r>
          </a:p>
        </p:txBody>
      </p:sp>
      <p:sp>
        <p:nvSpPr>
          <p:cNvPr id="7" name="Rectangle 6"/>
          <p:cNvSpPr/>
          <p:nvPr/>
        </p:nvSpPr>
        <p:spPr>
          <a:xfrm>
            <a:off x="3657600" y="1828800"/>
            <a:ext cx="4572000" cy="36576"/>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 y="2103120"/>
            <a:ext cx="9601200" cy="548640"/>
          </a:xfrm>
          <a:prstGeom prst="rect">
            <a:avLst/>
          </a:prstGeom>
          <a:noFill/>
        </p:spPr>
        <p:txBody>
          <a:bodyPr wrap="square">
            <a:spAutoFit/>
          </a:bodyPr>
          <a:lstStyle/>
          <a:p>
            <a:pPr algn="ctr">
              <a:lnSpc>
                <a:spcPts val="2160"/>
              </a:lnSpc>
              <a:spcAft>
                <a:spcPts val="0"/>
              </a:spcAft>
              <a:defRPr sz="1800" b="0">
                <a:solidFill>
                  <a:srgbClr val="42A5F5"/>
                </a:solidFill>
                <a:latin typeface="Calibri"/>
              </a:defRPr>
            </a:pPr>
            <a:r>
              <a:t>KHÓA LUẬN TỐT NGHIỆP ĐẠI HỌC</a:t>
            </a:r>
          </a:p>
        </p:txBody>
      </p:sp>
      <p:sp>
        <p:nvSpPr>
          <p:cNvPr id="9" name="TextBox 8"/>
          <p:cNvSpPr txBox="1"/>
          <p:nvPr/>
        </p:nvSpPr>
        <p:spPr>
          <a:xfrm>
            <a:off x="1097280" y="2651760"/>
            <a:ext cx="9601200" cy="1645920"/>
          </a:xfrm>
          <a:prstGeom prst="rect">
            <a:avLst/>
          </a:prstGeom>
          <a:noFill/>
        </p:spPr>
        <p:txBody>
          <a:bodyPr wrap="square">
            <a:spAutoFit/>
          </a:bodyPr>
          <a:lstStyle/>
          <a:p>
            <a:pPr algn="ctr">
              <a:lnSpc>
                <a:spcPts val="3640"/>
              </a:lnSpc>
              <a:spcAft>
                <a:spcPts val="0"/>
              </a:spcAft>
              <a:defRPr sz="2800" b="1">
                <a:solidFill>
                  <a:srgbClr val="FFFFFF"/>
                </a:solidFill>
                <a:latin typeface="Calibri"/>
              </a:defRPr>
            </a:pPr>
            <a:r>
              <a:rPr dirty="0"/>
              <a:t>ỨNG DỤNG KIẾN TRÚC HYBRID (EDGE-CLOUD)</a:t>
            </a:r>
            <a:br>
              <a:rPr dirty="0"/>
            </a:br>
            <a:r>
              <a:rPr dirty="0"/>
              <a:t>VÀ DEEP LEARNING TRONG BÀI TOÁN</a:t>
            </a:r>
            <a:br>
              <a:rPr dirty="0"/>
            </a:br>
            <a:r>
              <a:rPr dirty="0"/>
              <a:t>NHẬN DIỆN HÀNH VI TÀI XẾ XE KHÁCH</a:t>
            </a:r>
          </a:p>
        </p:txBody>
      </p:sp>
      <p:sp>
        <p:nvSpPr>
          <p:cNvPr id="10" name="TextBox 9"/>
          <p:cNvSpPr txBox="1"/>
          <p:nvPr/>
        </p:nvSpPr>
        <p:spPr>
          <a:xfrm>
            <a:off x="1371600" y="4572000"/>
            <a:ext cx="4572000" cy="1828800"/>
          </a:xfrm>
          <a:prstGeom prst="rect">
            <a:avLst/>
          </a:prstGeom>
          <a:noFill/>
        </p:spPr>
        <p:txBody>
          <a:bodyPr wrap="square">
            <a:spAutoFit/>
          </a:bodyPr>
          <a:lstStyle/>
          <a:p>
            <a:pPr algn="l">
              <a:lnSpc>
                <a:spcPts val="2560"/>
              </a:lnSpc>
              <a:spcAft>
                <a:spcPts val="400"/>
              </a:spcAft>
              <a:defRPr sz="1600" b="0">
                <a:solidFill>
                  <a:srgbClr val="BBDEFB"/>
                </a:solidFill>
                <a:latin typeface="Calibri"/>
              </a:defRPr>
            </a:pPr>
            <a:r>
              <a:t>Ngành: Công nghệ phần mềm</a:t>
            </a:r>
          </a:p>
          <a:p>
            <a:pPr algn="l">
              <a:lnSpc>
                <a:spcPts val="2560"/>
              </a:lnSpc>
              <a:spcAft>
                <a:spcPts val="400"/>
              </a:spcAft>
              <a:defRPr sz="1600" b="0">
                <a:solidFill>
                  <a:srgbClr val="BBDEFB"/>
                </a:solidFill>
                <a:latin typeface="Calibri"/>
              </a:defRPr>
            </a:pPr>
            <a:r>
              <a:t>Sinh viên: La Đại Lộc</a:t>
            </a:r>
          </a:p>
          <a:p>
            <a:pPr algn="l">
              <a:lnSpc>
                <a:spcPts val="2560"/>
              </a:lnSpc>
              <a:spcAft>
                <a:spcPts val="400"/>
              </a:spcAft>
              <a:defRPr sz="1600" b="0">
                <a:solidFill>
                  <a:srgbClr val="BBDEFB"/>
                </a:solidFill>
                <a:latin typeface="Calibri"/>
              </a:defRPr>
            </a:pPr>
            <a:r>
              <a:t>MSSV: 4551050116</a:t>
            </a:r>
          </a:p>
        </p:txBody>
      </p:sp>
      <p:sp>
        <p:nvSpPr>
          <p:cNvPr id="11" name="TextBox 10"/>
          <p:cNvSpPr txBox="1"/>
          <p:nvPr/>
        </p:nvSpPr>
        <p:spPr>
          <a:xfrm>
            <a:off x="6400800" y="4572000"/>
            <a:ext cx="4572000" cy="1828800"/>
          </a:xfrm>
          <a:prstGeom prst="rect">
            <a:avLst/>
          </a:prstGeom>
          <a:noFill/>
        </p:spPr>
        <p:txBody>
          <a:bodyPr wrap="square">
            <a:spAutoFit/>
          </a:bodyPr>
          <a:lstStyle/>
          <a:p>
            <a:pPr algn="l">
              <a:lnSpc>
                <a:spcPts val="2560"/>
              </a:lnSpc>
              <a:spcAft>
                <a:spcPts val="400"/>
              </a:spcAft>
              <a:defRPr sz="1600" b="0">
                <a:solidFill>
                  <a:srgbClr val="BBDEFB"/>
                </a:solidFill>
                <a:latin typeface="Calibri"/>
              </a:defRPr>
            </a:pPr>
            <a:r>
              <a:t>Lớp: Công nghệ thông tin 45B</a:t>
            </a:r>
          </a:p>
          <a:p>
            <a:pPr algn="l">
              <a:lnSpc>
                <a:spcPts val="2560"/>
              </a:lnSpc>
              <a:spcAft>
                <a:spcPts val="400"/>
              </a:spcAft>
              <a:defRPr sz="1600" b="0">
                <a:solidFill>
                  <a:srgbClr val="BBDEFB"/>
                </a:solidFill>
                <a:latin typeface="Calibri"/>
              </a:defRPr>
            </a:pPr>
            <a:r>
              <a:t>GVHD: TS. Nguyễn Thanh Bình</a:t>
            </a:r>
          </a:p>
          <a:p>
            <a:pPr algn="l">
              <a:lnSpc>
                <a:spcPts val="2560"/>
              </a:lnSpc>
              <a:spcAft>
                <a:spcPts val="400"/>
              </a:spcAft>
              <a:defRPr sz="1600" b="0">
                <a:solidFill>
                  <a:srgbClr val="BBDEFB"/>
                </a:solidFill>
                <a:latin typeface="Calibri"/>
              </a:defRPr>
            </a:pPr>
            <a:r>
              <a:t>Gia Lai, tháng 6 năm 2026</a:t>
            </a:r>
          </a:p>
        </p:txBody>
      </p:sp>
      <p:sp>
        <p:nvSpPr>
          <p:cNvPr id="12" name="Rectangle 11"/>
          <p:cNvSpPr/>
          <p:nvPr/>
        </p:nvSpPr>
        <p:spPr>
          <a:xfrm>
            <a:off x="0" y="6583680"/>
            <a:ext cx="12191695" cy="27432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0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37160"/>
            <a:ext cx="10058400" cy="640080"/>
          </a:xfrm>
          <a:prstGeom prst="rect">
            <a:avLst/>
          </a:prstGeom>
          <a:noFill/>
        </p:spPr>
        <p:txBody>
          <a:bodyPr wrap="square">
            <a:spAutoFit/>
          </a:bodyPr>
          <a:lstStyle/>
          <a:p>
            <a:pPr algn="l">
              <a:lnSpc>
                <a:spcPts val="3840"/>
              </a:lnSpc>
              <a:spcAft>
                <a:spcPts val="0"/>
              </a:spcAft>
              <a:defRPr sz="3200" b="1">
                <a:solidFill>
                  <a:srgbClr val="FFFFFF"/>
                </a:solidFill>
                <a:latin typeface="Calibri"/>
              </a:defRPr>
            </a:pPr>
            <a:r>
              <a:t>MỤC LỤC THUYẾT TRÌNH</a:t>
            </a:r>
          </a:p>
        </p:txBody>
      </p:sp>
      <p:sp>
        <p:nvSpPr>
          <p:cNvPr id="4" name="Rectangle 3"/>
          <p:cNvSpPr/>
          <p:nvPr/>
        </p:nvSpPr>
        <p:spPr>
          <a:xfrm>
            <a:off x="0" y="1097280"/>
            <a:ext cx="12191695" cy="4572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492240"/>
            <a:ext cx="12191695" cy="365760"/>
          </a:xfrm>
          <a:prstGeom prst="rect">
            <a:avLst/>
          </a:prstGeom>
          <a:solidFill>
            <a:srgbClr val="0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10528"/>
            <a:ext cx="10972800" cy="320040"/>
          </a:xfrm>
          <a:prstGeom prst="rect">
            <a:avLst/>
          </a:prstGeom>
          <a:noFill/>
        </p:spPr>
        <p:txBody>
          <a:bodyPr wrap="square">
            <a:spAutoFit/>
          </a:bodyPr>
          <a:lstStyle/>
          <a:p>
            <a:pPr algn="ctr">
              <a:lnSpc>
                <a:spcPts val="1200"/>
              </a:lnSpc>
              <a:spcAft>
                <a:spcPts val="0"/>
              </a:spcAft>
              <a:defRPr sz="1000" b="0">
                <a:solidFill>
                  <a:srgbClr val="BBDEFB"/>
                </a:solidFill>
                <a:latin typeface="Calibri"/>
              </a:defRPr>
            </a:pPr>
            <a:r>
              <a:t>La Đại Lộc | MSSV: 4551050116 | GVHD: TS. Nguyễn Thanh Bình | Trường Đại học Quy Nhơn</a:t>
            </a:r>
          </a:p>
        </p:txBody>
      </p:sp>
      <p:sp>
        <p:nvSpPr>
          <p:cNvPr id="7" name="Oval 6"/>
          <p:cNvSpPr/>
          <p:nvPr/>
        </p:nvSpPr>
        <p:spPr>
          <a:xfrm>
            <a:off x="2286000" y="1645920"/>
            <a:ext cx="548640" cy="548640"/>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defRPr>
            </a:pPr>
            <a:r>
              <a:t>01</a:t>
            </a:r>
          </a:p>
        </p:txBody>
      </p:sp>
      <p:sp>
        <p:nvSpPr>
          <p:cNvPr id="8" name="TextBox 7"/>
          <p:cNvSpPr txBox="1"/>
          <p:nvPr/>
        </p:nvSpPr>
        <p:spPr>
          <a:xfrm>
            <a:off x="3108960" y="1691640"/>
            <a:ext cx="6400800" cy="457200"/>
          </a:xfrm>
          <a:prstGeom prst="rect">
            <a:avLst/>
          </a:prstGeom>
          <a:noFill/>
        </p:spPr>
        <p:txBody>
          <a:bodyPr wrap="square">
            <a:spAutoFit/>
          </a:bodyPr>
          <a:lstStyle/>
          <a:p>
            <a:pPr algn="l">
              <a:lnSpc>
                <a:spcPts val="2640"/>
              </a:lnSpc>
              <a:spcAft>
                <a:spcPts val="0"/>
              </a:spcAft>
              <a:defRPr sz="2200" b="0">
                <a:solidFill>
                  <a:srgbClr val="424242"/>
                </a:solidFill>
                <a:latin typeface="Calibri"/>
              </a:defRPr>
            </a:pPr>
            <a:r>
              <a:t>Bối cảnh và lý do chọn đề tài</a:t>
            </a:r>
          </a:p>
        </p:txBody>
      </p:sp>
      <p:sp>
        <p:nvSpPr>
          <p:cNvPr id="9" name="Rectangle 8"/>
          <p:cNvSpPr/>
          <p:nvPr/>
        </p:nvSpPr>
        <p:spPr>
          <a:xfrm>
            <a:off x="3017520" y="2130552"/>
            <a:ext cx="5943600" cy="18288"/>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2286000" y="2560320"/>
            <a:ext cx="548640" cy="548640"/>
          </a:xfrm>
          <a:prstGeom prst="ellipse">
            <a:avLst/>
          </a:prstGeom>
          <a:solidFill>
            <a:srgbClr val="144D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defRPr>
            </a:pPr>
            <a:r>
              <a:t>02</a:t>
            </a:r>
          </a:p>
        </p:txBody>
      </p:sp>
      <p:sp>
        <p:nvSpPr>
          <p:cNvPr id="11" name="TextBox 10"/>
          <p:cNvSpPr txBox="1"/>
          <p:nvPr/>
        </p:nvSpPr>
        <p:spPr>
          <a:xfrm>
            <a:off x="3108960" y="2606040"/>
            <a:ext cx="6400800" cy="457200"/>
          </a:xfrm>
          <a:prstGeom prst="rect">
            <a:avLst/>
          </a:prstGeom>
          <a:noFill/>
        </p:spPr>
        <p:txBody>
          <a:bodyPr wrap="square">
            <a:spAutoFit/>
          </a:bodyPr>
          <a:lstStyle/>
          <a:p>
            <a:pPr algn="l">
              <a:lnSpc>
                <a:spcPts val="2640"/>
              </a:lnSpc>
              <a:spcAft>
                <a:spcPts val="0"/>
              </a:spcAft>
              <a:defRPr sz="2200" b="0">
                <a:solidFill>
                  <a:srgbClr val="424242"/>
                </a:solidFill>
                <a:latin typeface="Calibri"/>
              </a:defRPr>
            </a:pPr>
            <a:r>
              <a:t>Cơ sở lý thuyết và công nghệ</a:t>
            </a:r>
          </a:p>
        </p:txBody>
      </p:sp>
      <p:sp>
        <p:nvSpPr>
          <p:cNvPr id="12" name="Rectangle 11"/>
          <p:cNvSpPr/>
          <p:nvPr/>
        </p:nvSpPr>
        <p:spPr>
          <a:xfrm>
            <a:off x="3017520" y="3081528"/>
            <a:ext cx="5943600" cy="18288"/>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2286000" y="3474720"/>
            <a:ext cx="548640" cy="548640"/>
          </a:xfrm>
          <a:prstGeom prst="ellipse">
            <a:avLst/>
          </a:prstGeom>
          <a:solidFill>
            <a:srgbClr val="006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defRPr>
            </a:pPr>
            <a:r>
              <a:t>03</a:t>
            </a:r>
          </a:p>
        </p:txBody>
      </p:sp>
      <p:sp>
        <p:nvSpPr>
          <p:cNvPr id="14" name="TextBox 13"/>
          <p:cNvSpPr txBox="1"/>
          <p:nvPr/>
        </p:nvSpPr>
        <p:spPr>
          <a:xfrm>
            <a:off x="3108960" y="3433862"/>
            <a:ext cx="6400800" cy="457200"/>
          </a:xfrm>
          <a:prstGeom prst="rect">
            <a:avLst/>
          </a:prstGeom>
          <a:noFill/>
        </p:spPr>
        <p:txBody>
          <a:bodyPr wrap="square">
            <a:spAutoFit/>
          </a:bodyPr>
          <a:lstStyle/>
          <a:p>
            <a:pPr algn="l">
              <a:lnSpc>
                <a:spcPts val="2640"/>
              </a:lnSpc>
              <a:spcAft>
                <a:spcPts val="0"/>
              </a:spcAft>
              <a:defRPr sz="2200" b="0">
                <a:solidFill>
                  <a:srgbClr val="424242"/>
                </a:solidFill>
                <a:latin typeface="Calibri"/>
              </a:defRPr>
            </a:pPr>
            <a:r>
              <a:rPr dirty="0" err="1"/>
              <a:t>Phân</a:t>
            </a:r>
            <a:r>
              <a:rPr dirty="0"/>
              <a:t> </a:t>
            </a:r>
            <a:r>
              <a:rPr dirty="0" err="1"/>
              <a:t>tích</a:t>
            </a:r>
            <a:r>
              <a:rPr dirty="0"/>
              <a:t> </a:t>
            </a:r>
            <a:r>
              <a:rPr dirty="0" err="1"/>
              <a:t>và</a:t>
            </a:r>
            <a:r>
              <a:rPr dirty="0"/>
              <a:t> </a:t>
            </a:r>
            <a:r>
              <a:rPr dirty="0" err="1"/>
              <a:t>thiết</a:t>
            </a:r>
            <a:r>
              <a:rPr dirty="0"/>
              <a:t> </a:t>
            </a:r>
            <a:r>
              <a:rPr dirty="0" err="1"/>
              <a:t>kế</a:t>
            </a:r>
            <a:r>
              <a:rPr dirty="0"/>
              <a:t> </a:t>
            </a:r>
            <a:r>
              <a:rPr dirty="0" err="1"/>
              <a:t>hệ</a:t>
            </a:r>
            <a:r>
              <a:rPr dirty="0"/>
              <a:t> </a:t>
            </a:r>
            <a:r>
              <a:rPr dirty="0" err="1"/>
              <a:t>thống</a:t>
            </a:r>
            <a:endParaRPr dirty="0"/>
          </a:p>
        </p:txBody>
      </p:sp>
      <p:sp>
        <p:nvSpPr>
          <p:cNvPr id="15" name="Rectangle 14"/>
          <p:cNvSpPr/>
          <p:nvPr/>
        </p:nvSpPr>
        <p:spPr>
          <a:xfrm>
            <a:off x="3017520" y="3952494"/>
            <a:ext cx="5943600" cy="18288"/>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2286000" y="4389120"/>
            <a:ext cx="548640" cy="548640"/>
          </a:xfrm>
          <a:prstGeom prst="ellipse">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defRPr>
            </a:pPr>
            <a:r>
              <a:t>04</a:t>
            </a:r>
          </a:p>
        </p:txBody>
      </p:sp>
      <p:sp>
        <p:nvSpPr>
          <p:cNvPr id="17" name="TextBox 16"/>
          <p:cNvSpPr txBox="1"/>
          <p:nvPr/>
        </p:nvSpPr>
        <p:spPr>
          <a:xfrm>
            <a:off x="3108960" y="4343400"/>
            <a:ext cx="6400800" cy="457200"/>
          </a:xfrm>
          <a:prstGeom prst="rect">
            <a:avLst/>
          </a:prstGeom>
          <a:noFill/>
        </p:spPr>
        <p:txBody>
          <a:bodyPr wrap="square">
            <a:spAutoFit/>
          </a:bodyPr>
          <a:lstStyle/>
          <a:p>
            <a:pPr algn="l">
              <a:lnSpc>
                <a:spcPts val="2640"/>
              </a:lnSpc>
              <a:spcAft>
                <a:spcPts val="0"/>
              </a:spcAft>
              <a:defRPr sz="2200" b="0">
                <a:solidFill>
                  <a:srgbClr val="424242"/>
                </a:solidFill>
                <a:latin typeface="Calibri"/>
              </a:defRPr>
            </a:pPr>
            <a:r>
              <a:rPr dirty="0" err="1"/>
              <a:t>Xây</a:t>
            </a:r>
            <a:r>
              <a:rPr dirty="0"/>
              <a:t> </a:t>
            </a:r>
            <a:r>
              <a:rPr dirty="0" err="1"/>
              <a:t>dựng</a:t>
            </a:r>
            <a:r>
              <a:rPr dirty="0"/>
              <a:t> </a:t>
            </a:r>
            <a:r>
              <a:rPr dirty="0" err="1"/>
              <a:t>và</a:t>
            </a:r>
            <a:r>
              <a:rPr dirty="0"/>
              <a:t> </a:t>
            </a:r>
            <a:r>
              <a:rPr dirty="0" err="1"/>
              <a:t>thực</a:t>
            </a:r>
            <a:r>
              <a:rPr dirty="0"/>
              <a:t> </a:t>
            </a:r>
            <a:r>
              <a:rPr dirty="0" err="1"/>
              <a:t>nghiệm</a:t>
            </a:r>
            <a:endParaRPr dirty="0"/>
          </a:p>
        </p:txBody>
      </p:sp>
      <p:sp>
        <p:nvSpPr>
          <p:cNvPr id="18" name="Rectangle 17"/>
          <p:cNvSpPr/>
          <p:nvPr/>
        </p:nvSpPr>
        <p:spPr>
          <a:xfrm>
            <a:off x="3017520" y="4882896"/>
            <a:ext cx="5943600" cy="18288"/>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2286000" y="5303520"/>
            <a:ext cx="548640" cy="548640"/>
          </a:xfrm>
          <a:prstGeom prst="ellipse">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defRPr>
            </a:pPr>
            <a:r>
              <a:t>05</a:t>
            </a:r>
          </a:p>
        </p:txBody>
      </p:sp>
      <p:sp>
        <p:nvSpPr>
          <p:cNvPr id="20" name="TextBox 19"/>
          <p:cNvSpPr txBox="1"/>
          <p:nvPr/>
        </p:nvSpPr>
        <p:spPr>
          <a:xfrm>
            <a:off x="3108960" y="5349240"/>
            <a:ext cx="6400800" cy="457200"/>
          </a:xfrm>
          <a:prstGeom prst="rect">
            <a:avLst/>
          </a:prstGeom>
          <a:noFill/>
        </p:spPr>
        <p:txBody>
          <a:bodyPr wrap="square">
            <a:spAutoFit/>
          </a:bodyPr>
          <a:lstStyle/>
          <a:p>
            <a:pPr algn="l">
              <a:lnSpc>
                <a:spcPts val="2640"/>
              </a:lnSpc>
              <a:spcAft>
                <a:spcPts val="0"/>
              </a:spcAft>
              <a:defRPr sz="2200" b="0">
                <a:solidFill>
                  <a:srgbClr val="424242"/>
                </a:solidFill>
                <a:latin typeface="Calibri"/>
              </a:defRPr>
            </a:pPr>
            <a:r>
              <a:t>Kết luận và hướng phát triển</a:t>
            </a:r>
          </a:p>
        </p:txBody>
      </p:sp>
      <p:sp>
        <p:nvSpPr>
          <p:cNvPr id="21" name="Rectangle 20"/>
          <p:cNvSpPr/>
          <p:nvPr/>
        </p:nvSpPr>
        <p:spPr>
          <a:xfrm>
            <a:off x="2971800" y="5809996"/>
            <a:ext cx="5943600" cy="18288"/>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0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37160"/>
            <a:ext cx="10058400" cy="640080"/>
          </a:xfrm>
          <a:prstGeom prst="rect">
            <a:avLst/>
          </a:prstGeom>
          <a:noFill/>
        </p:spPr>
        <p:txBody>
          <a:bodyPr wrap="square">
            <a:spAutoFit/>
          </a:bodyPr>
          <a:lstStyle/>
          <a:p>
            <a:pPr algn="l">
              <a:lnSpc>
                <a:spcPts val="3840"/>
              </a:lnSpc>
              <a:spcAft>
                <a:spcPts val="0"/>
              </a:spcAft>
              <a:defRPr sz="3200" b="1">
                <a:solidFill>
                  <a:srgbClr val="FFFFFF"/>
                </a:solidFill>
                <a:latin typeface="Calibri"/>
              </a:defRPr>
            </a:pPr>
            <a:r>
              <a:t>BỐI CẢNH VÀ LÝ DO CHỌN ĐỀ TÀI</a:t>
            </a:r>
          </a:p>
        </p:txBody>
      </p:sp>
      <p:sp>
        <p:nvSpPr>
          <p:cNvPr id="4" name="TextBox 3"/>
          <p:cNvSpPr txBox="1"/>
          <p:nvPr/>
        </p:nvSpPr>
        <p:spPr>
          <a:xfrm>
            <a:off x="731520" y="685800"/>
            <a:ext cx="10058400" cy="365760"/>
          </a:xfrm>
          <a:prstGeom prst="rect">
            <a:avLst/>
          </a:prstGeom>
          <a:noFill/>
        </p:spPr>
        <p:txBody>
          <a:bodyPr wrap="square">
            <a:spAutoFit/>
          </a:bodyPr>
          <a:lstStyle/>
          <a:p>
            <a:pPr algn="l">
              <a:lnSpc>
                <a:spcPts val="1920"/>
              </a:lnSpc>
              <a:spcAft>
                <a:spcPts val="0"/>
              </a:spcAft>
              <a:defRPr sz="1600" b="0">
                <a:solidFill>
                  <a:srgbClr val="42A5F5"/>
                </a:solidFill>
                <a:latin typeface="Calibri"/>
              </a:defRPr>
            </a:pPr>
            <a:r>
              <a:t>Chương 1: Tổng quan về bài toán và công nghệ</a:t>
            </a:r>
          </a:p>
        </p:txBody>
      </p:sp>
      <p:sp>
        <p:nvSpPr>
          <p:cNvPr id="5" name="Rectangle 4"/>
          <p:cNvSpPr/>
          <p:nvPr/>
        </p:nvSpPr>
        <p:spPr>
          <a:xfrm>
            <a:off x="0" y="1097280"/>
            <a:ext cx="12191695" cy="4572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492240"/>
            <a:ext cx="12191695" cy="365760"/>
          </a:xfrm>
          <a:prstGeom prst="rect">
            <a:avLst/>
          </a:prstGeom>
          <a:solidFill>
            <a:srgbClr val="0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10528"/>
            <a:ext cx="10972800" cy="320040"/>
          </a:xfrm>
          <a:prstGeom prst="rect">
            <a:avLst/>
          </a:prstGeom>
          <a:noFill/>
        </p:spPr>
        <p:txBody>
          <a:bodyPr wrap="square">
            <a:spAutoFit/>
          </a:bodyPr>
          <a:lstStyle/>
          <a:p>
            <a:pPr algn="ctr">
              <a:lnSpc>
                <a:spcPts val="1200"/>
              </a:lnSpc>
              <a:spcAft>
                <a:spcPts val="0"/>
              </a:spcAft>
              <a:defRPr sz="1000" b="0">
                <a:solidFill>
                  <a:srgbClr val="BBDEFB"/>
                </a:solidFill>
                <a:latin typeface="Calibri"/>
              </a:defRPr>
            </a:pPr>
            <a:r>
              <a:t>La Đại Lộc | MSSV: 4551050116 | GVHD: TS. Nguyễn Thanh Bình | Trường Đại học Quy Nhơn</a:t>
            </a:r>
          </a:p>
        </p:txBody>
      </p:sp>
      <p:sp>
        <p:nvSpPr>
          <p:cNvPr id="8" name="TextBox 7"/>
          <p:cNvSpPr txBox="1"/>
          <p:nvPr/>
        </p:nvSpPr>
        <p:spPr>
          <a:xfrm>
            <a:off x="731520" y="1463040"/>
            <a:ext cx="5943600" cy="4572000"/>
          </a:xfrm>
          <a:prstGeom prst="rect">
            <a:avLst/>
          </a:prstGeom>
          <a:noFill/>
        </p:spPr>
        <p:txBody>
          <a:bodyPr wrap="square">
            <a:spAutoFit/>
          </a:bodyPr>
          <a:lstStyle/>
          <a:p>
            <a:pPr algn="l">
              <a:lnSpc>
                <a:spcPts val="2400"/>
              </a:lnSpc>
              <a:spcAft>
                <a:spcPts val="600"/>
              </a:spcAft>
              <a:defRPr sz="1600">
                <a:solidFill>
                  <a:srgbClr val="424242"/>
                </a:solidFill>
                <a:latin typeface="Calibri"/>
              </a:defRPr>
            </a:pPr>
            <a:r>
              <a:t>▸ Tai nạn giao thông là nguyên nhân hàng đầu gây thiệt hại kinh tế và tính mạng trên toàn cầu</a:t>
            </a:r>
          </a:p>
          <a:p>
            <a:pPr algn="l">
              <a:lnSpc>
                <a:spcPts val="2400"/>
              </a:lnSpc>
              <a:spcAft>
                <a:spcPts val="600"/>
              </a:spcAft>
              <a:defRPr sz="1600">
                <a:solidFill>
                  <a:srgbClr val="424242"/>
                </a:solidFill>
                <a:latin typeface="Calibri"/>
              </a:defRPr>
            </a:pPr>
            <a:r>
              <a:t>▸ Phần lớn tai nạn nghiêm trọng xuất phát từ yếu tố chủ quan của con người, không phải lỗi kỹ thuật</a:t>
            </a:r>
          </a:p>
          <a:p>
            <a:pPr algn="l">
              <a:lnSpc>
                <a:spcPts val="2400"/>
              </a:lnSpc>
              <a:spcAft>
                <a:spcPts val="600"/>
              </a:spcAft>
              <a:defRPr sz="1600">
                <a:solidFill>
                  <a:srgbClr val="424242"/>
                </a:solidFill>
                <a:latin typeface="Calibri"/>
              </a:defRPr>
            </a:pPr>
            <a:r>
              <a:t>▸ Mất tập trung khi lái xe (Distracted Driving) chiếm tỷ trọng cao nhất trong chuỗi nguyên nhân</a:t>
            </a:r>
          </a:p>
          <a:p>
            <a:pPr algn="l">
              <a:lnSpc>
                <a:spcPts val="2400"/>
              </a:lnSpc>
              <a:spcAft>
                <a:spcPts val="600"/>
              </a:spcAft>
              <a:defRPr sz="1600">
                <a:solidFill>
                  <a:srgbClr val="424242"/>
                </a:solidFill>
                <a:latin typeface="Calibri"/>
              </a:defRPr>
            </a:pPr>
            <a:r>
              <a:t>▸ Các hành vi nguy hiểm phổ biến: sử dụng điện thoại, hút thuốc, không thắt dây an toàn</a:t>
            </a:r>
          </a:p>
          <a:p>
            <a:pPr algn="l">
              <a:lnSpc>
                <a:spcPts val="2400"/>
              </a:lnSpc>
              <a:spcAft>
                <a:spcPts val="600"/>
              </a:spcAft>
              <a:defRPr sz="1600">
                <a:solidFill>
                  <a:srgbClr val="424242"/>
                </a:solidFill>
                <a:latin typeface="Calibri"/>
              </a:defRPr>
            </a:pPr>
            <a:r>
              <a:t>▸ Cần hệ thống giám sát và cảnh báo gần thời gian thực để phòng ngừa tai nạn</a:t>
            </a:r>
          </a:p>
        </p:txBody>
      </p:sp>
      <p:sp>
        <p:nvSpPr>
          <p:cNvPr id="9" name="Rounded Rectangle 8"/>
          <p:cNvSpPr/>
          <p:nvPr/>
        </p:nvSpPr>
        <p:spPr>
          <a:xfrm>
            <a:off x="7132320" y="1463040"/>
            <a:ext cx="4389120" cy="1371600"/>
          </a:xfrm>
          <a:prstGeom prst="roundRect">
            <a:avLst/>
          </a:prstGeom>
          <a:solidFill>
            <a:srgbClr val="F5F5F5"/>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7315200" y="1645920"/>
            <a:ext cx="457200" cy="457200"/>
          </a:xfrm>
          <a:prstGeom prst="ellipse">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0"/>
              </a:spcBef>
              <a:spcAft>
                <a:spcPts val="0"/>
              </a:spcAft>
              <a:defRPr sz="1600" b="1">
                <a:solidFill>
                  <a:srgbClr val="FFFFFF"/>
                </a:solidFill>
              </a:defRPr>
            </a:pPr>
            <a:r>
              <a:t>⚠</a:t>
            </a:r>
          </a:p>
        </p:txBody>
      </p:sp>
      <p:sp>
        <p:nvSpPr>
          <p:cNvPr id="11" name="TextBox 10"/>
          <p:cNvSpPr txBox="1"/>
          <p:nvPr/>
        </p:nvSpPr>
        <p:spPr>
          <a:xfrm>
            <a:off x="7955280" y="1645920"/>
            <a:ext cx="3474720" cy="365760"/>
          </a:xfrm>
          <a:prstGeom prst="rect">
            <a:avLst/>
          </a:prstGeom>
          <a:noFill/>
        </p:spPr>
        <p:txBody>
          <a:bodyPr wrap="square">
            <a:spAutoFit/>
          </a:bodyPr>
          <a:lstStyle/>
          <a:p>
            <a:pPr algn="l">
              <a:lnSpc>
                <a:spcPts val="1920"/>
              </a:lnSpc>
              <a:spcAft>
                <a:spcPts val="0"/>
              </a:spcAft>
              <a:defRPr sz="1600" b="1">
                <a:solidFill>
                  <a:srgbClr val="0A2E5C"/>
                </a:solidFill>
                <a:latin typeface="Calibri"/>
              </a:defRPr>
            </a:pPr>
            <a:r>
              <a:t>Mất tập trung</a:t>
            </a:r>
          </a:p>
        </p:txBody>
      </p:sp>
      <p:sp>
        <p:nvSpPr>
          <p:cNvPr id="12" name="TextBox 11"/>
          <p:cNvSpPr txBox="1"/>
          <p:nvPr/>
        </p:nvSpPr>
        <p:spPr>
          <a:xfrm>
            <a:off x="7406640" y="2103120"/>
            <a:ext cx="3840480" cy="548640"/>
          </a:xfrm>
          <a:prstGeom prst="rect">
            <a:avLst/>
          </a:prstGeom>
          <a:noFill/>
        </p:spPr>
        <p:txBody>
          <a:bodyPr wrap="square">
            <a:spAutoFit/>
          </a:bodyPr>
          <a:lstStyle/>
          <a:p>
            <a:pPr algn="l">
              <a:lnSpc>
                <a:spcPts val="1690"/>
              </a:lnSpc>
              <a:spcAft>
                <a:spcPts val="600"/>
              </a:spcAft>
              <a:defRPr sz="1300">
                <a:solidFill>
                  <a:srgbClr val="424242"/>
                </a:solidFill>
                <a:latin typeface="Calibri"/>
              </a:defRPr>
            </a:pPr>
            <a:r>
              <a:t>• Rời mắt khỏi làn đường</a:t>
            </a:r>
          </a:p>
          <a:p>
            <a:pPr algn="l">
              <a:lnSpc>
                <a:spcPts val="1690"/>
              </a:lnSpc>
              <a:spcAft>
                <a:spcPts val="600"/>
              </a:spcAft>
              <a:defRPr sz="1300">
                <a:solidFill>
                  <a:srgbClr val="424242"/>
                </a:solidFill>
                <a:latin typeface="Calibri"/>
              </a:defRPr>
            </a:pPr>
            <a:r>
              <a:t>• Buông tay khỏi vô lăng</a:t>
            </a:r>
          </a:p>
        </p:txBody>
      </p:sp>
      <p:sp>
        <p:nvSpPr>
          <p:cNvPr id="13" name="Rounded Rectangle 12"/>
          <p:cNvSpPr/>
          <p:nvPr/>
        </p:nvSpPr>
        <p:spPr>
          <a:xfrm>
            <a:off x="7132320" y="3108960"/>
            <a:ext cx="4389120" cy="1371600"/>
          </a:xfrm>
          <a:prstGeom prst="roundRect">
            <a:avLst/>
          </a:prstGeom>
          <a:solidFill>
            <a:srgbClr val="F5F5F5"/>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7315200" y="3291840"/>
            <a:ext cx="457200" cy="457200"/>
          </a:xfrm>
          <a:prstGeom prst="ellipse">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0"/>
              </a:spcBef>
              <a:spcAft>
                <a:spcPts val="0"/>
              </a:spcAft>
              <a:defRPr sz="1600" b="1">
                <a:solidFill>
                  <a:srgbClr val="FFFFFF"/>
                </a:solidFill>
              </a:defRPr>
            </a:pPr>
            <a:r>
              <a:t>✕</a:t>
            </a:r>
          </a:p>
        </p:txBody>
      </p:sp>
      <p:sp>
        <p:nvSpPr>
          <p:cNvPr id="15" name="TextBox 14"/>
          <p:cNvSpPr txBox="1"/>
          <p:nvPr/>
        </p:nvSpPr>
        <p:spPr>
          <a:xfrm>
            <a:off x="7955280" y="3291840"/>
            <a:ext cx="3474720" cy="365760"/>
          </a:xfrm>
          <a:prstGeom prst="rect">
            <a:avLst/>
          </a:prstGeom>
          <a:noFill/>
        </p:spPr>
        <p:txBody>
          <a:bodyPr wrap="square">
            <a:spAutoFit/>
          </a:bodyPr>
          <a:lstStyle/>
          <a:p>
            <a:pPr algn="l">
              <a:lnSpc>
                <a:spcPts val="1920"/>
              </a:lnSpc>
              <a:spcAft>
                <a:spcPts val="0"/>
              </a:spcAft>
              <a:defRPr sz="1600" b="1">
                <a:solidFill>
                  <a:srgbClr val="0A2E5C"/>
                </a:solidFill>
                <a:latin typeface="Calibri"/>
              </a:defRPr>
            </a:pPr>
            <a:r>
              <a:t>Vi phạm an toàn thụ động</a:t>
            </a:r>
          </a:p>
        </p:txBody>
      </p:sp>
      <p:sp>
        <p:nvSpPr>
          <p:cNvPr id="16" name="TextBox 15"/>
          <p:cNvSpPr txBox="1"/>
          <p:nvPr/>
        </p:nvSpPr>
        <p:spPr>
          <a:xfrm>
            <a:off x="7406640" y="3749040"/>
            <a:ext cx="3840480" cy="548640"/>
          </a:xfrm>
          <a:prstGeom prst="rect">
            <a:avLst/>
          </a:prstGeom>
          <a:noFill/>
        </p:spPr>
        <p:txBody>
          <a:bodyPr wrap="square">
            <a:spAutoFit/>
          </a:bodyPr>
          <a:lstStyle/>
          <a:p>
            <a:pPr algn="l">
              <a:lnSpc>
                <a:spcPts val="1690"/>
              </a:lnSpc>
              <a:spcAft>
                <a:spcPts val="600"/>
              </a:spcAft>
              <a:defRPr sz="1300">
                <a:solidFill>
                  <a:srgbClr val="424242"/>
                </a:solidFill>
                <a:latin typeface="Calibri"/>
              </a:defRPr>
            </a:pPr>
            <a:r>
              <a:t>• Không thắt dây an toàn</a:t>
            </a:r>
          </a:p>
          <a:p>
            <a:pPr algn="l">
              <a:lnSpc>
                <a:spcPts val="1690"/>
              </a:lnSpc>
              <a:spcAft>
                <a:spcPts val="600"/>
              </a:spcAft>
              <a:defRPr sz="1300">
                <a:solidFill>
                  <a:srgbClr val="424242"/>
                </a:solidFill>
                <a:latin typeface="Calibri"/>
              </a:defRPr>
            </a:pPr>
            <a:r>
              <a:t>• Tăng mức độ chấn thương</a:t>
            </a:r>
          </a:p>
        </p:txBody>
      </p:sp>
      <p:sp>
        <p:nvSpPr>
          <p:cNvPr id="17" name="Rounded Rectangle 16"/>
          <p:cNvSpPr/>
          <p:nvPr/>
        </p:nvSpPr>
        <p:spPr>
          <a:xfrm>
            <a:off x="7132320" y="4754880"/>
            <a:ext cx="4389120" cy="1371600"/>
          </a:xfrm>
          <a:prstGeom prst="roundRect">
            <a:avLst/>
          </a:prstGeom>
          <a:solidFill>
            <a:srgbClr val="F5F5F5"/>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7315200" y="4937760"/>
            <a:ext cx="457200" cy="45720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0"/>
              </a:spcBef>
              <a:spcAft>
                <a:spcPts val="0"/>
              </a:spcAft>
              <a:defRPr sz="1600" b="1">
                <a:solidFill>
                  <a:srgbClr val="FFFFFF"/>
                </a:solidFill>
              </a:defRPr>
            </a:pPr>
            <a:r>
              <a:t>◉</a:t>
            </a:r>
          </a:p>
        </p:txBody>
      </p:sp>
      <p:sp>
        <p:nvSpPr>
          <p:cNvPr id="19" name="TextBox 18"/>
          <p:cNvSpPr txBox="1"/>
          <p:nvPr/>
        </p:nvSpPr>
        <p:spPr>
          <a:xfrm>
            <a:off x="7955280" y="4937760"/>
            <a:ext cx="3474720" cy="365760"/>
          </a:xfrm>
          <a:prstGeom prst="rect">
            <a:avLst/>
          </a:prstGeom>
          <a:noFill/>
        </p:spPr>
        <p:txBody>
          <a:bodyPr wrap="square">
            <a:spAutoFit/>
          </a:bodyPr>
          <a:lstStyle/>
          <a:p>
            <a:pPr algn="l">
              <a:lnSpc>
                <a:spcPts val="1920"/>
              </a:lnSpc>
              <a:spcAft>
                <a:spcPts val="0"/>
              </a:spcAft>
              <a:defRPr sz="1600" b="1">
                <a:solidFill>
                  <a:srgbClr val="0A2E5C"/>
                </a:solidFill>
                <a:latin typeface="Calibri"/>
              </a:defRPr>
            </a:pPr>
            <a:r>
              <a:t>Yêu cầu cấp thiết</a:t>
            </a:r>
          </a:p>
        </p:txBody>
      </p:sp>
      <p:sp>
        <p:nvSpPr>
          <p:cNvPr id="20" name="TextBox 19"/>
          <p:cNvSpPr txBox="1"/>
          <p:nvPr/>
        </p:nvSpPr>
        <p:spPr>
          <a:xfrm>
            <a:off x="7406640" y="5394960"/>
            <a:ext cx="3840480" cy="548640"/>
          </a:xfrm>
          <a:prstGeom prst="rect">
            <a:avLst/>
          </a:prstGeom>
          <a:noFill/>
        </p:spPr>
        <p:txBody>
          <a:bodyPr wrap="square">
            <a:spAutoFit/>
          </a:bodyPr>
          <a:lstStyle/>
          <a:p>
            <a:pPr algn="l">
              <a:lnSpc>
                <a:spcPts val="1690"/>
              </a:lnSpc>
              <a:spcAft>
                <a:spcPts val="600"/>
              </a:spcAft>
              <a:defRPr sz="1300">
                <a:solidFill>
                  <a:srgbClr val="424242"/>
                </a:solidFill>
                <a:latin typeface="Calibri"/>
              </a:defRPr>
            </a:pPr>
            <a:r>
              <a:t>• Giám sát thời gian thực</a:t>
            </a:r>
          </a:p>
          <a:p>
            <a:pPr algn="l">
              <a:lnSpc>
                <a:spcPts val="1690"/>
              </a:lnSpc>
              <a:spcAft>
                <a:spcPts val="600"/>
              </a:spcAft>
              <a:defRPr sz="1300">
                <a:solidFill>
                  <a:srgbClr val="424242"/>
                </a:solidFill>
                <a:latin typeface="Calibri"/>
              </a:defRPr>
            </a:pPr>
            <a:r>
              <a:t>• Cảnh báo tức thời cho tài xế</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0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37160"/>
            <a:ext cx="10058400" cy="640080"/>
          </a:xfrm>
          <a:prstGeom prst="rect">
            <a:avLst/>
          </a:prstGeom>
          <a:noFill/>
        </p:spPr>
        <p:txBody>
          <a:bodyPr wrap="square">
            <a:spAutoFit/>
          </a:bodyPr>
          <a:lstStyle/>
          <a:p>
            <a:pPr algn="l">
              <a:lnSpc>
                <a:spcPts val="3840"/>
              </a:lnSpc>
              <a:spcAft>
                <a:spcPts val="0"/>
              </a:spcAft>
              <a:defRPr sz="3200" b="1">
                <a:solidFill>
                  <a:srgbClr val="FFFFFF"/>
                </a:solidFill>
                <a:latin typeface="Calibri"/>
              </a:defRPr>
            </a:pPr>
            <a:r>
              <a:t>HẠN CHẾ CỦA PHƯƠNG PHÁP TRUYỀN THỐNG</a:t>
            </a:r>
          </a:p>
        </p:txBody>
      </p:sp>
      <p:sp>
        <p:nvSpPr>
          <p:cNvPr id="4" name="Rectangle 3"/>
          <p:cNvSpPr/>
          <p:nvPr/>
        </p:nvSpPr>
        <p:spPr>
          <a:xfrm>
            <a:off x="0" y="1097280"/>
            <a:ext cx="12191695" cy="4572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492240"/>
            <a:ext cx="12191695" cy="365760"/>
          </a:xfrm>
          <a:prstGeom prst="rect">
            <a:avLst/>
          </a:prstGeom>
          <a:solidFill>
            <a:srgbClr val="0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10528"/>
            <a:ext cx="10972800" cy="320040"/>
          </a:xfrm>
          <a:prstGeom prst="rect">
            <a:avLst/>
          </a:prstGeom>
          <a:noFill/>
        </p:spPr>
        <p:txBody>
          <a:bodyPr wrap="square">
            <a:spAutoFit/>
          </a:bodyPr>
          <a:lstStyle/>
          <a:p>
            <a:pPr algn="ctr">
              <a:lnSpc>
                <a:spcPts val="1200"/>
              </a:lnSpc>
              <a:spcAft>
                <a:spcPts val="0"/>
              </a:spcAft>
              <a:defRPr sz="1000" b="0">
                <a:solidFill>
                  <a:srgbClr val="BBDEFB"/>
                </a:solidFill>
                <a:latin typeface="Calibri"/>
              </a:defRPr>
            </a:pPr>
            <a:r>
              <a:t>La Đại Lộc | MSSV: 4551050116 | GVHD: TS. Nguyễn Thanh Bình | Trường Đại học Quy Nhơn</a:t>
            </a:r>
          </a:p>
        </p:txBody>
      </p:sp>
      <p:sp>
        <p:nvSpPr>
          <p:cNvPr id="7" name="TextBox 6"/>
          <p:cNvSpPr txBox="1"/>
          <p:nvPr/>
        </p:nvSpPr>
        <p:spPr>
          <a:xfrm>
            <a:off x="731520" y="1463040"/>
            <a:ext cx="5029200" cy="365760"/>
          </a:xfrm>
          <a:prstGeom prst="rect">
            <a:avLst/>
          </a:prstGeom>
          <a:noFill/>
        </p:spPr>
        <p:txBody>
          <a:bodyPr wrap="square">
            <a:spAutoFit/>
          </a:bodyPr>
          <a:lstStyle/>
          <a:p>
            <a:pPr algn="l">
              <a:lnSpc>
                <a:spcPts val="2400"/>
              </a:lnSpc>
              <a:spcAft>
                <a:spcPts val="0"/>
              </a:spcAft>
              <a:defRPr sz="2000" b="1">
                <a:solidFill>
                  <a:srgbClr val="C62828"/>
                </a:solidFill>
                <a:latin typeface="Calibri"/>
              </a:defRPr>
            </a:pPr>
            <a:r>
              <a:t>Phương pháp hiện tại</a:t>
            </a:r>
          </a:p>
        </p:txBody>
      </p:sp>
      <p:sp>
        <p:nvSpPr>
          <p:cNvPr id="8" name="TextBox 7"/>
          <p:cNvSpPr txBox="1"/>
          <p:nvPr/>
        </p:nvSpPr>
        <p:spPr>
          <a:xfrm>
            <a:off x="731520" y="2011680"/>
            <a:ext cx="5486400" cy="4114800"/>
          </a:xfrm>
          <a:prstGeom prst="rect">
            <a:avLst/>
          </a:prstGeom>
          <a:noFill/>
        </p:spPr>
        <p:txBody>
          <a:bodyPr wrap="square">
            <a:spAutoFit/>
          </a:bodyPr>
          <a:lstStyle/>
          <a:p>
            <a:pPr algn="l">
              <a:lnSpc>
                <a:spcPts val="2250"/>
              </a:lnSpc>
              <a:spcAft>
                <a:spcPts val="600"/>
              </a:spcAft>
              <a:defRPr sz="1500">
                <a:solidFill>
                  <a:srgbClr val="424242"/>
                </a:solidFill>
                <a:latin typeface="Calibri"/>
              </a:defRPr>
            </a:pPr>
            <a:r>
              <a:t>✗ Camera hành trình chỉ ghi hình thụ động, không phân tích thời gian thực</a:t>
            </a:r>
          </a:p>
          <a:p>
            <a:pPr algn="l">
              <a:lnSpc>
                <a:spcPts val="2250"/>
              </a:lnSpc>
              <a:spcAft>
                <a:spcPts val="600"/>
              </a:spcAft>
              <a:defRPr sz="1500">
                <a:solidFill>
                  <a:srgbClr val="424242"/>
                </a:solidFill>
                <a:latin typeface="Calibri"/>
              </a:defRPr>
            </a:pPr>
            <a:r>
              <a:t>✗ Phân tích thủ công sau khi sự cố đã xảy ra → không có khả năng cảnh báo sớm</a:t>
            </a:r>
          </a:p>
          <a:p>
            <a:pPr algn="l">
              <a:lnSpc>
                <a:spcPts val="2250"/>
              </a:lnSpc>
              <a:spcAft>
                <a:spcPts val="600"/>
              </a:spcAft>
              <a:defRPr sz="1500">
                <a:solidFill>
                  <a:srgbClr val="424242"/>
                </a:solidFill>
                <a:latin typeface="Calibri"/>
              </a:defRPr>
            </a:pPr>
            <a:r>
              <a:t>✗ Object Detection đơn lẻ dễ gây cảnh báo sai (False Positive) do thiếu ngữ cảnh</a:t>
            </a:r>
          </a:p>
          <a:p>
            <a:pPr algn="l">
              <a:lnSpc>
                <a:spcPts val="2250"/>
              </a:lnSpc>
              <a:spcAft>
                <a:spcPts val="600"/>
              </a:spcAft>
              <a:defRPr sz="1500">
                <a:solidFill>
                  <a:srgbClr val="424242"/>
                </a:solidFill>
                <a:latin typeface="Calibri"/>
              </a:defRPr>
            </a:pPr>
            <a:r>
              <a:t>✗ Không phân biệt được vật thể của tài xế hay hành khách ghế phụ</a:t>
            </a:r>
          </a:p>
          <a:p>
            <a:pPr algn="l">
              <a:lnSpc>
                <a:spcPts val="2250"/>
              </a:lnSpc>
              <a:spcAft>
                <a:spcPts val="600"/>
              </a:spcAft>
              <a:defRPr sz="1500">
                <a:solidFill>
                  <a:srgbClr val="424242"/>
                </a:solidFill>
                <a:latin typeface="Calibri"/>
              </a:defRPr>
            </a:pPr>
            <a:r>
              <a:t>✗ Gây hội chứng "mệt mỏi vì cảnh báo" khi báo động giả liên tục</a:t>
            </a:r>
          </a:p>
        </p:txBody>
      </p:sp>
      <p:sp>
        <p:nvSpPr>
          <p:cNvPr id="9" name="TextBox 8"/>
          <p:cNvSpPr txBox="1"/>
          <p:nvPr/>
        </p:nvSpPr>
        <p:spPr>
          <a:xfrm>
            <a:off x="6858000" y="1463040"/>
            <a:ext cx="4572000" cy="365760"/>
          </a:xfrm>
          <a:prstGeom prst="rect">
            <a:avLst/>
          </a:prstGeom>
          <a:noFill/>
        </p:spPr>
        <p:txBody>
          <a:bodyPr wrap="square">
            <a:spAutoFit/>
          </a:bodyPr>
          <a:lstStyle/>
          <a:p>
            <a:pPr algn="l">
              <a:lnSpc>
                <a:spcPts val="2400"/>
              </a:lnSpc>
              <a:spcAft>
                <a:spcPts val="0"/>
              </a:spcAft>
              <a:defRPr sz="2000" b="1">
                <a:solidFill>
                  <a:srgbClr val="2E7D32"/>
                </a:solidFill>
                <a:latin typeface="Calibri"/>
              </a:defRPr>
            </a:pPr>
            <a:r>
              <a:t>Giải pháp đề xuất</a:t>
            </a:r>
          </a:p>
        </p:txBody>
      </p:sp>
      <p:sp>
        <p:nvSpPr>
          <p:cNvPr id="10" name="TextBox 9"/>
          <p:cNvSpPr txBox="1"/>
          <p:nvPr/>
        </p:nvSpPr>
        <p:spPr>
          <a:xfrm>
            <a:off x="6858000" y="2011680"/>
            <a:ext cx="4572000" cy="4114800"/>
          </a:xfrm>
          <a:prstGeom prst="rect">
            <a:avLst/>
          </a:prstGeom>
          <a:noFill/>
        </p:spPr>
        <p:txBody>
          <a:bodyPr wrap="square">
            <a:spAutoFit/>
          </a:bodyPr>
          <a:lstStyle/>
          <a:p>
            <a:pPr algn="l">
              <a:lnSpc>
                <a:spcPts val="2250"/>
              </a:lnSpc>
              <a:spcAft>
                <a:spcPts val="600"/>
              </a:spcAft>
              <a:defRPr sz="1500">
                <a:solidFill>
                  <a:srgbClr val="2E7D32"/>
                </a:solidFill>
                <a:latin typeface="Calibri"/>
              </a:defRPr>
            </a:pPr>
            <a:r>
              <a:t>✓ Xử lý video thời gian thực tại Edge</a:t>
            </a:r>
          </a:p>
          <a:p>
            <a:pPr algn="l">
              <a:lnSpc>
                <a:spcPts val="2250"/>
              </a:lnSpc>
              <a:spcAft>
                <a:spcPts val="600"/>
              </a:spcAft>
              <a:defRPr sz="1500">
                <a:solidFill>
                  <a:srgbClr val="2E7D32"/>
                </a:solidFill>
                <a:latin typeface="Calibri"/>
              </a:defRPr>
            </a:pPr>
            <a:r>
              <a:t>✓ Kết hợp YOLO + MediaPipe Pose cho ngữ cảnh</a:t>
            </a:r>
          </a:p>
          <a:p>
            <a:pPr algn="l">
              <a:lnSpc>
                <a:spcPts val="2250"/>
              </a:lnSpc>
              <a:spcAft>
                <a:spcPts val="600"/>
              </a:spcAft>
              <a:defRPr sz="1500">
                <a:solidFill>
                  <a:srgbClr val="2E7D32"/>
                </a:solidFill>
                <a:latin typeface="Calibri"/>
              </a:defRPr>
            </a:pPr>
            <a:r>
              <a:t>✓ Cảnh báo tức thời tại phương tiện</a:t>
            </a:r>
          </a:p>
          <a:p>
            <a:pPr algn="l">
              <a:lnSpc>
                <a:spcPts val="2250"/>
              </a:lnSpc>
              <a:spcAft>
                <a:spcPts val="600"/>
              </a:spcAft>
              <a:defRPr sz="1500">
                <a:solidFill>
                  <a:srgbClr val="2E7D32"/>
                </a:solidFill>
                <a:latin typeface="Calibri"/>
              </a:defRPr>
            </a:pPr>
            <a:r>
              <a:t>✓ Kiến trúc Hybrid Edge–Cloud toàn diện</a:t>
            </a:r>
          </a:p>
          <a:p>
            <a:pPr algn="l">
              <a:lnSpc>
                <a:spcPts val="2250"/>
              </a:lnSpc>
              <a:spcAft>
                <a:spcPts val="600"/>
              </a:spcAft>
              <a:defRPr sz="1500">
                <a:solidFill>
                  <a:srgbClr val="2E7D32"/>
                </a:solidFill>
                <a:latin typeface="Calibri"/>
              </a:defRPr>
            </a:pPr>
            <a:r>
              <a:t>✓ Lưu vết bằng chứng kỹ thuật số</a:t>
            </a:r>
          </a:p>
        </p:txBody>
      </p:sp>
      <p:sp>
        <p:nvSpPr>
          <p:cNvPr id="11" name="Right Arrow 10"/>
          <p:cNvSpPr/>
          <p:nvPr/>
        </p:nvSpPr>
        <p:spPr>
          <a:xfrm>
            <a:off x="5943600" y="3474720"/>
            <a:ext cx="731520" cy="365760"/>
          </a:xfrm>
          <a:prstGeom prst="rightArrow">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0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37160"/>
            <a:ext cx="10058400" cy="640080"/>
          </a:xfrm>
          <a:prstGeom prst="rect">
            <a:avLst/>
          </a:prstGeom>
          <a:noFill/>
        </p:spPr>
        <p:txBody>
          <a:bodyPr wrap="square">
            <a:spAutoFit/>
          </a:bodyPr>
          <a:lstStyle/>
          <a:p>
            <a:pPr algn="l">
              <a:lnSpc>
                <a:spcPts val="3840"/>
              </a:lnSpc>
              <a:spcAft>
                <a:spcPts val="0"/>
              </a:spcAft>
              <a:defRPr sz="3200" b="1">
                <a:solidFill>
                  <a:srgbClr val="FFFFFF"/>
                </a:solidFill>
                <a:latin typeface="Calibri"/>
              </a:defRPr>
            </a:pPr>
            <a:r>
              <a:t>MỤC TIÊU ĐỀ TÀI</a:t>
            </a:r>
          </a:p>
        </p:txBody>
      </p:sp>
      <p:sp>
        <p:nvSpPr>
          <p:cNvPr id="4" name="Rectangle 3"/>
          <p:cNvSpPr/>
          <p:nvPr/>
        </p:nvSpPr>
        <p:spPr>
          <a:xfrm>
            <a:off x="0" y="1097280"/>
            <a:ext cx="12191695" cy="4572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492240"/>
            <a:ext cx="12191695" cy="365760"/>
          </a:xfrm>
          <a:prstGeom prst="rect">
            <a:avLst/>
          </a:prstGeom>
          <a:solidFill>
            <a:srgbClr val="0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10528"/>
            <a:ext cx="10972800" cy="320040"/>
          </a:xfrm>
          <a:prstGeom prst="rect">
            <a:avLst/>
          </a:prstGeom>
          <a:noFill/>
        </p:spPr>
        <p:txBody>
          <a:bodyPr wrap="square">
            <a:spAutoFit/>
          </a:bodyPr>
          <a:lstStyle/>
          <a:p>
            <a:pPr algn="ctr">
              <a:lnSpc>
                <a:spcPts val="1200"/>
              </a:lnSpc>
              <a:spcAft>
                <a:spcPts val="0"/>
              </a:spcAft>
              <a:defRPr sz="1000" b="0">
                <a:solidFill>
                  <a:srgbClr val="BBDEFB"/>
                </a:solidFill>
                <a:latin typeface="Calibri"/>
              </a:defRPr>
            </a:pPr>
            <a:r>
              <a:t>La Đại Lộc | MSSV: 4551050116 | GVHD: TS. Nguyễn Thanh Bình | Trường Đại học Quy Nhơn</a:t>
            </a:r>
          </a:p>
        </p:txBody>
      </p:sp>
      <p:sp>
        <p:nvSpPr>
          <p:cNvPr id="7" name="Rounded Rectangle 6"/>
          <p:cNvSpPr/>
          <p:nvPr/>
        </p:nvSpPr>
        <p:spPr>
          <a:xfrm>
            <a:off x="731520" y="1463040"/>
            <a:ext cx="10515600" cy="1097280"/>
          </a:xfrm>
          <a:prstGeom prst="roundRect">
            <a:avLst/>
          </a:prstGeom>
          <a:solidFill>
            <a:srgbClr val="E3F2FD"/>
          </a:solidFill>
          <a:ln>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 y="1600200"/>
            <a:ext cx="10058400" cy="731520"/>
          </a:xfrm>
          <a:prstGeom prst="rect">
            <a:avLst/>
          </a:prstGeom>
          <a:noFill/>
        </p:spPr>
        <p:txBody>
          <a:bodyPr wrap="square">
            <a:spAutoFit/>
          </a:bodyPr>
          <a:lstStyle/>
          <a:p>
            <a:pPr algn="ctr">
              <a:lnSpc>
                <a:spcPts val="2160"/>
              </a:lnSpc>
              <a:spcAft>
                <a:spcPts val="0"/>
              </a:spcAft>
              <a:defRPr sz="1800" b="1">
                <a:solidFill>
                  <a:srgbClr val="0A2E5C"/>
                </a:solidFill>
                <a:latin typeface="Calibri"/>
              </a:defRPr>
            </a:pPr>
            <a:r>
              <a:t>Xây dựng hệ thống DMS nhận diện hành vi nguy hiểm của tài xế xe khách dựa trên kiến trúc Hybrid Edge–Cloud kết hợp Deep Learning</a:t>
            </a:r>
          </a:p>
        </p:txBody>
      </p:sp>
      <p:sp>
        <p:nvSpPr>
          <p:cNvPr id="9" name="Rounded Rectangle 8"/>
          <p:cNvSpPr/>
          <p:nvPr/>
        </p:nvSpPr>
        <p:spPr>
          <a:xfrm>
            <a:off x="731520" y="2926080"/>
            <a:ext cx="2560320" cy="2926080"/>
          </a:xfrm>
          <a:prstGeom prst="roundRect">
            <a:avLst/>
          </a:prstGeom>
          <a:solidFill>
            <a:srgbClr val="FFFFFF"/>
          </a:solidFill>
          <a:ln>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3108960"/>
            <a:ext cx="2560320" cy="457200"/>
          </a:xfrm>
          <a:prstGeom prst="rect">
            <a:avLst/>
          </a:prstGeom>
          <a:noFill/>
        </p:spPr>
        <p:txBody>
          <a:bodyPr wrap="square">
            <a:spAutoFit/>
          </a:bodyPr>
          <a:lstStyle/>
          <a:p>
            <a:pPr algn="ctr">
              <a:lnSpc>
                <a:spcPts val="3360"/>
              </a:lnSpc>
              <a:spcAft>
                <a:spcPts val="0"/>
              </a:spcAft>
              <a:defRPr sz="2800" b="0">
                <a:solidFill>
                  <a:srgbClr val="212121"/>
                </a:solidFill>
                <a:latin typeface="Calibri"/>
              </a:defRPr>
            </a:pPr>
            <a:r>
              <a:t>🎯</a:t>
            </a:r>
          </a:p>
        </p:txBody>
      </p:sp>
      <p:sp>
        <p:nvSpPr>
          <p:cNvPr id="11" name="TextBox 10"/>
          <p:cNvSpPr txBox="1"/>
          <p:nvPr/>
        </p:nvSpPr>
        <p:spPr>
          <a:xfrm>
            <a:off x="914400" y="3657600"/>
            <a:ext cx="2194560" cy="365760"/>
          </a:xfrm>
          <a:prstGeom prst="rect">
            <a:avLst/>
          </a:prstGeom>
          <a:noFill/>
        </p:spPr>
        <p:txBody>
          <a:bodyPr wrap="square">
            <a:spAutoFit/>
          </a:bodyPr>
          <a:lstStyle/>
          <a:p>
            <a:pPr algn="ctr">
              <a:lnSpc>
                <a:spcPts val="1920"/>
              </a:lnSpc>
              <a:spcAft>
                <a:spcPts val="0"/>
              </a:spcAft>
              <a:defRPr sz="1600" b="1">
                <a:solidFill>
                  <a:srgbClr val="1E88E5"/>
                </a:solidFill>
                <a:latin typeface="Calibri"/>
              </a:defRPr>
            </a:pPr>
            <a:r>
              <a:t>Phát hiện hành vi</a:t>
            </a:r>
          </a:p>
        </p:txBody>
      </p:sp>
      <p:sp>
        <p:nvSpPr>
          <p:cNvPr id="12" name="TextBox 11"/>
          <p:cNvSpPr txBox="1"/>
          <p:nvPr/>
        </p:nvSpPr>
        <p:spPr>
          <a:xfrm>
            <a:off x="914400" y="4114800"/>
            <a:ext cx="2194560" cy="1463040"/>
          </a:xfrm>
          <a:prstGeom prst="rect">
            <a:avLst/>
          </a:prstGeom>
          <a:noFill/>
        </p:spPr>
        <p:txBody>
          <a:bodyPr wrap="square">
            <a:spAutoFit/>
          </a:bodyPr>
          <a:lstStyle/>
          <a:p>
            <a:pPr algn="ctr">
              <a:lnSpc>
                <a:spcPts val="1690"/>
              </a:lnSpc>
              <a:spcAft>
                <a:spcPts val="0"/>
              </a:spcAft>
              <a:defRPr sz="1300" b="0">
                <a:solidFill>
                  <a:srgbClr val="424242"/>
                </a:solidFill>
                <a:latin typeface="Calibri"/>
              </a:defRPr>
            </a:pPr>
            <a:r>
              <a:t>Nhận diện sử dụng điện thoại,</a:t>
            </a:r>
            <a:br/>
            <a:r>
              <a:t>hút thuốc, không thắt dây</a:t>
            </a:r>
            <a:br/>
            <a:r>
              <a:t>an toàn</a:t>
            </a:r>
          </a:p>
        </p:txBody>
      </p:sp>
      <p:sp>
        <p:nvSpPr>
          <p:cNvPr id="13" name="Rounded Rectangle 12"/>
          <p:cNvSpPr/>
          <p:nvPr/>
        </p:nvSpPr>
        <p:spPr>
          <a:xfrm>
            <a:off x="3520440" y="2926080"/>
            <a:ext cx="2560320" cy="2926080"/>
          </a:xfrm>
          <a:prstGeom prst="roundRect">
            <a:avLst/>
          </a:prstGeom>
          <a:solidFill>
            <a:srgbClr val="FFFFFF"/>
          </a:solidFill>
          <a:ln>
            <a:solidFill>
              <a:srgbClr val="144D8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520440" y="3108960"/>
            <a:ext cx="2560320" cy="457200"/>
          </a:xfrm>
          <a:prstGeom prst="rect">
            <a:avLst/>
          </a:prstGeom>
          <a:noFill/>
        </p:spPr>
        <p:txBody>
          <a:bodyPr wrap="square">
            <a:spAutoFit/>
          </a:bodyPr>
          <a:lstStyle/>
          <a:p>
            <a:pPr algn="ctr">
              <a:lnSpc>
                <a:spcPts val="3360"/>
              </a:lnSpc>
              <a:spcAft>
                <a:spcPts val="0"/>
              </a:spcAft>
              <a:defRPr sz="2800" b="0">
                <a:solidFill>
                  <a:srgbClr val="212121"/>
                </a:solidFill>
                <a:latin typeface="Calibri"/>
              </a:defRPr>
            </a:pPr>
            <a:r>
              <a:t>⚡</a:t>
            </a:r>
          </a:p>
        </p:txBody>
      </p:sp>
      <p:sp>
        <p:nvSpPr>
          <p:cNvPr id="15" name="TextBox 14"/>
          <p:cNvSpPr txBox="1"/>
          <p:nvPr/>
        </p:nvSpPr>
        <p:spPr>
          <a:xfrm>
            <a:off x="3703320" y="3657600"/>
            <a:ext cx="2194560" cy="365760"/>
          </a:xfrm>
          <a:prstGeom prst="rect">
            <a:avLst/>
          </a:prstGeom>
          <a:noFill/>
        </p:spPr>
        <p:txBody>
          <a:bodyPr wrap="square">
            <a:spAutoFit/>
          </a:bodyPr>
          <a:lstStyle/>
          <a:p>
            <a:pPr algn="ctr">
              <a:lnSpc>
                <a:spcPts val="1920"/>
              </a:lnSpc>
              <a:spcAft>
                <a:spcPts val="0"/>
              </a:spcAft>
              <a:defRPr sz="1600" b="1">
                <a:solidFill>
                  <a:srgbClr val="144D8D"/>
                </a:solidFill>
                <a:latin typeface="Calibri"/>
              </a:defRPr>
            </a:pPr>
            <a:r>
              <a:t>Xử lý tại Edge</a:t>
            </a:r>
          </a:p>
        </p:txBody>
      </p:sp>
      <p:sp>
        <p:nvSpPr>
          <p:cNvPr id="16" name="TextBox 15"/>
          <p:cNvSpPr txBox="1"/>
          <p:nvPr/>
        </p:nvSpPr>
        <p:spPr>
          <a:xfrm>
            <a:off x="3703320" y="4114800"/>
            <a:ext cx="2194560" cy="1463040"/>
          </a:xfrm>
          <a:prstGeom prst="rect">
            <a:avLst/>
          </a:prstGeom>
          <a:noFill/>
        </p:spPr>
        <p:txBody>
          <a:bodyPr wrap="square">
            <a:spAutoFit/>
          </a:bodyPr>
          <a:lstStyle/>
          <a:p>
            <a:pPr algn="ctr">
              <a:lnSpc>
                <a:spcPts val="1690"/>
              </a:lnSpc>
              <a:spcAft>
                <a:spcPts val="0"/>
              </a:spcAft>
              <a:defRPr sz="1300" b="0">
                <a:solidFill>
                  <a:srgbClr val="424242"/>
                </a:solidFill>
                <a:latin typeface="Calibri"/>
              </a:defRPr>
            </a:pPr>
            <a:r>
              <a:t>Kết hợp YOLO + MediaPipe</a:t>
            </a:r>
            <a:br/>
            <a:r>
              <a:t>Pose trên thiết bị nhúng</a:t>
            </a:r>
            <a:br/>
            <a:r>
              <a:t>tại phương tiện</a:t>
            </a:r>
          </a:p>
        </p:txBody>
      </p:sp>
      <p:sp>
        <p:nvSpPr>
          <p:cNvPr id="17" name="Rounded Rectangle 16"/>
          <p:cNvSpPr/>
          <p:nvPr/>
        </p:nvSpPr>
        <p:spPr>
          <a:xfrm>
            <a:off x="6309360" y="2926080"/>
            <a:ext cx="2560320" cy="2926080"/>
          </a:xfrm>
          <a:prstGeom prst="roundRect">
            <a:avLst/>
          </a:prstGeom>
          <a:solidFill>
            <a:srgbClr val="FFFFFF"/>
          </a:solidFill>
          <a:ln>
            <a:solidFill>
              <a:srgbClr val="0069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09360" y="3108960"/>
            <a:ext cx="2560320" cy="457200"/>
          </a:xfrm>
          <a:prstGeom prst="rect">
            <a:avLst/>
          </a:prstGeom>
          <a:noFill/>
        </p:spPr>
        <p:txBody>
          <a:bodyPr wrap="square">
            <a:spAutoFit/>
          </a:bodyPr>
          <a:lstStyle/>
          <a:p>
            <a:pPr algn="ctr">
              <a:lnSpc>
                <a:spcPts val="3360"/>
              </a:lnSpc>
              <a:spcAft>
                <a:spcPts val="0"/>
              </a:spcAft>
              <a:defRPr sz="2800" b="0">
                <a:solidFill>
                  <a:srgbClr val="212121"/>
                </a:solidFill>
                <a:latin typeface="Calibri"/>
              </a:defRPr>
            </a:pPr>
            <a:r>
              <a:t>☁️</a:t>
            </a:r>
          </a:p>
        </p:txBody>
      </p:sp>
      <p:sp>
        <p:nvSpPr>
          <p:cNvPr id="19" name="TextBox 18"/>
          <p:cNvSpPr txBox="1"/>
          <p:nvPr/>
        </p:nvSpPr>
        <p:spPr>
          <a:xfrm>
            <a:off x="6492240" y="3657600"/>
            <a:ext cx="2194560" cy="365760"/>
          </a:xfrm>
          <a:prstGeom prst="rect">
            <a:avLst/>
          </a:prstGeom>
          <a:noFill/>
        </p:spPr>
        <p:txBody>
          <a:bodyPr wrap="square">
            <a:spAutoFit/>
          </a:bodyPr>
          <a:lstStyle/>
          <a:p>
            <a:pPr algn="ctr">
              <a:lnSpc>
                <a:spcPts val="1920"/>
              </a:lnSpc>
              <a:spcAft>
                <a:spcPts val="0"/>
              </a:spcAft>
              <a:defRPr sz="1600" b="1">
                <a:solidFill>
                  <a:srgbClr val="00695C"/>
                </a:solidFill>
                <a:latin typeface="Calibri"/>
              </a:defRPr>
            </a:pPr>
            <a:r>
              <a:t>Quản lý trên Cloud</a:t>
            </a:r>
          </a:p>
        </p:txBody>
      </p:sp>
      <p:sp>
        <p:nvSpPr>
          <p:cNvPr id="20" name="TextBox 19"/>
          <p:cNvSpPr txBox="1"/>
          <p:nvPr/>
        </p:nvSpPr>
        <p:spPr>
          <a:xfrm>
            <a:off x="6492240" y="4114800"/>
            <a:ext cx="2194560" cy="1463040"/>
          </a:xfrm>
          <a:prstGeom prst="rect">
            <a:avLst/>
          </a:prstGeom>
          <a:noFill/>
        </p:spPr>
        <p:txBody>
          <a:bodyPr wrap="square">
            <a:spAutoFit/>
          </a:bodyPr>
          <a:lstStyle/>
          <a:p>
            <a:pPr algn="ctr">
              <a:lnSpc>
                <a:spcPts val="1690"/>
              </a:lnSpc>
              <a:spcAft>
                <a:spcPts val="0"/>
              </a:spcAft>
              <a:defRPr sz="1300" b="0">
                <a:solidFill>
                  <a:srgbClr val="424242"/>
                </a:solidFill>
                <a:latin typeface="Calibri"/>
              </a:defRPr>
            </a:pPr>
            <a:r>
              <a:t>Gửi cảnh báo và bằng chứng</a:t>
            </a:r>
            <a:br/>
            <a:r>
              <a:t>lên Cloud, hỗ trợ dashboard</a:t>
            </a:r>
            <a:br/>
            <a:r>
              <a:t>quản lý tập trung</a:t>
            </a:r>
          </a:p>
        </p:txBody>
      </p:sp>
      <p:sp>
        <p:nvSpPr>
          <p:cNvPr id="21" name="Rounded Rectangle 20"/>
          <p:cNvSpPr/>
          <p:nvPr/>
        </p:nvSpPr>
        <p:spPr>
          <a:xfrm>
            <a:off x="9098279" y="2926080"/>
            <a:ext cx="2560320" cy="2926080"/>
          </a:xfrm>
          <a:prstGeom prst="roundRect">
            <a:avLst/>
          </a:prstGeom>
          <a:solidFill>
            <a:srgbClr val="FFFFFF"/>
          </a:solidFill>
          <a:ln>
            <a:solidFill>
              <a:srgbClr val="FF6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098279" y="3108960"/>
            <a:ext cx="2560320" cy="457200"/>
          </a:xfrm>
          <a:prstGeom prst="rect">
            <a:avLst/>
          </a:prstGeom>
          <a:noFill/>
        </p:spPr>
        <p:txBody>
          <a:bodyPr wrap="square">
            <a:spAutoFit/>
          </a:bodyPr>
          <a:lstStyle/>
          <a:p>
            <a:pPr algn="ctr">
              <a:lnSpc>
                <a:spcPts val="3360"/>
              </a:lnSpc>
              <a:spcAft>
                <a:spcPts val="0"/>
              </a:spcAft>
              <a:defRPr sz="2800" b="0">
                <a:solidFill>
                  <a:srgbClr val="212121"/>
                </a:solidFill>
                <a:latin typeface="Calibri"/>
              </a:defRPr>
            </a:pPr>
            <a:r>
              <a:t>📊</a:t>
            </a:r>
          </a:p>
        </p:txBody>
      </p:sp>
      <p:sp>
        <p:nvSpPr>
          <p:cNvPr id="23" name="TextBox 22"/>
          <p:cNvSpPr txBox="1"/>
          <p:nvPr/>
        </p:nvSpPr>
        <p:spPr>
          <a:xfrm>
            <a:off x="9281159" y="3657600"/>
            <a:ext cx="2194560" cy="365760"/>
          </a:xfrm>
          <a:prstGeom prst="rect">
            <a:avLst/>
          </a:prstGeom>
          <a:noFill/>
        </p:spPr>
        <p:txBody>
          <a:bodyPr wrap="square">
            <a:spAutoFit/>
          </a:bodyPr>
          <a:lstStyle/>
          <a:p>
            <a:pPr algn="ctr">
              <a:lnSpc>
                <a:spcPts val="1920"/>
              </a:lnSpc>
              <a:spcAft>
                <a:spcPts val="0"/>
              </a:spcAft>
              <a:defRPr sz="1600" b="1">
                <a:solidFill>
                  <a:srgbClr val="FF6F00"/>
                </a:solidFill>
                <a:latin typeface="Calibri"/>
              </a:defRPr>
            </a:pPr>
            <a:r>
              <a:t>Đánh giá hiệu quả</a:t>
            </a:r>
          </a:p>
        </p:txBody>
      </p:sp>
      <p:sp>
        <p:nvSpPr>
          <p:cNvPr id="24" name="TextBox 23"/>
          <p:cNvSpPr txBox="1"/>
          <p:nvPr/>
        </p:nvSpPr>
        <p:spPr>
          <a:xfrm>
            <a:off x="9281159" y="4114800"/>
            <a:ext cx="2194560" cy="1463040"/>
          </a:xfrm>
          <a:prstGeom prst="rect">
            <a:avLst/>
          </a:prstGeom>
          <a:noFill/>
        </p:spPr>
        <p:txBody>
          <a:bodyPr wrap="square">
            <a:spAutoFit/>
          </a:bodyPr>
          <a:lstStyle/>
          <a:p>
            <a:pPr algn="ctr">
              <a:lnSpc>
                <a:spcPts val="1690"/>
              </a:lnSpc>
              <a:spcAft>
                <a:spcPts val="0"/>
              </a:spcAft>
              <a:defRPr sz="1300" b="0">
                <a:solidFill>
                  <a:srgbClr val="424242"/>
                </a:solidFill>
                <a:latin typeface="Calibri"/>
              </a:defRPr>
            </a:pPr>
            <a:r>
              <a:t>Đo lường FPS, độ chính xác</a:t>
            </a:r>
            <a:br/>
            <a:r>
              <a:t>và khả năng truy vết</a:t>
            </a:r>
            <a:br/>
            <a:r>
              <a:t>cảnh báo</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0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37160"/>
            <a:ext cx="10058400" cy="640080"/>
          </a:xfrm>
          <a:prstGeom prst="rect">
            <a:avLst/>
          </a:prstGeom>
          <a:noFill/>
        </p:spPr>
        <p:txBody>
          <a:bodyPr wrap="square">
            <a:spAutoFit/>
          </a:bodyPr>
          <a:lstStyle/>
          <a:p>
            <a:pPr algn="l">
              <a:lnSpc>
                <a:spcPts val="3840"/>
              </a:lnSpc>
              <a:spcAft>
                <a:spcPts val="0"/>
              </a:spcAft>
              <a:defRPr sz="3200" b="1">
                <a:solidFill>
                  <a:srgbClr val="FFFFFF"/>
                </a:solidFill>
                <a:latin typeface="Calibri"/>
              </a:defRPr>
            </a:pPr>
            <a:r>
              <a:t>PHẠM VI NGHIÊN CỨU</a:t>
            </a:r>
          </a:p>
        </p:txBody>
      </p:sp>
      <p:sp>
        <p:nvSpPr>
          <p:cNvPr id="4" name="Rectangle 3"/>
          <p:cNvSpPr/>
          <p:nvPr/>
        </p:nvSpPr>
        <p:spPr>
          <a:xfrm>
            <a:off x="0" y="1097280"/>
            <a:ext cx="12191695" cy="4572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492240"/>
            <a:ext cx="12191695" cy="365760"/>
          </a:xfrm>
          <a:prstGeom prst="rect">
            <a:avLst/>
          </a:prstGeom>
          <a:solidFill>
            <a:srgbClr val="0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10528"/>
            <a:ext cx="10972800" cy="320040"/>
          </a:xfrm>
          <a:prstGeom prst="rect">
            <a:avLst/>
          </a:prstGeom>
          <a:noFill/>
        </p:spPr>
        <p:txBody>
          <a:bodyPr wrap="square">
            <a:spAutoFit/>
          </a:bodyPr>
          <a:lstStyle/>
          <a:p>
            <a:pPr algn="ctr">
              <a:lnSpc>
                <a:spcPts val="1200"/>
              </a:lnSpc>
              <a:spcAft>
                <a:spcPts val="0"/>
              </a:spcAft>
              <a:defRPr sz="1000" b="0">
                <a:solidFill>
                  <a:srgbClr val="BBDEFB"/>
                </a:solidFill>
                <a:latin typeface="Calibri"/>
              </a:defRPr>
            </a:pPr>
            <a:r>
              <a:t>La Đại Lộc | MSSV: 4551050116 | GVHD: TS. Nguyễn Thanh Bình | Trường Đại học Quy Nhơn</a:t>
            </a:r>
          </a:p>
        </p:txBody>
      </p:sp>
      <p:sp>
        <p:nvSpPr>
          <p:cNvPr id="7" name="Rectangle 6"/>
          <p:cNvSpPr/>
          <p:nvPr/>
        </p:nvSpPr>
        <p:spPr>
          <a:xfrm>
            <a:off x="731520" y="1645920"/>
            <a:ext cx="3474720" cy="457200"/>
          </a:xfrm>
          <a:prstGeom prst="rect">
            <a:avLst/>
          </a:prstGeom>
          <a:solidFill>
            <a:srgbClr val="144D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691640"/>
            <a:ext cx="3108960" cy="365760"/>
          </a:xfrm>
          <a:prstGeom prst="rect">
            <a:avLst/>
          </a:prstGeom>
          <a:noFill/>
        </p:spPr>
        <p:txBody>
          <a:bodyPr wrap="square">
            <a:spAutoFit/>
          </a:bodyPr>
          <a:lstStyle/>
          <a:p>
            <a:pPr algn="ctr">
              <a:lnSpc>
                <a:spcPts val="2160"/>
              </a:lnSpc>
              <a:spcAft>
                <a:spcPts val="0"/>
              </a:spcAft>
              <a:defRPr sz="1800" b="1">
                <a:solidFill>
                  <a:srgbClr val="FFFFFF"/>
                </a:solidFill>
                <a:latin typeface="Calibri"/>
              </a:defRPr>
            </a:pPr>
            <a:r>
              <a:t>Hành vi giám sát</a:t>
            </a:r>
          </a:p>
        </p:txBody>
      </p:sp>
      <p:sp>
        <p:nvSpPr>
          <p:cNvPr id="9" name="TextBox 8"/>
          <p:cNvSpPr txBox="1"/>
          <p:nvPr/>
        </p:nvSpPr>
        <p:spPr>
          <a:xfrm>
            <a:off x="1005840" y="2286000"/>
            <a:ext cx="2926080" cy="3657600"/>
          </a:xfrm>
          <a:prstGeom prst="rect">
            <a:avLst/>
          </a:prstGeom>
          <a:noFill/>
        </p:spPr>
        <p:txBody>
          <a:bodyPr wrap="square">
            <a:spAutoFit/>
          </a:bodyPr>
          <a:lstStyle/>
          <a:p>
            <a:pPr algn="l">
              <a:lnSpc>
                <a:spcPts val="2250"/>
              </a:lnSpc>
              <a:spcAft>
                <a:spcPts val="600"/>
              </a:spcAft>
              <a:defRPr sz="1500">
                <a:solidFill>
                  <a:srgbClr val="424242"/>
                </a:solidFill>
                <a:latin typeface="Calibri"/>
              </a:defRPr>
            </a:pPr>
            <a:r>
              <a:t>▸ Sử dụng điện thoại</a:t>
            </a:r>
          </a:p>
          <a:p>
            <a:pPr algn="l">
              <a:lnSpc>
                <a:spcPts val="2250"/>
              </a:lnSpc>
              <a:spcAft>
                <a:spcPts val="600"/>
              </a:spcAft>
              <a:defRPr sz="1500">
                <a:solidFill>
                  <a:srgbClr val="424242"/>
                </a:solidFill>
                <a:latin typeface="Calibri"/>
              </a:defRPr>
            </a:pPr>
            <a:r>
              <a:t>▸ Hút thuốc khi lái xe</a:t>
            </a:r>
          </a:p>
          <a:p>
            <a:pPr algn="l">
              <a:lnSpc>
                <a:spcPts val="2250"/>
              </a:lnSpc>
              <a:spcAft>
                <a:spcPts val="600"/>
              </a:spcAft>
              <a:defRPr sz="1500">
                <a:solidFill>
                  <a:srgbClr val="424242"/>
                </a:solidFill>
                <a:latin typeface="Calibri"/>
              </a:defRPr>
            </a:pPr>
            <a:r>
              <a:t>▸ Không thắt dây an toàn</a:t>
            </a:r>
          </a:p>
        </p:txBody>
      </p:sp>
      <p:sp>
        <p:nvSpPr>
          <p:cNvPr id="10" name="Rectangle 9"/>
          <p:cNvSpPr/>
          <p:nvPr/>
        </p:nvSpPr>
        <p:spPr>
          <a:xfrm>
            <a:off x="4480559" y="1645920"/>
            <a:ext cx="3474720" cy="457200"/>
          </a:xfrm>
          <a:prstGeom prst="rect">
            <a:avLst/>
          </a:prstGeom>
          <a:solidFill>
            <a:srgbClr val="006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63439" y="1691640"/>
            <a:ext cx="3108960" cy="365760"/>
          </a:xfrm>
          <a:prstGeom prst="rect">
            <a:avLst/>
          </a:prstGeom>
          <a:noFill/>
        </p:spPr>
        <p:txBody>
          <a:bodyPr wrap="square">
            <a:spAutoFit/>
          </a:bodyPr>
          <a:lstStyle/>
          <a:p>
            <a:pPr algn="ctr">
              <a:lnSpc>
                <a:spcPts val="2160"/>
              </a:lnSpc>
              <a:spcAft>
                <a:spcPts val="0"/>
              </a:spcAft>
              <a:defRPr sz="1800" b="1">
                <a:solidFill>
                  <a:srgbClr val="FFFFFF"/>
                </a:solidFill>
                <a:latin typeface="Calibri"/>
              </a:defRPr>
            </a:pPr>
            <a:r>
              <a:t>Công nghệ áp dụng</a:t>
            </a:r>
          </a:p>
        </p:txBody>
      </p:sp>
      <p:sp>
        <p:nvSpPr>
          <p:cNvPr id="12" name="TextBox 11"/>
          <p:cNvSpPr txBox="1"/>
          <p:nvPr/>
        </p:nvSpPr>
        <p:spPr>
          <a:xfrm>
            <a:off x="4754879" y="2286000"/>
            <a:ext cx="2926080" cy="3657600"/>
          </a:xfrm>
          <a:prstGeom prst="rect">
            <a:avLst/>
          </a:prstGeom>
          <a:noFill/>
        </p:spPr>
        <p:txBody>
          <a:bodyPr wrap="square">
            <a:spAutoFit/>
          </a:bodyPr>
          <a:lstStyle/>
          <a:p>
            <a:pPr algn="l">
              <a:lnSpc>
                <a:spcPts val="2250"/>
              </a:lnSpc>
              <a:spcAft>
                <a:spcPts val="600"/>
              </a:spcAft>
              <a:defRPr sz="1500">
                <a:solidFill>
                  <a:srgbClr val="424242"/>
                </a:solidFill>
                <a:latin typeface="Calibri"/>
              </a:defRPr>
            </a:pPr>
            <a:r>
              <a:t>▸ YOLO phát hiện đối tượng</a:t>
            </a:r>
          </a:p>
          <a:p>
            <a:pPr algn="l">
              <a:lnSpc>
                <a:spcPts val="2250"/>
              </a:lnSpc>
              <a:spcAft>
                <a:spcPts val="600"/>
              </a:spcAft>
              <a:defRPr sz="1500">
                <a:solidFill>
                  <a:srgbClr val="424242"/>
                </a:solidFill>
                <a:latin typeface="Calibri"/>
              </a:defRPr>
            </a:pPr>
            <a:r>
              <a:t>▸ MediaPipe Pose ước lượng tư thế</a:t>
            </a:r>
          </a:p>
          <a:p>
            <a:pPr algn="l">
              <a:lnSpc>
                <a:spcPts val="2250"/>
              </a:lnSpc>
              <a:spcAft>
                <a:spcPts val="600"/>
              </a:spcAft>
              <a:defRPr sz="1500">
                <a:solidFill>
                  <a:srgbClr val="424242"/>
                </a:solidFill>
                <a:latin typeface="Calibri"/>
              </a:defRPr>
            </a:pPr>
            <a:r>
              <a:t>▸ Behavior Rules Engine suy luận</a:t>
            </a:r>
          </a:p>
          <a:p>
            <a:pPr algn="l">
              <a:lnSpc>
                <a:spcPts val="2250"/>
              </a:lnSpc>
              <a:spcAft>
                <a:spcPts val="600"/>
              </a:spcAft>
              <a:defRPr sz="1500">
                <a:solidFill>
                  <a:srgbClr val="424242"/>
                </a:solidFill>
                <a:latin typeface="Calibri"/>
              </a:defRPr>
            </a:pPr>
            <a:r>
              <a:t>▸ SlowFast xác thực hậu kiểm</a:t>
            </a:r>
          </a:p>
        </p:txBody>
      </p:sp>
      <p:sp>
        <p:nvSpPr>
          <p:cNvPr id="13" name="Rectangle 12"/>
          <p:cNvSpPr/>
          <p:nvPr/>
        </p:nvSpPr>
        <p:spPr>
          <a:xfrm>
            <a:off x="8229599" y="1645920"/>
            <a:ext cx="3474720" cy="457200"/>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12479" y="1691640"/>
            <a:ext cx="3108960" cy="365760"/>
          </a:xfrm>
          <a:prstGeom prst="rect">
            <a:avLst/>
          </a:prstGeom>
          <a:noFill/>
        </p:spPr>
        <p:txBody>
          <a:bodyPr wrap="square">
            <a:spAutoFit/>
          </a:bodyPr>
          <a:lstStyle/>
          <a:p>
            <a:pPr algn="ctr">
              <a:lnSpc>
                <a:spcPts val="2160"/>
              </a:lnSpc>
              <a:spcAft>
                <a:spcPts val="0"/>
              </a:spcAft>
              <a:defRPr sz="1800" b="1">
                <a:solidFill>
                  <a:srgbClr val="FFFFFF"/>
                </a:solidFill>
                <a:latin typeface="Calibri"/>
              </a:defRPr>
            </a:pPr>
            <a:r>
              <a:t>Đánh giá hiệu quả</a:t>
            </a:r>
          </a:p>
        </p:txBody>
      </p:sp>
      <p:sp>
        <p:nvSpPr>
          <p:cNvPr id="15" name="TextBox 14"/>
          <p:cNvSpPr txBox="1"/>
          <p:nvPr/>
        </p:nvSpPr>
        <p:spPr>
          <a:xfrm>
            <a:off x="8503919" y="2286000"/>
            <a:ext cx="2926080" cy="3657600"/>
          </a:xfrm>
          <a:prstGeom prst="rect">
            <a:avLst/>
          </a:prstGeom>
          <a:noFill/>
        </p:spPr>
        <p:txBody>
          <a:bodyPr wrap="square">
            <a:spAutoFit/>
          </a:bodyPr>
          <a:lstStyle/>
          <a:p>
            <a:pPr algn="l">
              <a:lnSpc>
                <a:spcPts val="2250"/>
              </a:lnSpc>
              <a:spcAft>
                <a:spcPts val="600"/>
              </a:spcAft>
              <a:defRPr sz="1500">
                <a:solidFill>
                  <a:srgbClr val="424242"/>
                </a:solidFill>
                <a:latin typeface="Calibri"/>
              </a:defRPr>
            </a:pPr>
            <a:r>
              <a:t>▸ FPS (Frames Per Second)</a:t>
            </a:r>
          </a:p>
          <a:p>
            <a:pPr algn="l">
              <a:lnSpc>
                <a:spcPts val="2250"/>
              </a:lnSpc>
              <a:spcAft>
                <a:spcPts val="600"/>
              </a:spcAft>
              <a:defRPr sz="1500">
                <a:solidFill>
                  <a:srgbClr val="424242"/>
                </a:solidFill>
                <a:latin typeface="Calibri"/>
              </a:defRPr>
            </a:pPr>
            <a:r>
              <a:t>▸ Precision, Recall, F1-Score</a:t>
            </a:r>
          </a:p>
          <a:p>
            <a:pPr algn="l">
              <a:lnSpc>
                <a:spcPts val="2250"/>
              </a:lnSpc>
              <a:spcAft>
                <a:spcPts val="600"/>
              </a:spcAft>
              <a:defRPr sz="1500">
                <a:solidFill>
                  <a:srgbClr val="424242"/>
                </a:solidFill>
                <a:latin typeface="Calibri"/>
              </a:defRPr>
            </a:pPr>
            <a:r>
              <a:t>▸ mAP50, mAP50-95</a:t>
            </a:r>
          </a:p>
          <a:p>
            <a:pPr algn="l">
              <a:lnSpc>
                <a:spcPts val="2250"/>
              </a:lnSpc>
              <a:spcAft>
                <a:spcPts val="600"/>
              </a:spcAft>
              <a:defRPr sz="1500">
                <a:solidFill>
                  <a:srgbClr val="424242"/>
                </a:solidFill>
                <a:latin typeface="Calibri"/>
              </a:defRPr>
            </a:pPr>
            <a:r>
              <a:t>▸ Khả năng truy vết bằng chứng</a:t>
            </a:r>
          </a:p>
        </p:txBody>
      </p:sp>
      <p:sp>
        <p:nvSpPr>
          <p:cNvPr id="16" name="TextBox 15"/>
          <p:cNvSpPr txBox="1"/>
          <p:nvPr/>
        </p:nvSpPr>
        <p:spPr>
          <a:xfrm>
            <a:off x="731520" y="5303520"/>
            <a:ext cx="10515600" cy="731520"/>
          </a:xfrm>
          <a:prstGeom prst="rect">
            <a:avLst/>
          </a:prstGeom>
          <a:noFill/>
        </p:spPr>
        <p:txBody>
          <a:bodyPr wrap="square">
            <a:spAutoFit/>
          </a:bodyPr>
          <a:lstStyle/>
          <a:p>
            <a:pPr algn="ctr">
              <a:lnSpc>
                <a:spcPts val="1800"/>
              </a:lnSpc>
              <a:spcAft>
                <a:spcPts val="0"/>
              </a:spcAft>
              <a:defRPr sz="1500" b="1">
                <a:solidFill>
                  <a:srgbClr val="0A2E5C"/>
                </a:solidFill>
                <a:latin typeface="Calibri"/>
              </a:defRPr>
            </a:pPr>
            <a:r>
              <a:t>▸ Kiến trúc: Hybrid Edge–Cloud  |  ▸ Xử lý video/camera trong khoang lái  |  ▸ Triển khai nguyên mẫu thử nghiệm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0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37160"/>
            <a:ext cx="10058400" cy="640080"/>
          </a:xfrm>
          <a:prstGeom prst="rect">
            <a:avLst/>
          </a:prstGeom>
          <a:noFill/>
        </p:spPr>
        <p:txBody>
          <a:bodyPr wrap="square">
            <a:spAutoFit/>
          </a:bodyPr>
          <a:lstStyle/>
          <a:p>
            <a:pPr algn="l">
              <a:lnSpc>
                <a:spcPts val="3840"/>
              </a:lnSpc>
              <a:spcAft>
                <a:spcPts val="0"/>
              </a:spcAft>
              <a:defRPr sz="3200" b="1">
                <a:solidFill>
                  <a:srgbClr val="FFFFFF"/>
                </a:solidFill>
                <a:latin typeface="Calibri"/>
              </a:defRPr>
            </a:pPr>
            <a:r>
              <a:t>TỔNG QUAN KIẾN TRÚC HYBRID EDGE–CLOUD</a:t>
            </a:r>
          </a:p>
        </p:txBody>
      </p:sp>
      <p:sp>
        <p:nvSpPr>
          <p:cNvPr id="4" name="TextBox 3"/>
          <p:cNvSpPr txBox="1"/>
          <p:nvPr/>
        </p:nvSpPr>
        <p:spPr>
          <a:xfrm>
            <a:off x="731520" y="685800"/>
            <a:ext cx="10058400" cy="365760"/>
          </a:xfrm>
          <a:prstGeom prst="rect">
            <a:avLst/>
          </a:prstGeom>
          <a:noFill/>
        </p:spPr>
        <p:txBody>
          <a:bodyPr wrap="square">
            <a:spAutoFit/>
          </a:bodyPr>
          <a:lstStyle/>
          <a:p>
            <a:pPr algn="l">
              <a:lnSpc>
                <a:spcPts val="1920"/>
              </a:lnSpc>
              <a:spcAft>
                <a:spcPts val="0"/>
              </a:spcAft>
              <a:defRPr sz="1600" b="0">
                <a:solidFill>
                  <a:srgbClr val="42A5F5"/>
                </a:solidFill>
                <a:latin typeface="Calibri"/>
              </a:defRPr>
            </a:pPr>
            <a:r>
              <a:t>Chương 1: Mô hình hệ thống tổng thể</a:t>
            </a:r>
          </a:p>
        </p:txBody>
      </p:sp>
      <p:sp>
        <p:nvSpPr>
          <p:cNvPr id="5" name="Rectangle 4"/>
          <p:cNvSpPr/>
          <p:nvPr/>
        </p:nvSpPr>
        <p:spPr>
          <a:xfrm>
            <a:off x="0" y="1097280"/>
            <a:ext cx="12191695" cy="4572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492240"/>
            <a:ext cx="12191695" cy="365760"/>
          </a:xfrm>
          <a:prstGeom prst="rect">
            <a:avLst/>
          </a:prstGeom>
          <a:solidFill>
            <a:srgbClr val="0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10528"/>
            <a:ext cx="10972800" cy="320040"/>
          </a:xfrm>
          <a:prstGeom prst="rect">
            <a:avLst/>
          </a:prstGeom>
          <a:noFill/>
        </p:spPr>
        <p:txBody>
          <a:bodyPr wrap="square">
            <a:spAutoFit/>
          </a:bodyPr>
          <a:lstStyle/>
          <a:p>
            <a:pPr algn="ctr">
              <a:lnSpc>
                <a:spcPts val="1200"/>
              </a:lnSpc>
              <a:spcAft>
                <a:spcPts val="0"/>
              </a:spcAft>
              <a:defRPr sz="1000" b="0">
                <a:solidFill>
                  <a:srgbClr val="BBDEFB"/>
                </a:solidFill>
                <a:latin typeface="Calibri"/>
              </a:defRPr>
            </a:pPr>
            <a:r>
              <a:t>La Đại Lộc | MSSV: 4551050116 | GVHD: TS. Nguyễn Thanh Bình | Trường Đại học Quy Nhơn</a:t>
            </a:r>
          </a:p>
        </p:txBody>
      </p:sp>
      <p:sp>
        <p:nvSpPr>
          <p:cNvPr id="8" name="Rounded Rectangle 7"/>
          <p:cNvSpPr/>
          <p:nvPr/>
        </p:nvSpPr>
        <p:spPr>
          <a:xfrm>
            <a:off x="731520" y="1645920"/>
            <a:ext cx="5029200" cy="4389120"/>
          </a:xfrm>
          <a:prstGeom prst="roundRect">
            <a:avLst/>
          </a:prstGeom>
          <a:solidFill>
            <a:srgbClr val="E3F2FD"/>
          </a:solidFill>
          <a:ln>
            <a:solidFill>
              <a:srgbClr val="144D8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1737360"/>
            <a:ext cx="5029200" cy="457200"/>
          </a:xfrm>
          <a:prstGeom prst="rect">
            <a:avLst/>
          </a:prstGeom>
          <a:noFill/>
        </p:spPr>
        <p:txBody>
          <a:bodyPr wrap="square">
            <a:spAutoFit/>
          </a:bodyPr>
          <a:lstStyle/>
          <a:p>
            <a:pPr algn="ctr">
              <a:lnSpc>
                <a:spcPts val="2160"/>
              </a:lnSpc>
              <a:spcAft>
                <a:spcPts val="0"/>
              </a:spcAft>
              <a:defRPr sz="1800" b="1">
                <a:solidFill>
                  <a:srgbClr val="144D8D"/>
                </a:solidFill>
                <a:latin typeface="Calibri"/>
              </a:defRPr>
            </a:pPr>
            <a:r>
              <a:t>⚙️  EDGE NODE (Thiết bị biên)</a:t>
            </a:r>
          </a:p>
        </p:txBody>
      </p:sp>
      <p:sp>
        <p:nvSpPr>
          <p:cNvPr id="10" name="TextBox 9"/>
          <p:cNvSpPr txBox="1"/>
          <p:nvPr/>
        </p:nvSpPr>
        <p:spPr>
          <a:xfrm>
            <a:off x="1097280" y="2377440"/>
            <a:ext cx="4389120" cy="3200400"/>
          </a:xfrm>
          <a:prstGeom prst="rect">
            <a:avLst/>
          </a:prstGeom>
          <a:noFill/>
        </p:spPr>
        <p:txBody>
          <a:bodyPr wrap="square">
            <a:spAutoFit/>
          </a:bodyPr>
          <a:lstStyle/>
          <a:p>
            <a:pPr algn="l">
              <a:lnSpc>
                <a:spcPts val="2100"/>
              </a:lnSpc>
              <a:spcAft>
                <a:spcPts val="600"/>
              </a:spcAft>
              <a:defRPr sz="1400">
                <a:solidFill>
                  <a:srgbClr val="424242"/>
                </a:solidFill>
                <a:latin typeface="Calibri"/>
              </a:defRPr>
            </a:pPr>
            <a:r>
              <a:t>▸ Xử lý video tại chỗ trên NVIDIA Jetson</a:t>
            </a:r>
          </a:p>
          <a:p>
            <a:pPr algn="l">
              <a:lnSpc>
                <a:spcPts val="2100"/>
              </a:lnSpc>
              <a:spcAft>
                <a:spcPts val="600"/>
              </a:spcAft>
              <a:defRPr sz="1400">
                <a:solidFill>
                  <a:srgbClr val="424242"/>
                </a:solidFill>
                <a:latin typeface="Calibri"/>
              </a:defRPr>
            </a:pPr>
            <a:r>
              <a:t>▸ YOLO + MediaPipe Pose suy luận thời gian thực</a:t>
            </a:r>
          </a:p>
          <a:p>
            <a:pPr algn="l">
              <a:lnSpc>
                <a:spcPts val="2100"/>
              </a:lnSpc>
              <a:spcAft>
                <a:spcPts val="600"/>
              </a:spcAft>
              <a:defRPr sz="1400">
                <a:solidFill>
                  <a:srgbClr val="424242"/>
                </a:solidFill>
                <a:latin typeface="Calibri"/>
              </a:defRPr>
            </a:pPr>
            <a:r>
              <a:t>▸ Behavior Rules Engine đánh giá hành vi</a:t>
            </a:r>
          </a:p>
          <a:p>
            <a:pPr algn="l">
              <a:lnSpc>
                <a:spcPts val="2100"/>
              </a:lnSpc>
              <a:spcAft>
                <a:spcPts val="600"/>
              </a:spcAft>
              <a:defRPr sz="1400">
                <a:solidFill>
                  <a:srgbClr val="424242"/>
                </a:solidFill>
                <a:latin typeface="Calibri"/>
              </a:defRPr>
            </a:pPr>
            <a:r>
              <a:t>▸ Cảnh báo cục bộ cho tài xế</a:t>
            </a:r>
          </a:p>
          <a:p>
            <a:pPr algn="l">
              <a:lnSpc>
                <a:spcPts val="2100"/>
              </a:lnSpc>
              <a:spcAft>
                <a:spcPts val="600"/>
              </a:spcAft>
              <a:defRPr sz="1400">
                <a:solidFill>
                  <a:srgbClr val="424242"/>
                </a:solidFill>
                <a:latin typeface="Calibri"/>
              </a:defRPr>
            </a:pPr>
            <a:r>
              <a:t>▸ Gửi metadata + bằng chứng lên Cloud</a:t>
            </a:r>
          </a:p>
        </p:txBody>
      </p:sp>
      <p:sp>
        <p:nvSpPr>
          <p:cNvPr id="11" name="Right Arrow 10"/>
          <p:cNvSpPr/>
          <p:nvPr/>
        </p:nvSpPr>
        <p:spPr>
          <a:xfrm>
            <a:off x="5943600" y="3200400"/>
            <a:ext cx="731520" cy="457200"/>
          </a:xfrm>
          <a:prstGeom prst="rightArrow">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760720" y="3749039"/>
            <a:ext cx="1097280" cy="365760"/>
          </a:xfrm>
          <a:prstGeom prst="rect">
            <a:avLst/>
          </a:prstGeom>
          <a:noFill/>
        </p:spPr>
        <p:txBody>
          <a:bodyPr wrap="square">
            <a:spAutoFit/>
          </a:bodyPr>
          <a:lstStyle/>
          <a:p>
            <a:pPr algn="ctr">
              <a:lnSpc>
                <a:spcPts val="1320"/>
              </a:lnSpc>
              <a:spcAft>
                <a:spcPts val="0"/>
              </a:spcAft>
              <a:defRPr sz="1100" b="0">
                <a:solidFill>
                  <a:srgbClr val="0A2E5C"/>
                </a:solidFill>
                <a:latin typeface="Calibri"/>
              </a:defRPr>
            </a:pPr>
            <a:r>
              <a:t>HTTP API</a:t>
            </a:r>
          </a:p>
        </p:txBody>
      </p:sp>
      <p:sp>
        <p:nvSpPr>
          <p:cNvPr id="13" name="Rounded Rectangle 12"/>
          <p:cNvSpPr/>
          <p:nvPr/>
        </p:nvSpPr>
        <p:spPr>
          <a:xfrm>
            <a:off x="6858000" y="1645920"/>
            <a:ext cx="4754880" cy="4389120"/>
          </a:xfrm>
          <a:prstGeom prst="roundRect">
            <a:avLst/>
          </a:prstGeom>
          <a:solidFill>
            <a:srgbClr val="E8F5E9"/>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58000" y="1737360"/>
            <a:ext cx="4754880" cy="457200"/>
          </a:xfrm>
          <a:prstGeom prst="rect">
            <a:avLst/>
          </a:prstGeom>
          <a:noFill/>
        </p:spPr>
        <p:txBody>
          <a:bodyPr wrap="square">
            <a:spAutoFit/>
          </a:bodyPr>
          <a:lstStyle/>
          <a:p>
            <a:pPr algn="ctr">
              <a:lnSpc>
                <a:spcPts val="2160"/>
              </a:lnSpc>
              <a:spcAft>
                <a:spcPts val="0"/>
              </a:spcAft>
              <a:defRPr sz="1800" b="1">
                <a:solidFill>
                  <a:srgbClr val="2E7D32"/>
                </a:solidFill>
                <a:latin typeface="Calibri"/>
              </a:defRPr>
            </a:pPr>
            <a:r>
              <a:t>☁️  CLOUD NODE (Đám mây)</a:t>
            </a:r>
          </a:p>
        </p:txBody>
      </p:sp>
      <p:sp>
        <p:nvSpPr>
          <p:cNvPr id="15" name="TextBox 14"/>
          <p:cNvSpPr txBox="1"/>
          <p:nvPr/>
        </p:nvSpPr>
        <p:spPr>
          <a:xfrm>
            <a:off x="7223760" y="2377440"/>
            <a:ext cx="4023360" cy="3200400"/>
          </a:xfrm>
          <a:prstGeom prst="rect">
            <a:avLst/>
          </a:prstGeom>
          <a:noFill/>
        </p:spPr>
        <p:txBody>
          <a:bodyPr wrap="square">
            <a:spAutoFit/>
          </a:bodyPr>
          <a:lstStyle/>
          <a:p>
            <a:pPr algn="l">
              <a:lnSpc>
                <a:spcPts val="2100"/>
              </a:lnSpc>
              <a:spcAft>
                <a:spcPts val="600"/>
              </a:spcAft>
              <a:defRPr sz="1400">
                <a:solidFill>
                  <a:srgbClr val="424242"/>
                </a:solidFill>
                <a:latin typeface="Calibri"/>
              </a:defRPr>
            </a:pPr>
            <a:r>
              <a:t>▸ FastAPI tiếp nhận dữ liệu từ Edge</a:t>
            </a:r>
          </a:p>
          <a:p>
            <a:pPr algn="l">
              <a:lnSpc>
                <a:spcPts val="2100"/>
              </a:lnSpc>
              <a:spcAft>
                <a:spcPts val="600"/>
              </a:spcAft>
              <a:defRPr sz="1400">
                <a:solidFill>
                  <a:srgbClr val="424242"/>
                </a:solidFill>
                <a:latin typeface="Calibri"/>
              </a:defRPr>
            </a:pPr>
            <a:r>
              <a:t>▸ Lưu metadata vào SQLite</a:t>
            </a:r>
          </a:p>
          <a:p>
            <a:pPr algn="l">
              <a:lnSpc>
                <a:spcPts val="2100"/>
              </a:lnSpc>
              <a:spcAft>
                <a:spcPts val="600"/>
              </a:spcAft>
              <a:defRPr sz="1400">
                <a:solidFill>
                  <a:srgbClr val="424242"/>
                </a:solidFill>
                <a:latin typeface="Calibri"/>
              </a:defRPr>
            </a:pPr>
            <a:r>
              <a:t>▸ Lưu bằng chứng hình ảnh/video</a:t>
            </a:r>
          </a:p>
          <a:p>
            <a:pPr algn="l">
              <a:lnSpc>
                <a:spcPts val="2100"/>
              </a:lnSpc>
              <a:spcAft>
                <a:spcPts val="600"/>
              </a:spcAft>
              <a:defRPr sz="1400">
                <a:solidFill>
                  <a:srgbClr val="424242"/>
                </a:solidFill>
                <a:latin typeface="Calibri"/>
              </a:defRPr>
            </a:pPr>
            <a:r>
              <a:t>▸ SlowFast xác thực hậu kiểm</a:t>
            </a:r>
          </a:p>
          <a:p>
            <a:pPr algn="l">
              <a:lnSpc>
                <a:spcPts val="2100"/>
              </a:lnSpc>
              <a:spcAft>
                <a:spcPts val="600"/>
              </a:spcAft>
              <a:defRPr sz="1400">
                <a:solidFill>
                  <a:srgbClr val="424242"/>
                </a:solidFill>
                <a:latin typeface="Calibri"/>
              </a:defRPr>
            </a:pPr>
            <a:r>
              <a:t>▸ Dashboard giám sát tập trung</a:t>
            </a:r>
          </a:p>
        </p:txBody>
      </p:sp>
      <p:sp>
        <p:nvSpPr>
          <p:cNvPr id="16" name="Rounded Rectangle 15"/>
          <p:cNvSpPr/>
          <p:nvPr/>
        </p:nvSpPr>
        <p:spPr>
          <a:xfrm>
            <a:off x="1828800" y="5486400"/>
            <a:ext cx="8229600" cy="640080"/>
          </a:xfrm>
          <a:prstGeom prst="roundRect">
            <a:avLst/>
          </a:prstGeom>
          <a:solidFill>
            <a:srgbClr val="FFF3E0"/>
          </a:solidFill>
          <a:ln>
            <a:solidFill>
              <a:srgbClr val="FF6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103120" y="5577840"/>
            <a:ext cx="7772400" cy="457200"/>
          </a:xfrm>
          <a:prstGeom prst="rect">
            <a:avLst/>
          </a:prstGeom>
          <a:noFill/>
        </p:spPr>
        <p:txBody>
          <a:bodyPr wrap="square">
            <a:spAutoFit/>
          </a:bodyPr>
          <a:lstStyle/>
          <a:p>
            <a:pPr algn="ctr">
              <a:lnSpc>
                <a:spcPts val="1800"/>
              </a:lnSpc>
              <a:spcAft>
                <a:spcPts val="0"/>
              </a:spcAft>
              <a:defRPr sz="1500" b="1">
                <a:solidFill>
                  <a:srgbClr val="FF6F00"/>
                </a:solidFill>
                <a:latin typeface="Calibri"/>
              </a:defRPr>
            </a:pPr>
            <a:r>
              <a:t>Nguyên tắc: "Xử lý chiến thuật tại Biên – Quản lý chiến lược trên Đám mây"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0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37160"/>
            <a:ext cx="10058400" cy="640080"/>
          </a:xfrm>
          <a:prstGeom prst="rect">
            <a:avLst/>
          </a:prstGeom>
          <a:noFill/>
        </p:spPr>
        <p:txBody>
          <a:bodyPr wrap="square">
            <a:spAutoFit/>
          </a:bodyPr>
          <a:lstStyle/>
          <a:p>
            <a:pPr algn="l">
              <a:lnSpc>
                <a:spcPts val="3840"/>
              </a:lnSpc>
              <a:spcAft>
                <a:spcPts val="0"/>
              </a:spcAft>
              <a:defRPr sz="3200" b="1">
                <a:solidFill>
                  <a:srgbClr val="FFFFFF"/>
                </a:solidFill>
                <a:latin typeface="Calibri"/>
              </a:defRPr>
            </a:pPr>
            <a:r>
              <a:t>SO SÁNH EDGE AI VÀ CLOUD AI</a:t>
            </a:r>
          </a:p>
        </p:txBody>
      </p:sp>
      <p:sp>
        <p:nvSpPr>
          <p:cNvPr id="4" name="TextBox 3"/>
          <p:cNvSpPr txBox="1"/>
          <p:nvPr/>
        </p:nvSpPr>
        <p:spPr>
          <a:xfrm>
            <a:off x="731520" y="685800"/>
            <a:ext cx="10058400" cy="365760"/>
          </a:xfrm>
          <a:prstGeom prst="rect">
            <a:avLst/>
          </a:prstGeom>
          <a:noFill/>
        </p:spPr>
        <p:txBody>
          <a:bodyPr wrap="square">
            <a:spAutoFit/>
          </a:bodyPr>
          <a:lstStyle/>
          <a:p>
            <a:pPr algn="l">
              <a:lnSpc>
                <a:spcPts val="1920"/>
              </a:lnSpc>
              <a:spcAft>
                <a:spcPts val="0"/>
              </a:spcAft>
              <a:defRPr sz="1600" b="0">
                <a:solidFill>
                  <a:srgbClr val="42A5F5"/>
                </a:solidFill>
                <a:latin typeface="Calibri"/>
              </a:defRPr>
            </a:pPr>
            <a:r>
              <a:t>Bảng 1.1 trong báo cáo</a:t>
            </a:r>
          </a:p>
        </p:txBody>
      </p:sp>
      <p:sp>
        <p:nvSpPr>
          <p:cNvPr id="5" name="Rectangle 4"/>
          <p:cNvSpPr/>
          <p:nvPr/>
        </p:nvSpPr>
        <p:spPr>
          <a:xfrm>
            <a:off x="0" y="1097280"/>
            <a:ext cx="12191695" cy="4572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492240"/>
            <a:ext cx="12191695" cy="365760"/>
          </a:xfrm>
          <a:prstGeom prst="rect">
            <a:avLst/>
          </a:prstGeom>
          <a:solidFill>
            <a:srgbClr val="0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10528"/>
            <a:ext cx="10972800" cy="320040"/>
          </a:xfrm>
          <a:prstGeom prst="rect">
            <a:avLst/>
          </a:prstGeom>
          <a:noFill/>
        </p:spPr>
        <p:txBody>
          <a:bodyPr wrap="square">
            <a:spAutoFit/>
          </a:bodyPr>
          <a:lstStyle/>
          <a:p>
            <a:pPr algn="ctr">
              <a:lnSpc>
                <a:spcPts val="1200"/>
              </a:lnSpc>
              <a:spcAft>
                <a:spcPts val="0"/>
              </a:spcAft>
              <a:defRPr sz="1000" b="0">
                <a:solidFill>
                  <a:srgbClr val="BBDEFB"/>
                </a:solidFill>
                <a:latin typeface="Calibri"/>
              </a:defRPr>
            </a:pPr>
            <a:r>
              <a:t>La Đại Lộc | MSSV: 4551050116 | GVHD: TS. Nguyễn Thanh Bình | Trường Đại học Quy Nhơn</a:t>
            </a:r>
          </a:p>
        </p:txBody>
      </p:sp>
      <p:graphicFrame>
        <p:nvGraphicFramePr>
          <p:cNvPr id="8" name="Table 7"/>
          <p:cNvGraphicFramePr>
            <a:graphicFrameLocks noGrp="1"/>
          </p:cNvGraphicFramePr>
          <p:nvPr/>
        </p:nvGraphicFramePr>
        <p:xfrm>
          <a:off x="731520" y="1463040"/>
          <a:ext cx="10515600" cy="411480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587828">
                <a:tc>
                  <a:txBody>
                    <a:bodyPr/>
                    <a:lstStyle/>
                    <a:p>
                      <a:pPr algn="ctr">
                        <a:defRPr sz="1200" b="1">
                          <a:solidFill>
                            <a:srgbClr val="FFFFFF"/>
                          </a:solidFill>
                          <a:latin typeface="Calibri"/>
                        </a:defRPr>
                      </a:pPr>
                      <a:r>
                        <a:t>Tiêu chí</a:t>
                      </a:r>
                    </a:p>
                  </a:txBody>
                  <a:tcPr>
                    <a:solidFill>
                      <a:srgbClr val="0A2E5C"/>
                    </a:solidFill>
                  </a:tcPr>
                </a:tc>
                <a:tc>
                  <a:txBody>
                    <a:bodyPr/>
                    <a:lstStyle/>
                    <a:p>
                      <a:pPr algn="ctr">
                        <a:defRPr sz="1200" b="1">
                          <a:solidFill>
                            <a:srgbClr val="FFFFFF"/>
                          </a:solidFill>
                          <a:latin typeface="Calibri"/>
                        </a:defRPr>
                      </a:pPr>
                      <a:r>
                        <a:t>Edge AI</a:t>
                      </a:r>
                    </a:p>
                  </a:txBody>
                  <a:tcPr>
                    <a:solidFill>
                      <a:srgbClr val="0A2E5C"/>
                    </a:solidFill>
                  </a:tcPr>
                </a:tc>
                <a:tc>
                  <a:txBody>
                    <a:bodyPr/>
                    <a:lstStyle/>
                    <a:p>
                      <a:pPr algn="ctr">
                        <a:defRPr sz="1200" b="1">
                          <a:solidFill>
                            <a:srgbClr val="FFFFFF"/>
                          </a:solidFill>
                          <a:latin typeface="Calibri"/>
                        </a:defRPr>
                      </a:pPr>
                      <a:r>
                        <a:t>Cloud AI</a:t>
                      </a:r>
                    </a:p>
                  </a:txBody>
                  <a:tcPr>
                    <a:solidFill>
                      <a:srgbClr val="0A2E5C"/>
                    </a:solidFill>
                  </a:tcPr>
                </a:tc>
                <a:extLst>
                  <a:ext uri="{0D108BD9-81ED-4DB2-BD59-A6C34878D82A}">
                    <a16:rowId xmlns:a16="http://schemas.microsoft.com/office/drawing/2014/main" val="10000"/>
                  </a:ext>
                </a:extLst>
              </a:tr>
              <a:tr h="587828">
                <a:tc>
                  <a:txBody>
                    <a:bodyPr/>
                    <a:lstStyle/>
                    <a:p>
                      <a:pPr algn="ctr">
                        <a:defRPr sz="1200">
                          <a:solidFill>
                            <a:srgbClr val="424242"/>
                          </a:solidFill>
                          <a:latin typeface="Calibri"/>
                        </a:defRPr>
                      </a:pPr>
                      <a:r>
                        <a:t>Độ trễ</a:t>
                      </a:r>
                    </a:p>
                  </a:txBody>
                  <a:tcPr>
                    <a:solidFill>
                      <a:srgbClr val="FFFFFF"/>
                    </a:solidFill>
                  </a:tcPr>
                </a:tc>
                <a:tc>
                  <a:txBody>
                    <a:bodyPr/>
                    <a:lstStyle/>
                    <a:p>
                      <a:pPr algn="ctr">
                        <a:defRPr sz="1200">
                          <a:solidFill>
                            <a:srgbClr val="424242"/>
                          </a:solidFill>
                          <a:latin typeface="Calibri"/>
                        </a:defRPr>
                      </a:pPr>
                      <a:r>
                        <a:t>&lt; 50ms (xử lý tại chỗ)</a:t>
                      </a:r>
                    </a:p>
                  </a:txBody>
                  <a:tcPr>
                    <a:solidFill>
                      <a:srgbClr val="FFFFFF"/>
                    </a:solidFill>
                  </a:tcPr>
                </a:tc>
                <a:tc>
                  <a:txBody>
                    <a:bodyPr/>
                    <a:lstStyle/>
                    <a:p>
                      <a:pPr algn="ctr">
                        <a:defRPr sz="1200">
                          <a:solidFill>
                            <a:srgbClr val="424242"/>
                          </a:solidFill>
                          <a:latin typeface="Calibri"/>
                        </a:defRPr>
                      </a:pPr>
                      <a:r>
                        <a:t>200-500ms+ (phụ thuộc mạng)</a:t>
                      </a:r>
                    </a:p>
                  </a:txBody>
                  <a:tcPr>
                    <a:solidFill>
                      <a:srgbClr val="FFFFFF"/>
                    </a:solidFill>
                  </a:tcPr>
                </a:tc>
                <a:extLst>
                  <a:ext uri="{0D108BD9-81ED-4DB2-BD59-A6C34878D82A}">
                    <a16:rowId xmlns:a16="http://schemas.microsoft.com/office/drawing/2014/main" val="10001"/>
                  </a:ext>
                </a:extLst>
              </a:tr>
              <a:tr h="587828">
                <a:tc>
                  <a:txBody>
                    <a:bodyPr/>
                    <a:lstStyle/>
                    <a:p>
                      <a:pPr algn="ctr">
                        <a:defRPr sz="1200">
                          <a:solidFill>
                            <a:srgbClr val="424242"/>
                          </a:solidFill>
                          <a:latin typeface="Calibri"/>
                        </a:defRPr>
                      </a:pPr>
                      <a:r>
                        <a:t>Băng thông</a:t>
                      </a:r>
                    </a:p>
                  </a:txBody>
                  <a:tcPr>
                    <a:solidFill>
                      <a:srgbClr val="E3F2FD"/>
                    </a:solidFill>
                  </a:tcPr>
                </a:tc>
                <a:tc>
                  <a:txBody>
                    <a:bodyPr/>
                    <a:lstStyle/>
                    <a:p>
                      <a:pPr algn="ctr">
                        <a:defRPr sz="1200">
                          <a:solidFill>
                            <a:srgbClr val="424242"/>
                          </a:solidFill>
                          <a:latin typeface="Calibri"/>
                        </a:defRPr>
                      </a:pPr>
                      <a:r>
                        <a:t>Thấp (chỉ gửi metadata)</a:t>
                      </a:r>
                    </a:p>
                  </a:txBody>
                  <a:tcPr>
                    <a:solidFill>
                      <a:srgbClr val="E3F2FD"/>
                    </a:solidFill>
                  </a:tcPr>
                </a:tc>
                <a:tc>
                  <a:txBody>
                    <a:bodyPr/>
                    <a:lstStyle/>
                    <a:p>
                      <a:pPr algn="ctr">
                        <a:defRPr sz="1200">
                          <a:solidFill>
                            <a:srgbClr val="424242"/>
                          </a:solidFill>
                          <a:latin typeface="Calibri"/>
                        </a:defRPr>
                      </a:pPr>
                      <a:r>
                        <a:t>Cao (truyền video thô)</a:t>
                      </a:r>
                    </a:p>
                  </a:txBody>
                  <a:tcPr>
                    <a:solidFill>
                      <a:srgbClr val="E3F2FD"/>
                    </a:solidFill>
                  </a:tcPr>
                </a:tc>
                <a:extLst>
                  <a:ext uri="{0D108BD9-81ED-4DB2-BD59-A6C34878D82A}">
                    <a16:rowId xmlns:a16="http://schemas.microsoft.com/office/drawing/2014/main" val="10002"/>
                  </a:ext>
                </a:extLst>
              </a:tr>
              <a:tr h="587828">
                <a:tc>
                  <a:txBody>
                    <a:bodyPr/>
                    <a:lstStyle/>
                    <a:p>
                      <a:pPr algn="ctr">
                        <a:defRPr sz="1200">
                          <a:solidFill>
                            <a:srgbClr val="424242"/>
                          </a:solidFill>
                          <a:latin typeface="Calibri"/>
                        </a:defRPr>
                      </a:pPr>
                      <a:r>
                        <a:t>Bảo mật</a:t>
                      </a:r>
                    </a:p>
                  </a:txBody>
                  <a:tcPr>
                    <a:solidFill>
                      <a:srgbClr val="FFFFFF"/>
                    </a:solidFill>
                  </a:tcPr>
                </a:tc>
                <a:tc>
                  <a:txBody>
                    <a:bodyPr/>
                    <a:lstStyle/>
                    <a:p>
                      <a:pPr algn="ctr">
                        <a:defRPr sz="1200">
                          <a:solidFill>
                            <a:srgbClr val="424242"/>
                          </a:solidFill>
                          <a:latin typeface="Calibri"/>
                        </a:defRPr>
                      </a:pPr>
                      <a:r>
                        <a:t>Dữ liệu tại thiết bị</a:t>
                      </a:r>
                    </a:p>
                  </a:txBody>
                  <a:tcPr>
                    <a:solidFill>
                      <a:srgbClr val="FFFFFF"/>
                    </a:solidFill>
                  </a:tcPr>
                </a:tc>
                <a:tc>
                  <a:txBody>
                    <a:bodyPr/>
                    <a:lstStyle/>
                    <a:p>
                      <a:pPr algn="ctr">
                        <a:defRPr sz="1200">
                          <a:solidFill>
                            <a:srgbClr val="424242"/>
                          </a:solidFill>
                          <a:latin typeface="Calibri"/>
                        </a:defRPr>
                      </a:pPr>
                      <a:r>
                        <a:t>Dữ liệu trên server (rủi ro)</a:t>
                      </a:r>
                    </a:p>
                  </a:txBody>
                  <a:tcPr>
                    <a:solidFill>
                      <a:srgbClr val="FFFFFF"/>
                    </a:solidFill>
                  </a:tcPr>
                </a:tc>
                <a:extLst>
                  <a:ext uri="{0D108BD9-81ED-4DB2-BD59-A6C34878D82A}">
                    <a16:rowId xmlns:a16="http://schemas.microsoft.com/office/drawing/2014/main" val="10003"/>
                  </a:ext>
                </a:extLst>
              </a:tr>
              <a:tr h="587828">
                <a:tc>
                  <a:txBody>
                    <a:bodyPr/>
                    <a:lstStyle/>
                    <a:p>
                      <a:pPr algn="ctr">
                        <a:defRPr sz="1200">
                          <a:solidFill>
                            <a:srgbClr val="424242"/>
                          </a:solidFill>
                          <a:latin typeface="Calibri"/>
                        </a:defRPr>
                      </a:pPr>
                      <a:r>
                        <a:t>Ngoại tuyến</a:t>
                      </a:r>
                    </a:p>
                  </a:txBody>
                  <a:tcPr>
                    <a:solidFill>
                      <a:srgbClr val="E3F2FD"/>
                    </a:solidFill>
                  </a:tcPr>
                </a:tc>
                <a:tc>
                  <a:txBody>
                    <a:bodyPr/>
                    <a:lstStyle/>
                    <a:p>
                      <a:pPr algn="ctr">
                        <a:defRPr sz="1200">
                          <a:solidFill>
                            <a:srgbClr val="424242"/>
                          </a:solidFill>
                          <a:latin typeface="Calibri"/>
                        </a:defRPr>
                      </a:pPr>
                      <a:r>
                        <a:t>Có (không cần mạng)</a:t>
                      </a:r>
                    </a:p>
                  </a:txBody>
                  <a:tcPr>
                    <a:solidFill>
                      <a:srgbClr val="E3F2FD"/>
                    </a:solidFill>
                  </a:tcPr>
                </a:tc>
                <a:tc>
                  <a:txBody>
                    <a:bodyPr/>
                    <a:lstStyle/>
                    <a:p>
                      <a:pPr algn="ctr">
                        <a:defRPr sz="1200">
                          <a:solidFill>
                            <a:srgbClr val="424242"/>
                          </a:solidFill>
                          <a:latin typeface="Calibri"/>
                        </a:defRPr>
                      </a:pPr>
                      <a:r>
                        <a:t>Không (phụ thuộc kết nối)</a:t>
                      </a:r>
                    </a:p>
                  </a:txBody>
                  <a:tcPr>
                    <a:solidFill>
                      <a:srgbClr val="E3F2FD"/>
                    </a:solidFill>
                  </a:tcPr>
                </a:tc>
                <a:extLst>
                  <a:ext uri="{0D108BD9-81ED-4DB2-BD59-A6C34878D82A}">
                    <a16:rowId xmlns:a16="http://schemas.microsoft.com/office/drawing/2014/main" val="10004"/>
                  </a:ext>
                </a:extLst>
              </a:tr>
              <a:tr h="587828">
                <a:tc>
                  <a:txBody>
                    <a:bodyPr/>
                    <a:lstStyle/>
                    <a:p>
                      <a:pPr algn="ctr">
                        <a:defRPr sz="1200">
                          <a:solidFill>
                            <a:srgbClr val="424242"/>
                          </a:solidFill>
                          <a:latin typeface="Calibri"/>
                        </a:defRPr>
                      </a:pPr>
                      <a:r>
                        <a:t>Chi phí</a:t>
                      </a:r>
                    </a:p>
                  </a:txBody>
                  <a:tcPr>
                    <a:solidFill>
                      <a:srgbClr val="FFFFFF"/>
                    </a:solidFill>
                  </a:tcPr>
                </a:tc>
                <a:tc>
                  <a:txBody>
                    <a:bodyPr/>
                    <a:lstStyle/>
                    <a:p>
                      <a:pPr algn="ctr">
                        <a:defRPr sz="1200">
                          <a:solidFill>
                            <a:srgbClr val="424242"/>
                          </a:solidFill>
                          <a:latin typeface="Calibri"/>
                        </a:defRPr>
                      </a:pPr>
                      <a:r>
                        <a:t>Thấp</a:t>
                      </a:r>
                    </a:p>
                  </a:txBody>
                  <a:tcPr>
                    <a:solidFill>
                      <a:srgbClr val="FFFFFF"/>
                    </a:solidFill>
                  </a:tcPr>
                </a:tc>
                <a:tc>
                  <a:txBody>
                    <a:bodyPr/>
                    <a:lstStyle/>
                    <a:p>
                      <a:pPr algn="ctr">
                        <a:defRPr sz="1200">
                          <a:solidFill>
                            <a:srgbClr val="424242"/>
                          </a:solidFill>
                          <a:latin typeface="Calibri"/>
                        </a:defRPr>
                      </a:pPr>
                      <a:r>
                        <a:t>Cao (video streaming 24/7)</a:t>
                      </a:r>
                    </a:p>
                  </a:txBody>
                  <a:tcPr>
                    <a:solidFill>
                      <a:srgbClr val="FFFFFF"/>
                    </a:solidFill>
                  </a:tcPr>
                </a:tc>
                <a:extLst>
                  <a:ext uri="{0D108BD9-81ED-4DB2-BD59-A6C34878D82A}">
                    <a16:rowId xmlns:a16="http://schemas.microsoft.com/office/drawing/2014/main" val="10005"/>
                  </a:ext>
                </a:extLst>
              </a:tr>
              <a:tr h="587832">
                <a:tc>
                  <a:txBody>
                    <a:bodyPr/>
                    <a:lstStyle/>
                    <a:p>
                      <a:pPr algn="ctr">
                        <a:defRPr sz="1200">
                          <a:solidFill>
                            <a:srgbClr val="424242"/>
                          </a:solidFill>
                          <a:latin typeface="Calibri"/>
                        </a:defRPr>
                      </a:pPr>
                      <a:r>
                        <a:t>Tính toán</a:t>
                      </a:r>
                    </a:p>
                  </a:txBody>
                  <a:tcPr>
                    <a:solidFill>
                      <a:srgbClr val="E3F2FD"/>
                    </a:solidFill>
                  </a:tcPr>
                </a:tc>
                <a:tc>
                  <a:txBody>
                    <a:bodyPr/>
                    <a:lstStyle/>
                    <a:p>
                      <a:pPr algn="ctr">
                        <a:defRPr sz="1200">
                          <a:solidFill>
                            <a:srgbClr val="424242"/>
                          </a:solidFill>
                          <a:latin typeface="Calibri"/>
                        </a:defRPr>
                      </a:pPr>
                      <a:r>
                        <a:t>Giới hạn (phần cứng nhúng)</a:t>
                      </a:r>
                    </a:p>
                  </a:txBody>
                  <a:tcPr>
                    <a:solidFill>
                      <a:srgbClr val="E3F2FD"/>
                    </a:solidFill>
                  </a:tcPr>
                </a:tc>
                <a:tc>
                  <a:txBody>
                    <a:bodyPr/>
                    <a:lstStyle/>
                    <a:p>
                      <a:pPr algn="ctr">
                        <a:defRPr sz="1200">
                          <a:solidFill>
                            <a:srgbClr val="424242"/>
                          </a:solidFill>
                          <a:latin typeface="Calibri"/>
                        </a:defRPr>
                      </a:pPr>
                      <a:r>
                        <a:t>Lớn, có thể mở rộng</a:t>
                      </a:r>
                    </a:p>
                  </a:txBody>
                  <a:tcPr>
                    <a:solidFill>
                      <a:srgbClr val="E3F2FD"/>
                    </a:solidFill>
                  </a:tcPr>
                </a:tc>
                <a:extLst>
                  <a:ext uri="{0D108BD9-81ED-4DB2-BD59-A6C34878D82A}">
                    <a16:rowId xmlns:a16="http://schemas.microsoft.com/office/drawing/2014/main" val="10006"/>
                  </a:ext>
                </a:extLst>
              </a:tr>
            </a:tbl>
          </a:graphicData>
        </a:graphic>
      </p:graphicFrame>
      <p:sp>
        <p:nvSpPr>
          <p:cNvPr id="9" name="Rounded Rectangle 8"/>
          <p:cNvSpPr/>
          <p:nvPr/>
        </p:nvSpPr>
        <p:spPr>
          <a:xfrm>
            <a:off x="2286000" y="5760720"/>
            <a:ext cx="7315200" cy="548640"/>
          </a:xfrm>
          <a:prstGeom prst="roundRect">
            <a:avLst/>
          </a:prstGeom>
          <a:solidFill>
            <a:srgbClr val="E3F2FD"/>
          </a:solidFill>
          <a:ln>
            <a:solidFill>
              <a:srgbClr val="144D8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560320" y="5806440"/>
            <a:ext cx="6858000" cy="457200"/>
          </a:xfrm>
          <a:prstGeom prst="rect">
            <a:avLst/>
          </a:prstGeom>
          <a:noFill/>
        </p:spPr>
        <p:txBody>
          <a:bodyPr wrap="square">
            <a:spAutoFit/>
          </a:bodyPr>
          <a:lstStyle/>
          <a:p>
            <a:pPr algn="ctr">
              <a:lnSpc>
                <a:spcPts val="1920"/>
              </a:lnSpc>
              <a:spcAft>
                <a:spcPts val="0"/>
              </a:spcAft>
              <a:defRPr sz="1600" b="1">
                <a:solidFill>
                  <a:srgbClr val="0A2E5C"/>
                </a:solidFill>
                <a:latin typeface="Calibri"/>
              </a:defRPr>
            </a:pPr>
            <a:r>
              <a:t>⟹  Kiến trúc Hybrid kết hợp ưu điểm của cả Edge AI và Cloud AI</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0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37160"/>
            <a:ext cx="10058400" cy="640080"/>
          </a:xfrm>
          <a:prstGeom prst="rect">
            <a:avLst/>
          </a:prstGeom>
          <a:noFill/>
        </p:spPr>
        <p:txBody>
          <a:bodyPr wrap="square">
            <a:spAutoFit/>
          </a:bodyPr>
          <a:lstStyle/>
          <a:p>
            <a:pPr algn="l">
              <a:lnSpc>
                <a:spcPts val="3840"/>
              </a:lnSpc>
              <a:spcAft>
                <a:spcPts val="0"/>
              </a:spcAft>
              <a:defRPr sz="3200" b="1">
                <a:solidFill>
                  <a:srgbClr val="FFFFFF"/>
                </a:solidFill>
                <a:latin typeface="Calibri"/>
              </a:defRPr>
            </a:pPr>
            <a:r>
              <a:t>CÔNG NGHỆ SỬ DỤNG TRONG HỆ THỐNG</a:t>
            </a:r>
          </a:p>
        </p:txBody>
      </p:sp>
      <p:sp>
        <p:nvSpPr>
          <p:cNvPr id="4" name="TextBox 3"/>
          <p:cNvSpPr txBox="1"/>
          <p:nvPr/>
        </p:nvSpPr>
        <p:spPr>
          <a:xfrm>
            <a:off x="731520" y="685800"/>
            <a:ext cx="10058400" cy="365760"/>
          </a:xfrm>
          <a:prstGeom prst="rect">
            <a:avLst/>
          </a:prstGeom>
          <a:noFill/>
        </p:spPr>
        <p:txBody>
          <a:bodyPr wrap="square">
            <a:spAutoFit/>
          </a:bodyPr>
          <a:lstStyle/>
          <a:p>
            <a:pPr algn="l">
              <a:lnSpc>
                <a:spcPts val="1920"/>
              </a:lnSpc>
              <a:spcAft>
                <a:spcPts val="0"/>
              </a:spcAft>
              <a:defRPr sz="1600" b="0">
                <a:solidFill>
                  <a:srgbClr val="42A5F5"/>
                </a:solidFill>
                <a:latin typeface="Calibri"/>
              </a:defRPr>
            </a:pPr>
            <a:r>
              <a:t>Chương 2 &amp; 3: Cơ sở lý thuyết và thiết kế</a:t>
            </a:r>
          </a:p>
        </p:txBody>
      </p:sp>
      <p:sp>
        <p:nvSpPr>
          <p:cNvPr id="5" name="Rectangle 4"/>
          <p:cNvSpPr/>
          <p:nvPr/>
        </p:nvSpPr>
        <p:spPr>
          <a:xfrm>
            <a:off x="0" y="1097280"/>
            <a:ext cx="12191695" cy="4572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492240"/>
            <a:ext cx="12191695" cy="365760"/>
          </a:xfrm>
          <a:prstGeom prst="rect">
            <a:avLst/>
          </a:prstGeom>
          <a:solidFill>
            <a:srgbClr val="0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10528"/>
            <a:ext cx="10972800" cy="320040"/>
          </a:xfrm>
          <a:prstGeom prst="rect">
            <a:avLst/>
          </a:prstGeom>
          <a:noFill/>
        </p:spPr>
        <p:txBody>
          <a:bodyPr wrap="square">
            <a:spAutoFit/>
          </a:bodyPr>
          <a:lstStyle/>
          <a:p>
            <a:pPr algn="ctr">
              <a:lnSpc>
                <a:spcPts val="1200"/>
              </a:lnSpc>
              <a:spcAft>
                <a:spcPts val="0"/>
              </a:spcAft>
              <a:defRPr sz="1000" b="0">
                <a:solidFill>
                  <a:srgbClr val="BBDEFB"/>
                </a:solidFill>
                <a:latin typeface="Calibri"/>
              </a:defRPr>
            </a:pPr>
            <a:r>
              <a:t>La Đại Lộc | MSSV: 4551050116 | GVHD: TS. Nguyễn Thanh Bình | Trường Đại học Quy Nhơn</a:t>
            </a:r>
          </a:p>
        </p:txBody>
      </p:sp>
      <p:sp>
        <p:nvSpPr>
          <p:cNvPr id="8" name="Rounded Rectangle 7"/>
          <p:cNvSpPr/>
          <p:nvPr/>
        </p:nvSpPr>
        <p:spPr>
          <a:xfrm>
            <a:off x="731520" y="1645920"/>
            <a:ext cx="2560320" cy="2286000"/>
          </a:xfrm>
          <a:prstGeom prst="roundRect">
            <a:avLst/>
          </a:prstGeom>
          <a:solidFill>
            <a:srgbClr val="FFFFFF"/>
          </a:solidFill>
          <a:ln>
            <a:solidFill>
              <a:srgbClr val="144D8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31520" y="1645920"/>
            <a:ext cx="2560320" cy="548640"/>
          </a:xfrm>
          <a:prstGeom prst="rect">
            <a:avLst/>
          </a:prstGeom>
          <a:solidFill>
            <a:srgbClr val="144D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1691640"/>
            <a:ext cx="2560320" cy="457200"/>
          </a:xfrm>
          <a:prstGeom prst="rect">
            <a:avLst/>
          </a:prstGeom>
          <a:noFill/>
        </p:spPr>
        <p:txBody>
          <a:bodyPr wrap="square">
            <a:spAutoFit/>
          </a:bodyPr>
          <a:lstStyle/>
          <a:p>
            <a:pPr algn="ctr">
              <a:lnSpc>
                <a:spcPts val="2160"/>
              </a:lnSpc>
              <a:spcAft>
                <a:spcPts val="0"/>
              </a:spcAft>
              <a:defRPr sz="1800" b="1">
                <a:solidFill>
                  <a:srgbClr val="FFFFFF"/>
                </a:solidFill>
                <a:latin typeface="Calibri"/>
              </a:defRPr>
            </a:pPr>
            <a:r>
              <a:t>YOLO</a:t>
            </a:r>
          </a:p>
        </p:txBody>
      </p:sp>
      <p:sp>
        <p:nvSpPr>
          <p:cNvPr id="11" name="TextBox 10"/>
          <p:cNvSpPr txBox="1"/>
          <p:nvPr/>
        </p:nvSpPr>
        <p:spPr>
          <a:xfrm>
            <a:off x="914400" y="2286000"/>
            <a:ext cx="2194560" cy="365760"/>
          </a:xfrm>
          <a:prstGeom prst="rect">
            <a:avLst/>
          </a:prstGeom>
          <a:noFill/>
        </p:spPr>
        <p:txBody>
          <a:bodyPr wrap="square">
            <a:spAutoFit/>
          </a:bodyPr>
          <a:lstStyle/>
          <a:p>
            <a:pPr algn="ctr">
              <a:lnSpc>
                <a:spcPts val="1680"/>
              </a:lnSpc>
              <a:spcAft>
                <a:spcPts val="0"/>
              </a:spcAft>
              <a:defRPr sz="1400" b="1">
                <a:solidFill>
                  <a:srgbClr val="144D8D"/>
                </a:solidFill>
                <a:latin typeface="Calibri"/>
              </a:defRPr>
            </a:pPr>
            <a:r>
              <a:t>Phát hiện đối tượng</a:t>
            </a:r>
          </a:p>
        </p:txBody>
      </p:sp>
      <p:sp>
        <p:nvSpPr>
          <p:cNvPr id="12" name="TextBox 11"/>
          <p:cNvSpPr txBox="1"/>
          <p:nvPr/>
        </p:nvSpPr>
        <p:spPr>
          <a:xfrm>
            <a:off x="914400" y="2743200"/>
            <a:ext cx="2194560" cy="914400"/>
          </a:xfrm>
          <a:prstGeom prst="rect">
            <a:avLst/>
          </a:prstGeom>
          <a:noFill/>
        </p:spPr>
        <p:txBody>
          <a:bodyPr wrap="square">
            <a:spAutoFit/>
          </a:bodyPr>
          <a:lstStyle/>
          <a:p>
            <a:pPr algn="ctr">
              <a:lnSpc>
                <a:spcPts val="1560"/>
              </a:lnSpc>
              <a:spcAft>
                <a:spcPts val="0"/>
              </a:spcAft>
              <a:defRPr sz="1300" b="0">
                <a:solidFill>
                  <a:srgbClr val="424242"/>
                </a:solidFill>
                <a:latin typeface="Calibri"/>
              </a:defRPr>
            </a:pPr>
            <a:r>
              <a:t>phone, smoking,</a:t>
            </a:r>
            <a:br/>
            <a:r>
              <a:t>seatbelt, no-seatbelt</a:t>
            </a:r>
          </a:p>
        </p:txBody>
      </p:sp>
      <p:sp>
        <p:nvSpPr>
          <p:cNvPr id="13" name="Rounded Rectangle 12"/>
          <p:cNvSpPr/>
          <p:nvPr/>
        </p:nvSpPr>
        <p:spPr>
          <a:xfrm>
            <a:off x="3520440" y="1645920"/>
            <a:ext cx="2560320" cy="2286000"/>
          </a:xfrm>
          <a:prstGeom prst="roundRect">
            <a:avLst/>
          </a:prstGeom>
          <a:solidFill>
            <a:srgbClr val="FFFFFF"/>
          </a:solidFill>
          <a:ln>
            <a:solidFill>
              <a:srgbClr val="0069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520440" y="1645920"/>
            <a:ext cx="2560320" cy="548640"/>
          </a:xfrm>
          <a:prstGeom prst="rect">
            <a:avLst/>
          </a:prstGeom>
          <a:solidFill>
            <a:srgbClr val="006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520440" y="1691640"/>
            <a:ext cx="2560320" cy="457200"/>
          </a:xfrm>
          <a:prstGeom prst="rect">
            <a:avLst/>
          </a:prstGeom>
          <a:noFill/>
        </p:spPr>
        <p:txBody>
          <a:bodyPr wrap="square">
            <a:spAutoFit/>
          </a:bodyPr>
          <a:lstStyle/>
          <a:p>
            <a:pPr algn="ctr">
              <a:lnSpc>
                <a:spcPts val="2160"/>
              </a:lnSpc>
              <a:spcAft>
                <a:spcPts val="0"/>
              </a:spcAft>
              <a:defRPr sz="1800" b="1">
                <a:solidFill>
                  <a:srgbClr val="FFFFFF"/>
                </a:solidFill>
                <a:latin typeface="Calibri"/>
              </a:defRPr>
            </a:pPr>
            <a:r>
              <a:t>MediaPipe</a:t>
            </a:r>
            <a:br/>
            <a:r>
              <a:t>Pose</a:t>
            </a:r>
          </a:p>
        </p:txBody>
      </p:sp>
      <p:sp>
        <p:nvSpPr>
          <p:cNvPr id="16" name="TextBox 15"/>
          <p:cNvSpPr txBox="1"/>
          <p:nvPr/>
        </p:nvSpPr>
        <p:spPr>
          <a:xfrm>
            <a:off x="3703320" y="2286000"/>
            <a:ext cx="2194560" cy="365760"/>
          </a:xfrm>
          <a:prstGeom prst="rect">
            <a:avLst/>
          </a:prstGeom>
          <a:noFill/>
        </p:spPr>
        <p:txBody>
          <a:bodyPr wrap="square">
            <a:spAutoFit/>
          </a:bodyPr>
          <a:lstStyle/>
          <a:p>
            <a:pPr algn="ctr">
              <a:lnSpc>
                <a:spcPts val="1680"/>
              </a:lnSpc>
              <a:spcAft>
                <a:spcPts val="0"/>
              </a:spcAft>
              <a:defRPr sz="1400" b="1">
                <a:solidFill>
                  <a:srgbClr val="00695C"/>
                </a:solidFill>
                <a:latin typeface="Calibri"/>
              </a:defRPr>
            </a:pPr>
            <a:r>
              <a:t>Ước lượng tư thế</a:t>
            </a:r>
          </a:p>
        </p:txBody>
      </p:sp>
      <p:sp>
        <p:nvSpPr>
          <p:cNvPr id="17" name="TextBox 16"/>
          <p:cNvSpPr txBox="1"/>
          <p:nvPr/>
        </p:nvSpPr>
        <p:spPr>
          <a:xfrm>
            <a:off x="3703320" y="2743200"/>
            <a:ext cx="2194560" cy="914400"/>
          </a:xfrm>
          <a:prstGeom prst="rect">
            <a:avLst/>
          </a:prstGeom>
          <a:noFill/>
        </p:spPr>
        <p:txBody>
          <a:bodyPr wrap="square">
            <a:spAutoFit/>
          </a:bodyPr>
          <a:lstStyle/>
          <a:p>
            <a:pPr algn="ctr">
              <a:lnSpc>
                <a:spcPts val="1560"/>
              </a:lnSpc>
              <a:spcAft>
                <a:spcPts val="0"/>
              </a:spcAft>
              <a:defRPr sz="1300" b="0">
                <a:solidFill>
                  <a:srgbClr val="424242"/>
                </a:solidFill>
                <a:latin typeface="Calibri"/>
              </a:defRPr>
            </a:pPr>
            <a:r>
              <a:t>13 landmarks</a:t>
            </a:r>
            <a:br/>
            <a:r>
              <a:t>cơ thể tài xế</a:t>
            </a:r>
          </a:p>
        </p:txBody>
      </p:sp>
      <p:sp>
        <p:nvSpPr>
          <p:cNvPr id="18" name="Rounded Rectangle 17"/>
          <p:cNvSpPr/>
          <p:nvPr/>
        </p:nvSpPr>
        <p:spPr>
          <a:xfrm>
            <a:off x="6309360" y="1645920"/>
            <a:ext cx="2560320" cy="2286000"/>
          </a:xfrm>
          <a:prstGeom prst="roundRect">
            <a:avLst/>
          </a:prstGeom>
          <a:solidFill>
            <a:srgbClr val="FFFFFF"/>
          </a:solidFill>
          <a:ln>
            <a:solidFill>
              <a:srgbClr val="6A1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309360" y="1645920"/>
            <a:ext cx="2560320" cy="548640"/>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309360" y="1691640"/>
            <a:ext cx="2560320" cy="457200"/>
          </a:xfrm>
          <a:prstGeom prst="rect">
            <a:avLst/>
          </a:prstGeom>
          <a:noFill/>
        </p:spPr>
        <p:txBody>
          <a:bodyPr wrap="square">
            <a:spAutoFit/>
          </a:bodyPr>
          <a:lstStyle/>
          <a:p>
            <a:pPr algn="ctr">
              <a:lnSpc>
                <a:spcPts val="2160"/>
              </a:lnSpc>
              <a:spcAft>
                <a:spcPts val="0"/>
              </a:spcAft>
              <a:defRPr sz="1800" b="1">
                <a:solidFill>
                  <a:srgbClr val="FFFFFF"/>
                </a:solidFill>
                <a:latin typeface="Calibri"/>
              </a:defRPr>
            </a:pPr>
            <a:r>
              <a:t>SlowFast</a:t>
            </a:r>
          </a:p>
        </p:txBody>
      </p:sp>
      <p:sp>
        <p:nvSpPr>
          <p:cNvPr id="21" name="TextBox 20"/>
          <p:cNvSpPr txBox="1"/>
          <p:nvPr/>
        </p:nvSpPr>
        <p:spPr>
          <a:xfrm>
            <a:off x="6492240" y="2286000"/>
            <a:ext cx="2194560" cy="365760"/>
          </a:xfrm>
          <a:prstGeom prst="rect">
            <a:avLst/>
          </a:prstGeom>
          <a:noFill/>
        </p:spPr>
        <p:txBody>
          <a:bodyPr wrap="square">
            <a:spAutoFit/>
          </a:bodyPr>
          <a:lstStyle/>
          <a:p>
            <a:pPr algn="ctr">
              <a:lnSpc>
                <a:spcPts val="1680"/>
              </a:lnSpc>
              <a:spcAft>
                <a:spcPts val="0"/>
              </a:spcAft>
              <a:defRPr sz="1400" b="1">
                <a:solidFill>
                  <a:srgbClr val="6A1B9A"/>
                </a:solidFill>
                <a:latin typeface="Calibri"/>
              </a:defRPr>
            </a:pPr>
            <a:r>
              <a:t>Nhận diện hành động</a:t>
            </a:r>
          </a:p>
        </p:txBody>
      </p:sp>
      <p:sp>
        <p:nvSpPr>
          <p:cNvPr id="22" name="TextBox 21"/>
          <p:cNvSpPr txBox="1"/>
          <p:nvPr/>
        </p:nvSpPr>
        <p:spPr>
          <a:xfrm>
            <a:off x="6492240" y="2743200"/>
            <a:ext cx="2194560" cy="914400"/>
          </a:xfrm>
          <a:prstGeom prst="rect">
            <a:avLst/>
          </a:prstGeom>
          <a:noFill/>
        </p:spPr>
        <p:txBody>
          <a:bodyPr wrap="square">
            <a:spAutoFit/>
          </a:bodyPr>
          <a:lstStyle/>
          <a:p>
            <a:pPr algn="ctr">
              <a:lnSpc>
                <a:spcPts val="1560"/>
              </a:lnSpc>
              <a:spcAft>
                <a:spcPts val="0"/>
              </a:spcAft>
              <a:defRPr sz="1300" b="0">
                <a:solidFill>
                  <a:srgbClr val="424242"/>
                </a:solidFill>
                <a:latin typeface="Calibri"/>
              </a:defRPr>
            </a:pPr>
            <a:r>
              <a:t>Xác thực theo</a:t>
            </a:r>
            <a:br/>
            <a:r>
              <a:t>chuỗi thời gian</a:t>
            </a:r>
          </a:p>
        </p:txBody>
      </p:sp>
      <p:sp>
        <p:nvSpPr>
          <p:cNvPr id="23" name="Rounded Rectangle 22"/>
          <p:cNvSpPr/>
          <p:nvPr/>
        </p:nvSpPr>
        <p:spPr>
          <a:xfrm>
            <a:off x="9098279" y="1645920"/>
            <a:ext cx="2560320" cy="2286000"/>
          </a:xfrm>
          <a:prstGeom prst="roundRect">
            <a:avLst/>
          </a:prstGeom>
          <a:solidFill>
            <a:srgbClr val="FFFFFF"/>
          </a:solidFill>
          <a:ln>
            <a:solidFill>
              <a:srgbClr val="FF6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098279" y="1645920"/>
            <a:ext cx="2560320" cy="548640"/>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098279" y="1691640"/>
            <a:ext cx="2560320" cy="457200"/>
          </a:xfrm>
          <a:prstGeom prst="rect">
            <a:avLst/>
          </a:prstGeom>
          <a:noFill/>
        </p:spPr>
        <p:txBody>
          <a:bodyPr wrap="square">
            <a:spAutoFit/>
          </a:bodyPr>
          <a:lstStyle/>
          <a:p>
            <a:pPr algn="ctr">
              <a:lnSpc>
                <a:spcPts val="2160"/>
              </a:lnSpc>
              <a:spcAft>
                <a:spcPts val="0"/>
              </a:spcAft>
              <a:defRPr sz="1800" b="1">
                <a:solidFill>
                  <a:srgbClr val="FFFFFF"/>
                </a:solidFill>
                <a:latin typeface="Calibri"/>
              </a:defRPr>
            </a:pPr>
            <a:r>
              <a:t>TensorRT</a:t>
            </a:r>
          </a:p>
        </p:txBody>
      </p:sp>
      <p:sp>
        <p:nvSpPr>
          <p:cNvPr id="26" name="TextBox 25"/>
          <p:cNvSpPr txBox="1"/>
          <p:nvPr/>
        </p:nvSpPr>
        <p:spPr>
          <a:xfrm>
            <a:off x="9281159" y="2286000"/>
            <a:ext cx="2194560" cy="365760"/>
          </a:xfrm>
          <a:prstGeom prst="rect">
            <a:avLst/>
          </a:prstGeom>
          <a:noFill/>
        </p:spPr>
        <p:txBody>
          <a:bodyPr wrap="square">
            <a:spAutoFit/>
          </a:bodyPr>
          <a:lstStyle/>
          <a:p>
            <a:pPr algn="ctr">
              <a:lnSpc>
                <a:spcPts val="1680"/>
              </a:lnSpc>
              <a:spcAft>
                <a:spcPts val="0"/>
              </a:spcAft>
              <a:defRPr sz="1400" b="1">
                <a:solidFill>
                  <a:srgbClr val="FF6F00"/>
                </a:solidFill>
                <a:latin typeface="Calibri"/>
              </a:defRPr>
            </a:pPr>
            <a:r>
              <a:t>Tối ưu Edge</a:t>
            </a:r>
          </a:p>
        </p:txBody>
      </p:sp>
      <p:sp>
        <p:nvSpPr>
          <p:cNvPr id="27" name="TextBox 26"/>
          <p:cNvSpPr txBox="1"/>
          <p:nvPr/>
        </p:nvSpPr>
        <p:spPr>
          <a:xfrm>
            <a:off x="9281159" y="2743200"/>
            <a:ext cx="2194560" cy="914400"/>
          </a:xfrm>
          <a:prstGeom prst="rect">
            <a:avLst/>
          </a:prstGeom>
          <a:noFill/>
        </p:spPr>
        <p:txBody>
          <a:bodyPr wrap="square">
            <a:spAutoFit/>
          </a:bodyPr>
          <a:lstStyle/>
          <a:p>
            <a:pPr algn="ctr">
              <a:lnSpc>
                <a:spcPts val="1560"/>
              </a:lnSpc>
              <a:spcAft>
                <a:spcPts val="0"/>
              </a:spcAft>
              <a:defRPr sz="1300" b="0">
                <a:solidFill>
                  <a:srgbClr val="424242"/>
                </a:solidFill>
                <a:latin typeface="Calibri"/>
              </a:defRPr>
            </a:pPr>
            <a:r>
              <a:t>Gia tốc suy luận</a:t>
            </a:r>
            <a:br/>
            <a:r>
              <a:t>trên GPU</a:t>
            </a:r>
          </a:p>
        </p:txBody>
      </p:sp>
      <p:sp>
        <p:nvSpPr>
          <p:cNvPr id="28" name="TextBox 27"/>
          <p:cNvSpPr txBox="1"/>
          <p:nvPr/>
        </p:nvSpPr>
        <p:spPr>
          <a:xfrm>
            <a:off x="731520" y="4297680"/>
            <a:ext cx="10972800" cy="365760"/>
          </a:xfrm>
          <a:prstGeom prst="rect">
            <a:avLst/>
          </a:prstGeom>
          <a:noFill/>
        </p:spPr>
        <p:txBody>
          <a:bodyPr wrap="square">
            <a:spAutoFit/>
          </a:bodyPr>
          <a:lstStyle/>
          <a:p>
            <a:pPr algn="l">
              <a:lnSpc>
                <a:spcPts val="2160"/>
              </a:lnSpc>
              <a:spcAft>
                <a:spcPts val="0"/>
              </a:spcAft>
              <a:defRPr sz="1800" b="1">
                <a:solidFill>
                  <a:srgbClr val="0A2E5C"/>
                </a:solidFill>
                <a:latin typeface="Calibri"/>
              </a:defRPr>
            </a:pPr>
            <a:r>
              <a:t>Phân hệ Cloud</a:t>
            </a:r>
          </a:p>
        </p:txBody>
      </p:sp>
      <p:sp>
        <p:nvSpPr>
          <p:cNvPr id="29" name="Rounded Rectangle 28"/>
          <p:cNvSpPr/>
          <p:nvPr/>
        </p:nvSpPr>
        <p:spPr>
          <a:xfrm>
            <a:off x="731520" y="4846320"/>
            <a:ext cx="2560320" cy="914400"/>
          </a:xfrm>
          <a:prstGeom prst="roundRect">
            <a:avLst/>
          </a:prstGeom>
          <a:solidFill>
            <a:srgbClr val="F5F5F5"/>
          </a:solidFill>
          <a:ln>
            <a:solidFill>
              <a:srgbClr val="144D8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22960" y="4892040"/>
            <a:ext cx="2377440" cy="365760"/>
          </a:xfrm>
          <a:prstGeom prst="rect">
            <a:avLst/>
          </a:prstGeom>
          <a:noFill/>
        </p:spPr>
        <p:txBody>
          <a:bodyPr wrap="square">
            <a:spAutoFit/>
          </a:bodyPr>
          <a:lstStyle/>
          <a:p>
            <a:pPr algn="ctr">
              <a:lnSpc>
                <a:spcPts val="1800"/>
              </a:lnSpc>
              <a:spcAft>
                <a:spcPts val="0"/>
              </a:spcAft>
              <a:defRPr sz="1500" b="1">
                <a:solidFill>
                  <a:srgbClr val="144D8D"/>
                </a:solidFill>
                <a:latin typeface="Calibri"/>
              </a:defRPr>
            </a:pPr>
            <a:r>
              <a:t>FastAPI</a:t>
            </a:r>
          </a:p>
        </p:txBody>
      </p:sp>
      <p:sp>
        <p:nvSpPr>
          <p:cNvPr id="31" name="TextBox 30"/>
          <p:cNvSpPr txBox="1"/>
          <p:nvPr/>
        </p:nvSpPr>
        <p:spPr>
          <a:xfrm>
            <a:off x="822960" y="5303520"/>
            <a:ext cx="2377440" cy="365760"/>
          </a:xfrm>
          <a:prstGeom prst="rect">
            <a:avLst/>
          </a:prstGeom>
          <a:noFill/>
        </p:spPr>
        <p:txBody>
          <a:bodyPr wrap="square">
            <a:spAutoFit/>
          </a:bodyPr>
          <a:lstStyle/>
          <a:p>
            <a:pPr algn="ctr">
              <a:lnSpc>
                <a:spcPts val="1439"/>
              </a:lnSpc>
              <a:spcAft>
                <a:spcPts val="0"/>
              </a:spcAft>
              <a:defRPr sz="1200" b="0">
                <a:solidFill>
                  <a:srgbClr val="424242"/>
                </a:solidFill>
                <a:latin typeface="Calibri"/>
              </a:defRPr>
            </a:pPr>
            <a:r>
              <a:t>Backend Framework</a:t>
            </a:r>
          </a:p>
        </p:txBody>
      </p:sp>
      <p:sp>
        <p:nvSpPr>
          <p:cNvPr id="32" name="Rounded Rectangle 31"/>
          <p:cNvSpPr/>
          <p:nvPr/>
        </p:nvSpPr>
        <p:spPr>
          <a:xfrm>
            <a:off x="3520440" y="4846320"/>
            <a:ext cx="2560320" cy="914400"/>
          </a:xfrm>
          <a:prstGeom prst="roundRect">
            <a:avLst/>
          </a:prstGeom>
          <a:solidFill>
            <a:srgbClr val="F5F5F5"/>
          </a:solidFill>
          <a:ln>
            <a:solidFill>
              <a:srgbClr val="0069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611880" y="4892040"/>
            <a:ext cx="2377440" cy="365760"/>
          </a:xfrm>
          <a:prstGeom prst="rect">
            <a:avLst/>
          </a:prstGeom>
          <a:noFill/>
        </p:spPr>
        <p:txBody>
          <a:bodyPr wrap="square">
            <a:spAutoFit/>
          </a:bodyPr>
          <a:lstStyle/>
          <a:p>
            <a:pPr algn="ctr">
              <a:lnSpc>
                <a:spcPts val="1800"/>
              </a:lnSpc>
              <a:spcAft>
                <a:spcPts val="0"/>
              </a:spcAft>
              <a:defRPr sz="1500" b="1">
                <a:solidFill>
                  <a:srgbClr val="00695C"/>
                </a:solidFill>
                <a:latin typeface="Calibri"/>
              </a:defRPr>
            </a:pPr>
            <a:r>
              <a:t>SQLite + SQLAlchemy</a:t>
            </a:r>
          </a:p>
        </p:txBody>
      </p:sp>
      <p:sp>
        <p:nvSpPr>
          <p:cNvPr id="34" name="TextBox 33"/>
          <p:cNvSpPr txBox="1"/>
          <p:nvPr/>
        </p:nvSpPr>
        <p:spPr>
          <a:xfrm>
            <a:off x="3611880" y="5303520"/>
            <a:ext cx="2377440" cy="365760"/>
          </a:xfrm>
          <a:prstGeom prst="rect">
            <a:avLst/>
          </a:prstGeom>
          <a:noFill/>
        </p:spPr>
        <p:txBody>
          <a:bodyPr wrap="square">
            <a:spAutoFit/>
          </a:bodyPr>
          <a:lstStyle/>
          <a:p>
            <a:pPr algn="ctr">
              <a:lnSpc>
                <a:spcPts val="1439"/>
              </a:lnSpc>
              <a:spcAft>
                <a:spcPts val="0"/>
              </a:spcAft>
              <a:defRPr sz="1200" b="0">
                <a:solidFill>
                  <a:srgbClr val="424242"/>
                </a:solidFill>
                <a:latin typeface="Calibri"/>
              </a:defRPr>
            </a:pPr>
            <a:r>
              <a:t>Database + ORM</a:t>
            </a:r>
          </a:p>
        </p:txBody>
      </p:sp>
      <p:sp>
        <p:nvSpPr>
          <p:cNvPr id="35" name="Rounded Rectangle 34"/>
          <p:cNvSpPr/>
          <p:nvPr/>
        </p:nvSpPr>
        <p:spPr>
          <a:xfrm>
            <a:off x="6309360" y="4846320"/>
            <a:ext cx="2560320" cy="914400"/>
          </a:xfrm>
          <a:prstGeom prst="roundRect">
            <a:avLst/>
          </a:prstGeom>
          <a:solidFill>
            <a:srgbClr val="F5F5F5"/>
          </a:solidFill>
          <a:ln>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400800" y="4892040"/>
            <a:ext cx="2377440" cy="365760"/>
          </a:xfrm>
          <a:prstGeom prst="rect">
            <a:avLst/>
          </a:prstGeom>
          <a:noFill/>
        </p:spPr>
        <p:txBody>
          <a:bodyPr wrap="square">
            <a:spAutoFit/>
          </a:bodyPr>
          <a:lstStyle/>
          <a:p>
            <a:pPr algn="ctr">
              <a:lnSpc>
                <a:spcPts val="1800"/>
              </a:lnSpc>
              <a:spcAft>
                <a:spcPts val="0"/>
              </a:spcAft>
              <a:defRPr sz="1500" b="1">
                <a:solidFill>
                  <a:srgbClr val="1E88E5"/>
                </a:solidFill>
                <a:latin typeface="Calibri"/>
              </a:defRPr>
            </a:pPr>
            <a:r>
              <a:t>React 19 + Vite 7</a:t>
            </a:r>
          </a:p>
        </p:txBody>
      </p:sp>
      <p:sp>
        <p:nvSpPr>
          <p:cNvPr id="37" name="TextBox 36"/>
          <p:cNvSpPr txBox="1"/>
          <p:nvPr/>
        </p:nvSpPr>
        <p:spPr>
          <a:xfrm>
            <a:off x="6400800" y="5303520"/>
            <a:ext cx="2377440" cy="365760"/>
          </a:xfrm>
          <a:prstGeom prst="rect">
            <a:avLst/>
          </a:prstGeom>
          <a:noFill/>
        </p:spPr>
        <p:txBody>
          <a:bodyPr wrap="square">
            <a:spAutoFit/>
          </a:bodyPr>
          <a:lstStyle/>
          <a:p>
            <a:pPr algn="ctr">
              <a:lnSpc>
                <a:spcPts val="1439"/>
              </a:lnSpc>
              <a:spcAft>
                <a:spcPts val="0"/>
              </a:spcAft>
              <a:defRPr sz="1200" b="0">
                <a:solidFill>
                  <a:srgbClr val="424242"/>
                </a:solidFill>
                <a:latin typeface="Calibri"/>
              </a:defRPr>
            </a:pPr>
            <a:r>
              <a:t>Dashboard SPA</a:t>
            </a:r>
          </a:p>
        </p:txBody>
      </p:sp>
      <p:sp>
        <p:nvSpPr>
          <p:cNvPr id="38" name="Rounded Rectangle 37"/>
          <p:cNvSpPr/>
          <p:nvPr/>
        </p:nvSpPr>
        <p:spPr>
          <a:xfrm>
            <a:off x="9098279" y="4846320"/>
            <a:ext cx="2560320" cy="914400"/>
          </a:xfrm>
          <a:prstGeom prst="roundRect">
            <a:avLst/>
          </a:prstGeom>
          <a:solidFill>
            <a:srgbClr val="F5F5F5"/>
          </a:solidFill>
          <a:ln>
            <a:solidFill>
              <a:srgbClr val="FF6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9189719" y="4892040"/>
            <a:ext cx="2377440" cy="365760"/>
          </a:xfrm>
          <a:prstGeom prst="rect">
            <a:avLst/>
          </a:prstGeom>
          <a:noFill/>
        </p:spPr>
        <p:txBody>
          <a:bodyPr wrap="square">
            <a:spAutoFit/>
          </a:bodyPr>
          <a:lstStyle/>
          <a:p>
            <a:pPr algn="ctr">
              <a:lnSpc>
                <a:spcPts val="1800"/>
              </a:lnSpc>
              <a:spcAft>
                <a:spcPts val="0"/>
              </a:spcAft>
              <a:defRPr sz="1500" b="1">
                <a:solidFill>
                  <a:srgbClr val="FF6F00"/>
                </a:solidFill>
                <a:latin typeface="Calibri"/>
              </a:defRPr>
            </a:pPr>
            <a:r>
              <a:t>Recharts + Lucide</a:t>
            </a:r>
          </a:p>
        </p:txBody>
      </p:sp>
      <p:sp>
        <p:nvSpPr>
          <p:cNvPr id="40" name="TextBox 39"/>
          <p:cNvSpPr txBox="1"/>
          <p:nvPr/>
        </p:nvSpPr>
        <p:spPr>
          <a:xfrm>
            <a:off x="9189719" y="5303520"/>
            <a:ext cx="2377440" cy="365760"/>
          </a:xfrm>
          <a:prstGeom prst="rect">
            <a:avLst/>
          </a:prstGeom>
          <a:noFill/>
        </p:spPr>
        <p:txBody>
          <a:bodyPr wrap="square">
            <a:spAutoFit/>
          </a:bodyPr>
          <a:lstStyle/>
          <a:p>
            <a:pPr algn="ctr">
              <a:lnSpc>
                <a:spcPts val="1439"/>
              </a:lnSpc>
              <a:spcAft>
                <a:spcPts val="0"/>
              </a:spcAft>
              <a:defRPr sz="1200" b="0">
                <a:solidFill>
                  <a:srgbClr val="424242"/>
                </a:solidFill>
                <a:latin typeface="Calibri"/>
              </a:defRPr>
            </a:pPr>
            <a:r>
              <a:t>Biểu đồ + Icons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0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37160"/>
            <a:ext cx="10058400" cy="640080"/>
          </a:xfrm>
          <a:prstGeom prst="rect">
            <a:avLst/>
          </a:prstGeom>
          <a:noFill/>
        </p:spPr>
        <p:txBody>
          <a:bodyPr wrap="square">
            <a:spAutoFit/>
          </a:bodyPr>
          <a:lstStyle/>
          <a:p>
            <a:pPr algn="l">
              <a:lnSpc>
                <a:spcPts val="3840"/>
              </a:lnSpc>
              <a:spcAft>
                <a:spcPts val="0"/>
              </a:spcAft>
              <a:defRPr sz="3200" b="1">
                <a:solidFill>
                  <a:srgbClr val="FFFFFF"/>
                </a:solidFill>
                <a:latin typeface="Calibri"/>
              </a:defRPr>
            </a:pPr>
            <a:r>
              <a:t>YOLO TRONG BÀI TOÁN DMS</a:t>
            </a:r>
          </a:p>
        </p:txBody>
      </p:sp>
      <p:sp>
        <p:nvSpPr>
          <p:cNvPr id="4" name="TextBox 3"/>
          <p:cNvSpPr txBox="1"/>
          <p:nvPr/>
        </p:nvSpPr>
        <p:spPr>
          <a:xfrm>
            <a:off x="731520" y="685800"/>
            <a:ext cx="10058400" cy="365760"/>
          </a:xfrm>
          <a:prstGeom prst="rect">
            <a:avLst/>
          </a:prstGeom>
          <a:noFill/>
        </p:spPr>
        <p:txBody>
          <a:bodyPr wrap="square">
            <a:spAutoFit/>
          </a:bodyPr>
          <a:lstStyle/>
          <a:p>
            <a:pPr algn="l">
              <a:lnSpc>
                <a:spcPts val="1920"/>
              </a:lnSpc>
              <a:spcAft>
                <a:spcPts val="0"/>
              </a:spcAft>
              <a:defRPr sz="1600" b="0">
                <a:solidFill>
                  <a:srgbClr val="42A5F5"/>
                </a:solidFill>
                <a:latin typeface="Calibri"/>
              </a:defRPr>
            </a:pPr>
            <a:r>
              <a:t>Chương 2.1: Phát hiện đối tượng</a:t>
            </a:r>
          </a:p>
        </p:txBody>
      </p:sp>
      <p:sp>
        <p:nvSpPr>
          <p:cNvPr id="5" name="Rectangle 4"/>
          <p:cNvSpPr/>
          <p:nvPr/>
        </p:nvSpPr>
        <p:spPr>
          <a:xfrm>
            <a:off x="0" y="1097280"/>
            <a:ext cx="12191695" cy="4572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492240"/>
            <a:ext cx="12191695" cy="365760"/>
          </a:xfrm>
          <a:prstGeom prst="rect">
            <a:avLst/>
          </a:prstGeom>
          <a:solidFill>
            <a:srgbClr val="0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10528"/>
            <a:ext cx="10972800" cy="320040"/>
          </a:xfrm>
          <a:prstGeom prst="rect">
            <a:avLst/>
          </a:prstGeom>
          <a:noFill/>
        </p:spPr>
        <p:txBody>
          <a:bodyPr wrap="square">
            <a:spAutoFit/>
          </a:bodyPr>
          <a:lstStyle/>
          <a:p>
            <a:pPr algn="ctr">
              <a:lnSpc>
                <a:spcPts val="1200"/>
              </a:lnSpc>
              <a:spcAft>
                <a:spcPts val="0"/>
              </a:spcAft>
              <a:defRPr sz="1000" b="0">
                <a:solidFill>
                  <a:srgbClr val="BBDEFB"/>
                </a:solidFill>
                <a:latin typeface="Calibri"/>
              </a:defRPr>
            </a:pPr>
            <a:r>
              <a:t>La Đại Lộc | MSSV: 4551050116 | GVHD: TS. Nguyễn Thanh Bình | Trường Đại học Quy Nhơn</a:t>
            </a:r>
          </a:p>
        </p:txBody>
      </p:sp>
      <p:sp>
        <p:nvSpPr>
          <p:cNvPr id="8" name="TextBox 7"/>
          <p:cNvSpPr txBox="1"/>
          <p:nvPr/>
        </p:nvSpPr>
        <p:spPr>
          <a:xfrm>
            <a:off x="731520" y="1463040"/>
            <a:ext cx="5029200" cy="365760"/>
          </a:xfrm>
          <a:prstGeom prst="rect">
            <a:avLst/>
          </a:prstGeom>
          <a:noFill/>
        </p:spPr>
        <p:txBody>
          <a:bodyPr wrap="square">
            <a:spAutoFit/>
          </a:bodyPr>
          <a:lstStyle/>
          <a:p>
            <a:pPr algn="l">
              <a:lnSpc>
                <a:spcPts val="1920"/>
              </a:lnSpc>
              <a:spcAft>
                <a:spcPts val="0"/>
              </a:spcAft>
              <a:defRPr sz="1600" b="1">
                <a:solidFill>
                  <a:srgbClr val="0A2E5C"/>
                </a:solidFill>
                <a:latin typeface="Calibri"/>
              </a:defRPr>
            </a:pPr>
            <a:r>
              <a:t>Kiến trúc YOLO (Backbone → Neck → Head)</a:t>
            </a:r>
          </a:p>
        </p:txBody>
      </p:sp>
      <p:sp>
        <p:nvSpPr>
          <p:cNvPr id="9" name="Rounded Rectangle 8"/>
          <p:cNvSpPr/>
          <p:nvPr/>
        </p:nvSpPr>
        <p:spPr>
          <a:xfrm>
            <a:off x="731520" y="2103120"/>
            <a:ext cx="1645920" cy="9144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200" b="1">
                <a:solidFill>
                  <a:srgbClr val="424242"/>
                </a:solidFill>
                <a:latin typeface="Calibri"/>
              </a:defRPr>
            </a:pPr>
            <a:r>
              <a:t>Input</a:t>
            </a:r>
            <a:br/>
            <a:r>
              <a:t>640×640</a:t>
            </a:r>
          </a:p>
        </p:txBody>
      </p:sp>
      <p:sp>
        <p:nvSpPr>
          <p:cNvPr id="10" name="Right Arrow 9"/>
          <p:cNvSpPr/>
          <p:nvPr/>
        </p:nvSpPr>
        <p:spPr>
          <a:xfrm>
            <a:off x="2423160" y="2377440"/>
            <a:ext cx="274320" cy="274320"/>
          </a:xfrm>
          <a:prstGeom prst="rightArrow">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2743200" y="2103120"/>
            <a:ext cx="1645920" cy="914400"/>
          </a:xfrm>
          <a:prstGeom prst="roundRect">
            <a:avLst/>
          </a:prstGeom>
          <a:solidFill>
            <a:srgbClr val="144D8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200" b="1">
                <a:solidFill>
                  <a:srgbClr val="FFFFFF"/>
                </a:solidFill>
                <a:latin typeface="Calibri"/>
              </a:defRPr>
            </a:pPr>
            <a:r>
              <a:t>Backbone</a:t>
            </a:r>
            <a:br/>
            <a:r>
              <a:t>(CSPDarknet)</a:t>
            </a:r>
          </a:p>
        </p:txBody>
      </p:sp>
      <p:sp>
        <p:nvSpPr>
          <p:cNvPr id="12" name="Right Arrow 11"/>
          <p:cNvSpPr/>
          <p:nvPr/>
        </p:nvSpPr>
        <p:spPr>
          <a:xfrm>
            <a:off x="4434840" y="2377440"/>
            <a:ext cx="274320" cy="274320"/>
          </a:xfrm>
          <a:prstGeom prst="rightArrow">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754880" y="2103120"/>
            <a:ext cx="1645920" cy="914400"/>
          </a:xfrm>
          <a:prstGeom prst="roundRect">
            <a:avLst/>
          </a:prstGeom>
          <a:solidFill>
            <a:srgbClr val="00695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200" b="1">
                <a:solidFill>
                  <a:srgbClr val="FFFFFF"/>
                </a:solidFill>
                <a:latin typeface="Calibri"/>
              </a:defRPr>
            </a:pPr>
            <a:r>
              <a:t>Neck</a:t>
            </a:r>
            <a:br/>
            <a:r>
              <a:t>(FPN/PAN)</a:t>
            </a:r>
          </a:p>
        </p:txBody>
      </p:sp>
      <p:sp>
        <p:nvSpPr>
          <p:cNvPr id="14" name="Right Arrow 13"/>
          <p:cNvSpPr/>
          <p:nvPr/>
        </p:nvSpPr>
        <p:spPr>
          <a:xfrm>
            <a:off x="6446520" y="2377440"/>
            <a:ext cx="274320" cy="274320"/>
          </a:xfrm>
          <a:prstGeom prst="rightArrow">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766560" y="2103120"/>
            <a:ext cx="1645920" cy="914400"/>
          </a:xfrm>
          <a:prstGeom prst="round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200" b="1">
                <a:solidFill>
                  <a:srgbClr val="FFFFFF"/>
                </a:solidFill>
                <a:latin typeface="Calibri"/>
              </a:defRPr>
            </a:pPr>
            <a:r>
              <a:t>Head</a:t>
            </a:r>
            <a:br/>
            <a:r>
              <a:t>(Detection)</a:t>
            </a:r>
          </a:p>
        </p:txBody>
      </p:sp>
      <p:sp>
        <p:nvSpPr>
          <p:cNvPr id="16" name="Right Arrow 15"/>
          <p:cNvSpPr/>
          <p:nvPr/>
        </p:nvSpPr>
        <p:spPr>
          <a:xfrm>
            <a:off x="8458200" y="2377440"/>
            <a:ext cx="274320" cy="274320"/>
          </a:xfrm>
          <a:prstGeom prst="rightArrow">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8778240" y="2103120"/>
            <a:ext cx="1645920" cy="91440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200" b="1">
                <a:solidFill>
                  <a:srgbClr val="FFFFFF"/>
                </a:solidFill>
                <a:latin typeface="Calibri"/>
              </a:defRPr>
            </a:pPr>
            <a:r>
              <a:t>Output</a:t>
            </a:r>
            <a:br/>
            <a:r>
              <a:t>BBox + Class</a:t>
            </a:r>
          </a:p>
        </p:txBody>
      </p:sp>
      <p:sp>
        <p:nvSpPr>
          <p:cNvPr id="18" name="TextBox 17"/>
          <p:cNvSpPr txBox="1"/>
          <p:nvPr/>
        </p:nvSpPr>
        <p:spPr>
          <a:xfrm>
            <a:off x="731520" y="3291840"/>
            <a:ext cx="5029200" cy="365760"/>
          </a:xfrm>
          <a:prstGeom prst="rect">
            <a:avLst/>
          </a:prstGeom>
          <a:noFill/>
        </p:spPr>
        <p:txBody>
          <a:bodyPr wrap="square">
            <a:spAutoFit/>
          </a:bodyPr>
          <a:lstStyle/>
          <a:p>
            <a:pPr algn="l">
              <a:lnSpc>
                <a:spcPts val="1800"/>
              </a:lnSpc>
              <a:spcAft>
                <a:spcPts val="0"/>
              </a:spcAft>
              <a:defRPr sz="1500" b="1">
                <a:solidFill>
                  <a:srgbClr val="0A2E5C"/>
                </a:solidFill>
                <a:latin typeface="Calibri"/>
              </a:defRPr>
            </a:pPr>
            <a:r>
              <a:t>4 lớp đối tượng phát hiện:</a:t>
            </a:r>
          </a:p>
        </p:txBody>
      </p:sp>
      <p:sp>
        <p:nvSpPr>
          <p:cNvPr id="19" name="Rounded Rectangle 18"/>
          <p:cNvSpPr/>
          <p:nvPr/>
        </p:nvSpPr>
        <p:spPr>
          <a:xfrm>
            <a:off x="731520" y="3749039"/>
            <a:ext cx="1188720" cy="457200"/>
          </a:xfrm>
          <a:prstGeom prst="round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1520" y="3794760"/>
            <a:ext cx="1188720" cy="365760"/>
          </a:xfrm>
          <a:prstGeom prst="rect">
            <a:avLst/>
          </a:prstGeom>
          <a:noFill/>
        </p:spPr>
        <p:txBody>
          <a:bodyPr wrap="square">
            <a:spAutoFit/>
          </a:bodyPr>
          <a:lstStyle/>
          <a:p>
            <a:pPr algn="ctr">
              <a:lnSpc>
                <a:spcPts val="1560"/>
              </a:lnSpc>
              <a:spcAft>
                <a:spcPts val="0"/>
              </a:spcAft>
              <a:defRPr sz="1300" b="1">
                <a:solidFill>
                  <a:srgbClr val="FFFFFF"/>
                </a:solidFill>
                <a:latin typeface="Calibri"/>
              </a:defRPr>
            </a:pPr>
            <a:r>
              <a:t>phone</a:t>
            </a:r>
          </a:p>
        </p:txBody>
      </p:sp>
      <p:sp>
        <p:nvSpPr>
          <p:cNvPr id="21" name="Rounded Rectangle 20"/>
          <p:cNvSpPr/>
          <p:nvPr/>
        </p:nvSpPr>
        <p:spPr>
          <a:xfrm>
            <a:off x="2103120" y="3749039"/>
            <a:ext cx="1188720" cy="457200"/>
          </a:xfrm>
          <a:prstGeom prst="round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103120" y="3794760"/>
            <a:ext cx="1188720" cy="365760"/>
          </a:xfrm>
          <a:prstGeom prst="rect">
            <a:avLst/>
          </a:prstGeom>
          <a:noFill/>
        </p:spPr>
        <p:txBody>
          <a:bodyPr wrap="square">
            <a:spAutoFit/>
          </a:bodyPr>
          <a:lstStyle/>
          <a:p>
            <a:pPr algn="ctr">
              <a:lnSpc>
                <a:spcPts val="1560"/>
              </a:lnSpc>
              <a:spcAft>
                <a:spcPts val="0"/>
              </a:spcAft>
              <a:defRPr sz="1300" b="1">
                <a:solidFill>
                  <a:srgbClr val="FFFFFF"/>
                </a:solidFill>
                <a:latin typeface="Calibri"/>
              </a:defRPr>
            </a:pPr>
            <a:r>
              <a:t>smoking</a:t>
            </a:r>
          </a:p>
        </p:txBody>
      </p:sp>
      <p:sp>
        <p:nvSpPr>
          <p:cNvPr id="23" name="Rounded Rectangle 22"/>
          <p:cNvSpPr/>
          <p:nvPr/>
        </p:nvSpPr>
        <p:spPr>
          <a:xfrm>
            <a:off x="3474720" y="3749039"/>
            <a:ext cx="1188720" cy="45720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474720" y="3794760"/>
            <a:ext cx="1188720" cy="365760"/>
          </a:xfrm>
          <a:prstGeom prst="rect">
            <a:avLst/>
          </a:prstGeom>
          <a:noFill/>
        </p:spPr>
        <p:txBody>
          <a:bodyPr wrap="square">
            <a:spAutoFit/>
          </a:bodyPr>
          <a:lstStyle/>
          <a:p>
            <a:pPr algn="ctr">
              <a:lnSpc>
                <a:spcPts val="1560"/>
              </a:lnSpc>
              <a:spcAft>
                <a:spcPts val="0"/>
              </a:spcAft>
              <a:defRPr sz="1300" b="1">
                <a:solidFill>
                  <a:srgbClr val="FFFFFF"/>
                </a:solidFill>
                <a:latin typeface="Calibri"/>
              </a:defRPr>
            </a:pPr>
            <a:r>
              <a:t>seatbelt</a:t>
            </a:r>
          </a:p>
        </p:txBody>
      </p:sp>
      <p:sp>
        <p:nvSpPr>
          <p:cNvPr id="25" name="Rounded Rectangle 24"/>
          <p:cNvSpPr/>
          <p:nvPr/>
        </p:nvSpPr>
        <p:spPr>
          <a:xfrm>
            <a:off x="4846320" y="3749039"/>
            <a:ext cx="1188720" cy="457200"/>
          </a:xfrm>
          <a:prstGeom prst="round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846320" y="3794760"/>
            <a:ext cx="1188720" cy="365760"/>
          </a:xfrm>
          <a:prstGeom prst="rect">
            <a:avLst/>
          </a:prstGeom>
          <a:noFill/>
        </p:spPr>
        <p:txBody>
          <a:bodyPr wrap="square">
            <a:spAutoFit/>
          </a:bodyPr>
          <a:lstStyle/>
          <a:p>
            <a:pPr algn="ctr">
              <a:lnSpc>
                <a:spcPts val="1560"/>
              </a:lnSpc>
              <a:spcAft>
                <a:spcPts val="0"/>
              </a:spcAft>
              <a:defRPr sz="1300" b="1">
                <a:solidFill>
                  <a:srgbClr val="FFFFFF"/>
                </a:solidFill>
                <a:latin typeface="Calibri"/>
              </a:defRPr>
            </a:pPr>
            <a:r>
              <a:t>no-seatbelt</a:t>
            </a:r>
          </a:p>
        </p:txBody>
      </p:sp>
      <p:sp>
        <p:nvSpPr>
          <p:cNvPr id="27" name="TextBox 26"/>
          <p:cNvSpPr txBox="1"/>
          <p:nvPr/>
        </p:nvSpPr>
        <p:spPr>
          <a:xfrm>
            <a:off x="6400800" y="1463040"/>
            <a:ext cx="5029200" cy="365760"/>
          </a:xfrm>
          <a:prstGeom prst="rect">
            <a:avLst/>
          </a:prstGeom>
          <a:noFill/>
        </p:spPr>
        <p:txBody>
          <a:bodyPr wrap="square">
            <a:spAutoFit/>
          </a:bodyPr>
          <a:lstStyle/>
          <a:p>
            <a:pPr algn="l">
              <a:lnSpc>
                <a:spcPts val="1920"/>
              </a:lnSpc>
              <a:spcAft>
                <a:spcPts val="0"/>
              </a:spcAft>
              <a:defRPr sz="1600" b="1">
                <a:solidFill>
                  <a:srgbClr val="0A2E5C"/>
                </a:solidFill>
                <a:latin typeface="Calibri"/>
              </a:defRPr>
            </a:pPr>
            <a:r>
              <a:t>Vai trò trong hệ thống</a:t>
            </a:r>
          </a:p>
        </p:txBody>
      </p:sp>
      <p:sp>
        <p:nvSpPr>
          <p:cNvPr id="28" name="TextBox 27"/>
          <p:cNvSpPr txBox="1"/>
          <p:nvPr/>
        </p:nvSpPr>
        <p:spPr>
          <a:xfrm>
            <a:off x="6400800" y="2011680"/>
            <a:ext cx="5029200" cy="4114800"/>
          </a:xfrm>
          <a:prstGeom prst="rect">
            <a:avLst/>
          </a:prstGeom>
          <a:noFill/>
        </p:spPr>
        <p:txBody>
          <a:bodyPr wrap="square">
            <a:spAutoFit/>
          </a:bodyPr>
          <a:lstStyle/>
          <a:p>
            <a:pPr algn="l">
              <a:lnSpc>
                <a:spcPts val="1959"/>
              </a:lnSpc>
              <a:spcAft>
                <a:spcPts val="600"/>
              </a:spcAft>
              <a:defRPr sz="1400">
                <a:solidFill>
                  <a:srgbClr val="424242"/>
                </a:solidFill>
                <a:latin typeface="Calibri"/>
              </a:defRPr>
            </a:pPr>
            <a:r>
              <a:t>▸ Tầng trích xuất đặc trưng không gian sơ cấp</a:t>
            </a:r>
          </a:p>
          <a:p>
            <a:pPr algn="l">
              <a:lnSpc>
                <a:spcPts val="1959"/>
              </a:lnSpc>
              <a:spcAft>
                <a:spcPts val="600"/>
              </a:spcAft>
              <a:defRPr sz="1400">
                <a:solidFill>
                  <a:srgbClr val="424242"/>
                </a:solidFill>
                <a:latin typeface="Calibri"/>
              </a:defRPr>
            </a:pPr>
            <a:r>
              <a:t>▸ Phát hiện nhanh đối tượng liên quan đến vi phạm</a:t>
            </a:r>
          </a:p>
          <a:p>
            <a:pPr algn="l">
              <a:lnSpc>
                <a:spcPts val="1959"/>
              </a:lnSpc>
              <a:spcAft>
                <a:spcPts val="600"/>
              </a:spcAft>
              <a:defRPr sz="1400">
                <a:solidFill>
                  <a:srgbClr val="424242"/>
                </a:solidFill>
                <a:latin typeface="Calibri"/>
              </a:defRPr>
            </a:pPr>
            <a:r>
              <a:t>▸ Đầu ra là bounding box + confidence score</a:t>
            </a:r>
          </a:p>
          <a:p>
            <a:pPr algn="l">
              <a:lnSpc>
                <a:spcPts val="1959"/>
              </a:lnSpc>
              <a:spcAft>
                <a:spcPts val="600"/>
              </a:spcAft>
              <a:defRPr sz="1400">
                <a:solidFill>
                  <a:srgbClr val="424242"/>
                </a:solidFill>
                <a:latin typeface="Calibri"/>
              </a:defRPr>
            </a:pPr>
            <a:r>
              <a:t>▸ Kết hợp với MediaPipe Pose để xác thực ngữ cảnh</a:t>
            </a:r>
          </a:p>
          <a:p>
            <a:pPr algn="l">
              <a:lnSpc>
                <a:spcPts val="1959"/>
              </a:lnSpc>
              <a:spcAft>
                <a:spcPts val="600"/>
              </a:spcAft>
              <a:defRPr sz="1400">
                <a:solidFill>
                  <a:srgbClr val="424242"/>
                </a:solidFill>
                <a:latin typeface="Calibri"/>
              </a:defRPr>
            </a:pPr>
            <a:r>
              <a:t>▸ Tốc độ nhanh, phù hợp thời gian thực trên Edge</a:t>
            </a:r>
          </a:p>
          <a:p>
            <a:pPr algn="l">
              <a:lnSpc>
                <a:spcPts val="1959"/>
              </a:lnSpc>
              <a:spcAft>
                <a:spcPts val="600"/>
              </a:spcAft>
              <a:defRPr sz="1400">
                <a:solidFill>
                  <a:srgbClr val="424242"/>
                </a:solidFill>
                <a:latin typeface="Calibri"/>
              </a:defRPr>
            </a:pPr>
            <a:r>
              <a:t>▸ Mô hình: YOLO11m (Ultralytics), imgsz=768</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0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37160"/>
            <a:ext cx="10058400" cy="640080"/>
          </a:xfrm>
          <a:prstGeom prst="rect">
            <a:avLst/>
          </a:prstGeom>
          <a:noFill/>
        </p:spPr>
        <p:txBody>
          <a:bodyPr wrap="square">
            <a:spAutoFit/>
          </a:bodyPr>
          <a:lstStyle/>
          <a:p>
            <a:pPr algn="l">
              <a:lnSpc>
                <a:spcPts val="3840"/>
              </a:lnSpc>
              <a:spcAft>
                <a:spcPts val="0"/>
              </a:spcAft>
              <a:defRPr sz="3200" b="1">
                <a:solidFill>
                  <a:srgbClr val="FFFFFF"/>
                </a:solidFill>
                <a:latin typeface="Calibri"/>
              </a:defRPr>
            </a:pPr>
            <a:r>
              <a:t>MEDIAPIPE POSE – ƯỚC LƯỢNG TƯ THẾ</a:t>
            </a:r>
          </a:p>
        </p:txBody>
      </p:sp>
      <p:sp>
        <p:nvSpPr>
          <p:cNvPr id="4" name="TextBox 3"/>
          <p:cNvSpPr txBox="1"/>
          <p:nvPr/>
        </p:nvSpPr>
        <p:spPr>
          <a:xfrm>
            <a:off x="731520" y="685800"/>
            <a:ext cx="10058400" cy="365760"/>
          </a:xfrm>
          <a:prstGeom prst="rect">
            <a:avLst/>
          </a:prstGeom>
          <a:noFill/>
        </p:spPr>
        <p:txBody>
          <a:bodyPr wrap="square">
            <a:spAutoFit/>
          </a:bodyPr>
          <a:lstStyle/>
          <a:p>
            <a:pPr algn="l">
              <a:lnSpc>
                <a:spcPts val="1920"/>
              </a:lnSpc>
              <a:spcAft>
                <a:spcPts val="0"/>
              </a:spcAft>
              <a:defRPr sz="1600" b="0">
                <a:solidFill>
                  <a:srgbClr val="42A5F5"/>
                </a:solidFill>
                <a:latin typeface="Calibri"/>
              </a:defRPr>
            </a:pPr>
            <a:r>
              <a:t>Chương 2.2: 13 landmarks quan trọng</a:t>
            </a:r>
          </a:p>
        </p:txBody>
      </p:sp>
      <p:sp>
        <p:nvSpPr>
          <p:cNvPr id="5" name="Rectangle 4"/>
          <p:cNvSpPr/>
          <p:nvPr/>
        </p:nvSpPr>
        <p:spPr>
          <a:xfrm>
            <a:off x="0" y="1097280"/>
            <a:ext cx="12191695" cy="4572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492240"/>
            <a:ext cx="12191695" cy="365760"/>
          </a:xfrm>
          <a:prstGeom prst="rect">
            <a:avLst/>
          </a:prstGeom>
          <a:solidFill>
            <a:srgbClr val="0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10528"/>
            <a:ext cx="10972800" cy="320040"/>
          </a:xfrm>
          <a:prstGeom prst="rect">
            <a:avLst/>
          </a:prstGeom>
          <a:noFill/>
        </p:spPr>
        <p:txBody>
          <a:bodyPr wrap="square">
            <a:spAutoFit/>
          </a:bodyPr>
          <a:lstStyle/>
          <a:p>
            <a:pPr algn="ctr">
              <a:lnSpc>
                <a:spcPts val="1200"/>
              </a:lnSpc>
              <a:spcAft>
                <a:spcPts val="0"/>
              </a:spcAft>
              <a:defRPr sz="1000" b="0">
                <a:solidFill>
                  <a:srgbClr val="BBDEFB"/>
                </a:solidFill>
                <a:latin typeface="Calibri"/>
              </a:defRPr>
            </a:pPr>
            <a:r>
              <a:t>La Đại Lộc | MSSV: 4551050116 | GVHD: TS. Nguyễn Thanh Bình | Trường Đại học Quy Nhơn</a:t>
            </a:r>
          </a:p>
        </p:txBody>
      </p:sp>
      <p:sp>
        <p:nvSpPr>
          <p:cNvPr id="8" name="TextBox 7"/>
          <p:cNvSpPr txBox="1"/>
          <p:nvPr/>
        </p:nvSpPr>
        <p:spPr>
          <a:xfrm>
            <a:off x="731520" y="1463040"/>
            <a:ext cx="5029200" cy="365760"/>
          </a:xfrm>
          <a:prstGeom prst="rect">
            <a:avLst/>
          </a:prstGeom>
          <a:noFill/>
        </p:spPr>
        <p:txBody>
          <a:bodyPr wrap="square">
            <a:spAutoFit/>
          </a:bodyPr>
          <a:lstStyle/>
          <a:p>
            <a:pPr algn="l">
              <a:lnSpc>
                <a:spcPts val="1920"/>
              </a:lnSpc>
              <a:spcAft>
                <a:spcPts val="0"/>
              </a:spcAft>
              <a:defRPr sz="1600" b="1">
                <a:solidFill>
                  <a:srgbClr val="0A2E5C"/>
                </a:solidFill>
                <a:latin typeface="Calibri"/>
              </a:defRPr>
            </a:pPr>
            <a:r>
              <a:t>13 điểm mốc sử dụng trong hệ thống</a:t>
            </a:r>
          </a:p>
        </p:txBody>
      </p:sp>
      <p:graphicFrame>
        <p:nvGraphicFramePr>
          <p:cNvPr id="9" name="Table 8"/>
          <p:cNvGraphicFramePr>
            <a:graphicFrameLocks noGrp="1"/>
          </p:cNvGraphicFramePr>
          <p:nvPr/>
        </p:nvGraphicFramePr>
        <p:xfrm>
          <a:off x="457200" y="2011680"/>
          <a:ext cx="5760720" cy="3840480"/>
        </p:xfrm>
        <a:graphic>
          <a:graphicData uri="http://schemas.openxmlformats.org/drawingml/2006/table">
            <a:tbl>
              <a:tblPr firstRow="1" bandRow="1">
                <a:tableStyleId>{5C22544A-7EE6-4342-B048-85BDC9FD1C3A}</a:tableStyleId>
              </a:tblPr>
              <a:tblGrid>
                <a:gridCol w="64008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tblGrid>
              <a:tr h="480060">
                <a:tc>
                  <a:txBody>
                    <a:bodyPr/>
                    <a:lstStyle/>
                    <a:p>
                      <a:pPr algn="ctr">
                        <a:defRPr sz="1200" b="1">
                          <a:solidFill>
                            <a:srgbClr val="FFFFFF"/>
                          </a:solidFill>
                          <a:latin typeface="Calibri"/>
                        </a:defRPr>
                      </a:pPr>
                      <a:r>
                        <a:t>STT</a:t>
                      </a:r>
                    </a:p>
                  </a:txBody>
                  <a:tcPr>
                    <a:solidFill>
                      <a:srgbClr val="0A2E5C"/>
                    </a:solidFill>
                  </a:tcPr>
                </a:tc>
                <a:tc>
                  <a:txBody>
                    <a:bodyPr/>
                    <a:lstStyle/>
                    <a:p>
                      <a:pPr algn="ctr">
                        <a:defRPr sz="1200" b="1">
                          <a:solidFill>
                            <a:srgbClr val="FFFFFF"/>
                          </a:solidFill>
                          <a:latin typeface="Calibri"/>
                        </a:defRPr>
                      </a:pPr>
                      <a:r>
                        <a:t>Điểm mốc</a:t>
                      </a:r>
                    </a:p>
                  </a:txBody>
                  <a:tcPr>
                    <a:solidFill>
                      <a:srgbClr val="0A2E5C"/>
                    </a:solidFill>
                  </a:tcPr>
                </a:tc>
                <a:tc>
                  <a:txBody>
                    <a:bodyPr/>
                    <a:lstStyle/>
                    <a:p>
                      <a:pPr algn="ctr">
                        <a:defRPr sz="1200" b="1">
                          <a:solidFill>
                            <a:srgbClr val="FFFFFF"/>
                          </a:solidFill>
                          <a:latin typeface="Calibri"/>
                        </a:defRPr>
                      </a:pPr>
                      <a:r>
                        <a:t>Vùng</a:t>
                      </a:r>
                    </a:p>
                  </a:txBody>
                  <a:tcPr>
                    <a:solidFill>
                      <a:srgbClr val="0A2E5C"/>
                    </a:solidFill>
                  </a:tcPr>
                </a:tc>
                <a:tc>
                  <a:txBody>
                    <a:bodyPr/>
                    <a:lstStyle/>
                    <a:p>
                      <a:pPr algn="ctr">
                        <a:defRPr sz="1200" b="1">
                          <a:solidFill>
                            <a:srgbClr val="FFFFFF"/>
                          </a:solidFill>
                          <a:latin typeface="Calibri"/>
                        </a:defRPr>
                      </a:pPr>
                      <a:r>
                        <a:t>Vai trò</a:t>
                      </a:r>
                    </a:p>
                  </a:txBody>
                  <a:tcPr>
                    <a:solidFill>
                      <a:srgbClr val="0A2E5C"/>
                    </a:solidFill>
                  </a:tcPr>
                </a:tc>
                <a:extLst>
                  <a:ext uri="{0D108BD9-81ED-4DB2-BD59-A6C34878D82A}">
                    <a16:rowId xmlns:a16="http://schemas.microsoft.com/office/drawing/2014/main" val="10000"/>
                  </a:ext>
                </a:extLst>
              </a:tr>
              <a:tr h="480060">
                <a:tc>
                  <a:txBody>
                    <a:bodyPr/>
                    <a:lstStyle/>
                    <a:p>
                      <a:pPr algn="ctr">
                        <a:defRPr sz="1200">
                          <a:solidFill>
                            <a:srgbClr val="424242"/>
                          </a:solidFill>
                          <a:latin typeface="Calibri"/>
                        </a:defRPr>
                      </a:pPr>
                      <a:r>
                        <a:t>1</a:t>
                      </a:r>
                    </a:p>
                  </a:txBody>
                  <a:tcPr>
                    <a:solidFill>
                      <a:srgbClr val="FFFFFF"/>
                    </a:solidFill>
                  </a:tcPr>
                </a:tc>
                <a:tc>
                  <a:txBody>
                    <a:bodyPr/>
                    <a:lstStyle/>
                    <a:p>
                      <a:pPr algn="ctr">
                        <a:defRPr sz="1200">
                          <a:solidFill>
                            <a:srgbClr val="424242"/>
                          </a:solidFill>
                          <a:latin typeface="Calibri"/>
                        </a:defRPr>
                      </a:pPr>
                      <a:r>
                        <a:t>nose</a:t>
                      </a:r>
                    </a:p>
                  </a:txBody>
                  <a:tcPr>
                    <a:solidFill>
                      <a:srgbClr val="FFFFFF"/>
                    </a:solidFill>
                  </a:tcPr>
                </a:tc>
                <a:tc>
                  <a:txBody>
                    <a:bodyPr/>
                    <a:lstStyle/>
                    <a:p>
                      <a:pPr algn="ctr">
                        <a:defRPr sz="1200">
                          <a:solidFill>
                            <a:srgbClr val="424242"/>
                          </a:solidFill>
                          <a:latin typeface="Calibri"/>
                        </a:defRPr>
                      </a:pPr>
                      <a:r>
                        <a:t>Mặt</a:t>
                      </a:r>
                    </a:p>
                  </a:txBody>
                  <a:tcPr>
                    <a:solidFill>
                      <a:srgbClr val="FFFFFF"/>
                    </a:solidFill>
                  </a:tcPr>
                </a:tc>
                <a:tc>
                  <a:txBody>
                    <a:bodyPr/>
                    <a:lstStyle/>
                    <a:p>
                      <a:pPr algn="ctr">
                        <a:defRPr sz="1200">
                          <a:solidFill>
                            <a:srgbClr val="424242"/>
                          </a:solidFill>
                          <a:latin typeface="Calibri"/>
                        </a:defRPr>
                      </a:pPr>
                      <a:r>
                        <a:t>Xác định vị trí đầu</a:t>
                      </a:r>
                    </a:p>
                  </a:txBody>
                  <a:tcPr>
                    <a:solidFill>
                      <a:srgbClr val="FFFFFF"/>
                    </a:solidFill>
                  </a:tcPr>
                </a:tc>
                <a:extLst>
                  <a:ext uri="{0D108BD9-81ED-4DB2-BD59-A6C34878D82A}">
                    <a16:rowId xmlns:a16="http://schemas.microsoft.com/office/drawing/2014/main" val="10001"/>
                  </a:ext>
                </a:extLst>
              </a:tr>
              <a:tr h="480060">
                <a:tc>
                  <a:txBody>
                    <a:bodyPr/>
                    <a:lstStyle/>
                    <a:p>
                      <a:pPr algn="ctr">
                        <a:defRPr sz="1200">
                          <a:solidFill>
                            <a:srgbClr val="424242"/>
                          </a:solidFill>
                          <a:latin typeface="Calibri"/>
                        </a:defRPr>
                      </a:pPr>
                      <a:r>
                        <a:t>2-3</a:t>
                      </a:r>
                    </a:p>
                  </a:txBody>
                  <a:tcPr>
                    <a:solidFill>
                      <a:srgbClr val="E3F2FD"/>
                    </a:solidFill>
                  </a:tcPr>
                </a:tc>
                <a:tc>
                  <a:txBody>
                    <a:bodyPr/>
                    <a:lstStyle/>
                    <a:p>
                      <a:pPr algn="ctr">
                        <a:defRPr sz="1200">
                          <a:solidFill>
                            <a:srgbClr val="424242"/>
                          </a:solidFill>
                          <a:latin typeface="Calibri"/>
                        </a:defRPr>
                      </a:pPr>
                      <a:r>
                        <a:t>left/right_ear</a:t>
                      </a:r>
                    </a:p>
                  </a:txBody>
                  <a:tcPr>
                    <a:solidFill>
                      <a:srgbClr val="E3F2FD"/>
                    </a:solidFill>
                  </a:tcPr>
                </a:tc>
                <a:tc>
                  <a:txBody>
                    <a:bodyPr/>
                    <a:lstStyle/>
                    <a:p>
                      <a:pPr algn="ctr">
                        <a:defRPr sz="1200">
                          <a:solidFill>
                            <a:srgbClr val="424242"/>
                          </a:solidFill>
                          <a:latin typeface="Calibri"/>
                        </a:defRPr>
                      </a:pPr>
                      <a:r>
                        <a:t>Mặt</a:t>
                      </a:r>
                    </a:p>
                  </a:txBody>
                  <a:tcPr>
                    <a:solidFill>
                      <a:srgbClr val="E3F2FD"/>
                    </a:solidFill>
                  </a:tcPr>
                </a:tc>
                <a:tc>
                  <a:txBody>
                    <a:bodyPr/>
                    <a:lstStyle/>
                    <a:p>
                      <a:pPr algn="ctr">
                        <a:defRPr sz="1200">
                          <a:solidFill>
                            <a:srgbClr val="424242"/>
                          </a:solidFill>
                          <a:latin typeface="Calibri"/>
                        </a:defRPr>
                      </a:pPr>
                      <a:r>
                        <a:t>Hướng đầu</a:t>
                      </a:r>
                    </a:p>
                  </a:txBody>
                  <a:tcPr>
                    <a:solidFill>
                      <a:srgbClr val="E3F2FD"/>
                    </a:solidFill>
                  </a:tcPr>
                </a:tc>
                <a:extLst>
                  <a:ext uri="{0D108BD9-81ED-4DB2-BD59-A6C34878D82A}">
                    <a16:rowId xmlns:a16="http://schemas.microsoft.com/office/drawing/2014/main" val="10002"/>
                  </a:ext>
                </a:extLst>
              </a:tr>
              <a:tr h="480060">
                <a:tc>
                  <a:txBody>
                    <a:bodyPr/>
                    <a:lstStyle/>
                    <a:p>
                      <a:pPr algn="ctr">
                        <a:defRPr sz="1200">
                          <a:solidFill>
                            <a:srgbClr val="424242"/>
                          </a:solidFill>
                          <a:latin typeface="Calibri"/>
                        </a:defRPr>
                      </a:pPr>
                      <a:r>
                        <a:t>4-5</a:t>
                      </a:r>
                    </a:p>
                  </a:txBody>
                  <a:tcPr>
                    <a:solidFill>
                      <a:srgbClr val="FFFFFF"/>
                    </a:solidFill>
                  </a:tcPr>
                </a:tc>
                <a:tc>
                  <a:txBody>
                    <a:bodyPr/>
                    <a:lstStyle/>
                    <a:p>
                      <a:pPr algn="ctr">
                        <a:defRPr sz="1200">
                          <a:solidFill>
                            <a:srgbClr val="424242"/>
                          </a:solidFill>
                          <a:latin typeface="Calibri"/>
                        </a:defRPr>
                      </a:pPr>
                      <a:r>
                        <a:t>mouth_left/right</a:t>
                      </a:r>
                    </a:p>
                  </a:txBody>
                  <a:tcPr>
                    <a:solidFill>
                      <a:srgbClr val="FFFFFF"/>
                    </a:solidFill>
                  </a:tcPr>
                </a:tc>
                <a:tc>
                  <a:txBody>
                    <a:bodyPr/>
                    <a:lstStyle/>
                    <a:p>
                      <a:pPr algn="ctr">
                        <a:defRPr sz="1200">
                          <a:solidFill>
                            <a:srgbClr val="424242"/>
                          </a:solidFill>
                          <a:latin typeface="Calibri"/>
                        </a:defRPr>
                      </a:pPr>
                      <a:r>
                        <a:t>Mặt</a:t>
                      </a:r>
                    </a:p>
                  </a:txBody>
                  <a:tcPr>
                    <a:solidFill>
                      <a:srgbClr val="FFFFFF"/>
                    </a:solidFill>
                  </a:tcPr>
                </a:tc>
                <a:tc>
                  <a:txBody>
                    <a:bodyPr/>
                    <a:lstStyle/>
                    <a:p>
                      <a:pPr algn="ctr">
                        <a:defRPr sz="1200">
                          <a:solidFill>
                            <a:srgbClr val="424242"/>
                          </a:solidFill>
                          <a:latin typeface="Calibri"/>
                        </a:defRPr>
                      </a:pPr>
                      <a:r>
                        <a:t>Hút thuốc (gần miệng)</a:t>
                      </a:r>
                    </a:p>
                  </a:txBody>
                  <a:tcPr>
                    <a:solidFill>
                      <a:srgbClr val="FFFFFF"/>
                    </a:solidFill>
                  </a:tcPr>
                </a:tc>
                <a:extLst>
                  <a:ext uri="{0D108BD9-81ED-4DB2-BD59-A6C34878D82A}">
                    <a16:rowId xmlns:a16="http://schemas.microsoft.com/office/drawing/2014/main" val="10003"/>
                  </a:ext>
                </a:extLst>
              </a:tr>
              <a:tr h="480060">
                <a:tc>
                  <a:txBody>
                    <a:bodyPr/>
                    <a:lstStyle/>
                    <a:p>
                      <a:pPr algn="ctr">
                        <a:defRPr sz="1200">
                          <a:solidFill>
                            <a:srgbClr val="424242"/>
                          </a:solidFill>
                          <a:latin typeface="Calibri"/>
                        </a:defRPr>
                      </a:pPr>
                      <a:r>
                        <a:t>6-7</a:t>
                      </a:r>
                    </a:p>
                  </a:txBody>
                  <a:tcPr>
                    <a:solidFill>
                      <a:srgbClr val="E3F2FD"/>
                    </a:solidFill>
                  </a:tcPr>
                </a:tc>
                <a:tc>
                  <a:txBody>
                    <a:bodyPr/>
                    <a:lstStyle/>
                    <a:p>
                      <a:pPr algn="ctr">
                        <a:defRPr sz="1200">
                          <a:solidFill>
                            <a:srgbClr val="424242"/>
                          </a:solidFill>
                          <a:latin typeface="Calibri"/>
                        </a:defRPr>
                      </a:pPr>
                      <a:r>
                        <a:t>left/right_shoulder</a:t>
                      </a:r>
                    </a:p>
                  </a:txBody>
                  <a:tcPr>
                    <a:solidFill>
                      <a:srgbClr val="E3F2FD"/>
                    </a:solidFill>
                  </a:tcPr>
                </a:tc>
                <a:tc>
                  <a:txBody>
                    <a:bodyPr/>
                    <a:lstStyle/>
                    <a:p>
                      <a:pPr algn="ctr">
                        <a:defRPr sz="1200">
                          <a:solidFill>
                            <a:srgbClr val="424242"/>
                          </a:solidFill>
                          <a:latin typeface="Calibri"/>
                        </a:defRPr>
                      </a:pPr>
                      <a:r>
                        <a:t>Thân trên</a:t>
                      </a:r>
                    </a:p>
                  </a:txBody>
                  <a:tcPr>
                    <a:solidFill>
                      <a:srgbClr val="E3F2FD"/>
                    </a:solidFill>
                  </a:tcPr>
                </a:tc>
                <a:tc>
                  <a:txBody>
                    <a:bodyPr/>
                    <a:lstStyle/>
                    <a:p>
                      <a:pPr algn="ctr">
                        <a:defRPr sz="1200">
                          <a:solidFill>
                            <a:srgbClr val="424242"/>
                          </a:solidFill>
                          <a:latin typeface="Calibri"/>
                        </a:defRPr>
                      </a:pPr>
                      <a:r>
                        <a:t>Driver ROI, Chest ROI</a:t>
                      </a:r>
                    </a:p>
                  </a:txBody>
                  <a:tcPr>
                    <a:solidFill>
                      <a:srgbClr val="E3F2FD"/>
                    </a:solidFill>
                  </a:tcPr>
                </a:tc>
                <a:extLst>
                  <a:ext uri="{0D108BD9-81ED-4DB2-BD59-A6C34878D82A}">
                    <a16:rowId xmlns:a16="http://schemas.microsoft.com/office/drawing/2014/main" val="10004"/>
                  </a:ext>
                </a:extLst>
              </a:tr>
              <a:tr h="480060">
                <a:tc>
                  <a:txBody>
                    <a:bodyPr/>
                    <a:lstStyle/>
                    <a:p>
                      <a:pPr algn="ctr">
                        <a:defRPr sz="1200">
                          <a:solidFill>
                            <a:srgbClr val="424242"/>
                          </a:solidFill>
                          <a:latin typeface="Calibri"/>
                        </a:defRPr>
                      </a:pPr>
                      <a:r>
                        <a:t>8-9</a:t>
                      </a:r>
                    </a:p>
                  </a:txBody>
                  <a:tcPr>
                    <a:solidFill>
                      <a:srgbClr val="FFFFFF"/>
                    </a:solidFill>
                  </a:tcPr>
                </a:tc>
                <a:tc>
                  <a:txBody>
                    <a:bodyPr/>
                    <a:lstStyle/>
                    <a:p>
                      <a:pPr algn="ctr">
                        <a:defRPr sz="1200">
                          <a:solidFill>
                            <a:srgbClr val="424242"/>
                          </a:solidFill>
                          <a:latin typeface="Calibri"/>
                        </a:defRPr>
                      </a:pPr>
                      <a:r>
                        <a:t>left/right_elbow</a:t>
                      </a:r>
                    </a:p>
                  </a:txBody>
                  <a:tcPr>
                    <a:solidFill>
                      <a:srgbClr val="FFFFFF"/>
                    </a:solidFill>
                  </a:tcPr>
                </a:tc>
                <a:tc>
                  <a:txBody>
                    <a:bodyPr/>
                    <a:lstStyle/>
                    <a:p>
                      <a:pPr algn="ctr">
                        <a:defRPr sz="1200">
                          <a:solidFill>
                            <a:srgbClr val="424242"/>
                          </a:solidFill>
                          <a:latin typeface="Calibri"/>
                        </a:defRPr>
                      </a:pPr>
                      <a:r>
                        <a:t>Tay</a:t>
                      </a:r>
                    </a:p>
                  </a:txBody>
                  <a:tcPr>
                    <a:solidFill>
                      <a:srgbClr val="FFFFFF"/>
                    </a:solidFill>
                  </a:tcPr>
                </a:tc>
                <a:tc>
                  <a:txBody>
                    <a:bodyPr/>
                    <a:lstStyle/>
                    <a:p>
                      <a:pPr algn="ctr">
                        <a:defRPr sz="1200">
                          <a:solidFill>
                            <a:srgbClr val="424242"/>
                          </a:solidFill>
                          <a:latin typeface="Calibri"/>
                        </a:defRPr>
                      </a:pPr>
                      <a:r>
                        <a:t>Ngữ cảnh thao tác tay</a:t>
                      </a:r>
                    </a:p>
                  </a:txBody>
                  <a:tcPr>
                    <a:solidFill>
                      <a:srgbClr val="FFFFFF"/>
                    </a:solidFill>
                  </a:tcPr>
                </a:tc>
                <a:extLst>
                  <a:ext uri="{0D108BD9-81ED-4DB2-BD59-A6C34878D82A}">
                    <a16:rowId xmlns:a16="http://schemas.microsoft.com/office/drawing/2014/main" val="10005"/>
                  </a:ext>
                </a:extLst>
              </a:tr>
              <a:tr h="480060">
                <a:tc>
                  <a:txBody>
                    <a:bodyPr/>
                    <a:lstStyle/>
                    <a:p>
                      <a:pPr algn="ctr">
                        <a:defRPr sz="1200">
                          <a:solidFill>
                            <a:srgbClr val="424242"/>
                          </a:solidFill>
                          <a:latin typeface="Calibri"/>
                        </a:defRPr>
                      </a:pPr>
                      <a:r>
                        <a:t>10-11</a:t>
                      </a:r>
                    </a:p>
                  </a:txBody>
                  <a:tcPr>
                    <a:solidFill>
                      <a:srgbClr val="E3F2FD"/>
                    </a:solidFill>
                  </a:tcPr>
                </a:tc>
                <a:tc>
                  <a:txBody>
                    <a:bodyPr/>
                    <a:lstStyle/>
                    <a:p>
                      <a:pPr algn="ctr">
                        <a:defRPr sz="1200">
                          <a:solidFill>
                            <a:srgbClr val="424242"/>
                          </a:solidFill>
                          <a:latin typeface="Calibri"/>
                        </a:defRPr>
                      </a:pPr>
                      <a:r>
                        <a:t>left/right_wrist</a:t>
                      </a:r>
                    </a:p>
                  </a:txBody>
                  <a:tcPr>
                    <a:solidFill>
                      <a:srgbClr val="E3F2FD"/>
                    </a:solidFill>
                  </a:tcPr>
                </a:tc>
                <a:tc>
                  <a:txBody>
                    <a:bodyPr/>
                    <a:lstStyle/>
                    <a:p>
                      <a:pPr algn="ctr">
                        <a:defRPr sz="1200">
                          <a:solidFill>
                            <a:srgbClr val="424242"/>
                          </a:solidFill>
                          <a:latin typeface="Calibri"/>
                        </a:defRPr>
                      </a:pPr>
                      <a:r>
                        <a:t>Tay</a:t>
                      </a:r>
                    </a:p>
                  </a:txBody>
                  <a:tcPr>
                    <a:solidFill>
                      <a:srgbClr val="E3F2FD"/>
                    </a:solidFill>
                  </a:tcPr>
                </a:tc>
                <a:tc>
                  <a:txBody>
                    <a:bodyPr/>
                    <a:lstStyle/>
                    <a:p>
                      <a:pPr algn="ctr">
                        <a:defRPr sz="1200">
                          <a:solidFill>
                            <a:srgbClr val="424242"/>
                          </a:solidFill>
                          <a:latin typeface="Calibri"/>
                        </a:defRPr>
                      </a:pPr>
                      <a:r>
                        <a:t>Proximity với vật thể</a:t>
                      </a:r>
                    </a:p>
                  </a:txBody>
                  <a:tcPr>
                    <a:solidFill>
                      <a:srgbClr val="E3F2FD"/>
                    </a:solidFill>
                  </a:tcPr>
                </a:tc>
                <a:extLst>
                  <a:ext uri="{0D108BD9-81ED-4DB2-BD59-A6C34878D82A}">
                    <a16:rowId xmlns:a16="http://schemas.microsoft.com/office/drawing/2014/main" val="10006"/>
                  </a:ext>
                </a:extLst>
              </a:tr>
              <a:tr h="480060">
                <a:tc>
                  <a:txBody>
                    <a:bodyPr/>
                    <a:lstStyle/>
                    <a:p>
                      <a:pPr algn="ctr">
                        <a:defRPr sz="1200">
                          <a:solidFill>
                            <a:srgbClr val="424242"/>
                          </a:solidFill>
                          <a:latin typeface="Calibri"/>
                        </a:defRPr>
                      </a:pPr>
                      <a:r>
                        <a:t>12-13</a:t>
                      </a:r>
                    </a:p>
                  </a:txBody>
                  <a:tcPr>
                    <a:solidFill>
                      <a:srgbClr val="FFFFFF"/>
                    </a:solidFill>
                  </a:tcPr>
                </a:tc>
                <a:tc>
                  <a:txBody>
                    <a:bodyPr/>
                    <a:lstStyle/>
                    <a:p>
                      <a:pPr algn="ctr">
                        <a:defRPr sz="1200">
                          <a:solidFill>
                            <a:srgbClr val="424242"/>
                          </a:solidFill>
                          <a:latin typeface="Calibri"/>
                        </a:defRPr>
                      </a:pPr>
                      <a:r>
                        <a:t>left/right_hip</a:t>
                      </a:r>
                    </a:p>
                  </a:txBody>
                  <a:tcPr>
                    <a:solidFill>
                      <a:srgbClr val="FFFFFF"/>
                    </a:solidFill>
                  </a:tcPr>
                </a:tc>
                <a:tc>
                  <a:txBody>
                    <a:bodyPr/>
                    <a:lstStyle/>
                    <a:p>
                      <a:pPr algn="ctr">
                        <a:defRPr sz="1200">
                          <a:solidFill>
                            <a:srgbClr val="424242"/>
                          </a:solidFill>
                          <a:latin typeface="Calibri"/>
                        </a:defRPr>
                      </a:pPr>
                      <a:r>
                        <a:t>Thân dưới</a:t>
                      </a:r>
                    </a:p>
                  </a:txBody>
                  <a:tcPr>
                    <a:solidFill>
                      <a:srgbClr val="FFFFFF"/>
                    </a:solidFill>
                  </a:tcPr>
                </a:tc>
                <a:tc>
                  <a:txBody>
                    <a:bodyPr/>
                    <a:lstStyle/>
                    <a:p>
                      <a:pPr algn="ctr">
                        <a:defRPr sz="1200">
                          <a:solidFill>
                            <a:srgbClr val="424242"/>
                          </a:solidFill>
                          <a:latin typeface="Calibri"/>
                        </a:defRPr>
                      </a:pPr>
                      <a:r>
                        <a:t>Fallback shoulder width</a:t>
                      </a:r>
                    </a:p>
                  </a:txBody>
                  <a:tcPr>
                    <a:solidFill>
                      <a:srgbClr val="FFFFFF"/>
                    </a:solidFill>
                  </a:tcPr>
                </a:tc>
                <a:extLst>
                  <a:ext uri="{0D108BD9-81ED-4DB2-BD59-A6C34878D82A}">
                    <a16:rowId xmlns:a16="http://schemas.microsoft.com/office/drawing/2014/main" val="10007"/>
                  </a:ext>
                </a:extLst>
              </a:tr>
            </a:tbl>
          </a:graphicData>
        </a:graphic>
      </p:graphicFrame>
      <p:sp>
        <p:nvSpPr>
          <p:cNvPr id="10" name="TextBox 9"/>
          <p:cNvSpPr txBox="1"/>
          <p:nvPr/>
        </p:nvSpPr>
        <p:spPr>
          <a:xfrm>
            <a:off x="6583680" y="1463040"/>
            <a:ext cx="5029200" cy="365760"/>
          </a:xfrm>
          <a:prstGeom prst="rect">
            <a:avLst/>
          </a:prstGeom>
          <a:noFill/>
        </p:spPr>
        <p:txBody>
          <a:bodyPr wrap="square">
            <a:spAutoFit/>
          </a:bodyPr>
          <a:lstStyle/>
          <a:p>
            <a:pPr algn="l">
              <a:lnSpc>
                <a:spcPts val="1920"/>
              </a:lnSpc>
              <a:spcAft>
                <a:spcPts val="0"/>
              </a:spcAft>
              <a:defRPr sz="1600" b="1">
                <a:solidFill>
                  <a:srgbClr val="0A2E5C"/>
                </a:solidFill>
                <a:latin typeface="Calibri"/>
              </a:defRPr>
            </a:pPr>
            <a:r>
              <a:t>Vai trò trong hệ thống</a:t>
            </a:r>
          </a:p>
        </p:txBody>
      </p:sp>
      <p:sp>
        <p:nvSpPr>
          <p:cNvPr id="11" name="TextBox 10"/>
          <p:cNvSpPr txBox="1"/>
          <p:nvPr/>
        </p:nvSpPr>
        <p:spPr>
          <a:xfrm>
            <a:off x="6583680" y="2011680"/>
            <a:ext cx="5029200" cy="4114800"/>
          </a:xfrm>
          <a:prstGeom prst="rect">
            <a:avLst/>
          </a:prstGeom>
          <a:noFill/>
        </p:spPr>
        <p:txBody>
          <a:bodyPr wrap="square">
            <a:spAutoFit/>
          </a:bodyPr>
          <a:lstStyle/>
          <a:p>
            <a:pPr algn="l">
              <a:lnSpc>
                <a:spcPts val="1959"/>
              </a:lnSpc>
              <a:spcAft>
                <a:spcPts val="600"/>
              </a:spcAft>
              <a:defRPr sz="1400">
                <a:solidFill>
                  <a:srgbClr val="424242"/>
                </a:solidFill>
                <a:latin typeface="Calibri"/>
              </a:defRPr>
            </a:pPr>
            <a:r>
              <a:t>▸ Cung cấp hệ tọa độ sinh trắc học của tài xế</a:t>
            </a:r>
          </a:p>
          <a:p>
            <a:pPr algn="l">
              <a:lnSpc>
                <a:spcPts val="1959"/>
              </a:lnSpc>
              <a:spcAft>
                <a:spcPts val="600"/>
              </a:spcAft>
              <a:defRPr sz="1400">
                <a:solidFill>
                  <a:srgbClr val="424242"/>
                </a:solidFill>
                <a:latin typeface="Calibri"/>
              </a:defRPr>
            </a:pPr>
            <a:r>
              <a:t>▸ Xây dựng Driver ROI (vùng người lái)</a:t>
            </a:r>
          </a:p>
          <a:p>
            <a:pPr algn="l">
              <a:lnSpc>
                <a:spcPts val="1959"/>
              </a:lnSpc>
              <a:spcAft>
                <a:spcPts val="600"/>
              </a:spcAft>
              <a:defRPr sz="1400">
                <a:solidFill>
                  <a:srgbClr val="424242"/>
                </a:solidFill>
                <a:latin typeface="Calibri"/>
              </a:defRPr>
            </a:pPr>
            <a:r>
              <a:t>▸ Nội suy Chest ROI (vùng ngực) cho dây an toàn</a:t>
            </a:r>
          </a:p>
          <a:p>
            <a:pPr algn="l">
              <a:lnSpc>
                <a:spcPts val="1959"/>
              </a:lnSpc>
              <a:spcAft>
                <a:spcPts val="600"/>
              </a:spcAft>
              <a:defRPr sz="1400">
                <a:solidFill>
                  <a:srgbClr val="424242"/>
                </a:solidFill>
                <a:latin typeface="Calibri"/>
              </a:defRPr>
            </a:pPr>
            <a:r>
              <a:t>▸ Đo khoảng cách Euclidean giữa vật thể và cơ thể</a:t>
            </a:r>
          </a:p>
          <a:p>
            <a:pPr algn="l">
              <a:lnSpc>
                <a:spcPts val="1959"/>
              </a:lnSpc>
              <a:spcAft>
                <a:spcPts val="600"/>
              </a:spcAft>
              <a:defRPr sz="1400">
                <a:solidFill>
                  <a:srgbClr val="424242"/>
                </a:solidFill>
                <a:latin typeface="Calibri"/>
              </a:defRPr>
            </a:pPr>
            <a:r>
              <a:t>▸ Hỗ trợ làm mượt theo thời gian (giảm jitter)</a:t>
            </a:r>
          </a:p>
          <a:p>
            <a:pPr algn="l">
              <a:lnSpc>
                <a:spcPts val="1959"/>
              </a:lnSpc>
              <a:spcAft>
                <a:spcPts val="600"/>
              </a:spcAft>
              <a:defRPr sz="1400">
                <a:solidFill>
                  <a:srgbClr val="424242"/>
                </a:solidFill>
                <a:latin typeface="Calibri"/>
              </a:defRPr>
            </a:pPr>
            <a:r>
              <a:t>▸ Kiến trúc BlazePose – siêu nhẹ, phù hợp Edge</a:t>
            </a:r>
          </a:p>
          <a:p>
            <a:pPr algn="l">
              <a:lnSpc>
                <a:spcPts val="1959"/>
              </a:lnSpc>
              <a:spcAft>
                <a:spcPts val="600"/>
              </a:spcAft>
              <a:defRPr sz="1400">
                <a:solidFill>
                  <a:srgbClr val="424242"/>
                </a:solidFill>
                <a:latin typeface="Calibri"/>
              </a:defRPr>
            </a:pPr>
            <a:r>
              <a:t>▸ Filter theo visibility ≥ 0.35 để loại nhiễu</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0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37160"/>
            <a:ext cx="10058400" cy="640080"/>
          </a:xfrm>
          <a:prstGeom prst="rect">
            <a:avLst/>
          </a:prstGeom>
          <a:noFill/>
        </p:spPr>
        <p:txBody>
          <a:bodyPr wrap="square">
            <a:spAutoFit/>
          </a:bodyPr>
          <a:lstStyle/>
          <a:p>
            <a:pPr algn="l">
              <a:lnSpc>
                <a:spcPts val="3840"/>
              </a:lnSpc>
              <a:spcAft>
                <a:spcPts val="0"/>
              </a:spcAft>
              <a:defRPr sz="3200" b="1">
                <a:solidFill>
                  <a:srgbClr val="FFFFFF"/>
                </a:solidFill>
                <a:latin typeface="Calibri"/>
              </a:defRPr>
            </a:pPr>
            <a:r>
              <a:t>MÔ HÌNH SLOWFAST – NHẬN DIỆN HÀNH ĐỘNG</a:t>
            </a:r>
          </a:p>
        </p:txBody>
      </p:sp>
      <p:sp>
        <p:nvSpPr>
          <p:cNvPr id="4" name="TextBox 3"/>
          <p:cNvSpPr txBox="1"/>
          <p:nvPr/>
        </p:nvSpPr>
        <p:spPr>
          <a:xfrm>
            <a:off x="731520" y="685800"/>
            <a:ext cx="10058400" cy="365760"/>
          </a:xfrm>
          <a:prstGeom prst="rect">
            <a:avLst/>
          </a:prstGeom>
          <a:noFill/>
        </p:spPr>
        <p:txBody>
          <a:bodyPr wrap="square">
            <a:spAutoFit/>
          </a:bodyPr>
          <a:lstStyle/>
          <a:p>
            <a:pPr algn="l">
              <a:lnSpc>
                <a:spcPts val="1920"/>
              </a:lnSpc>
              <a:spcAft>
                <a:spcPts val="0"/>
              </a:spcAft>
              <a:defRPr sz="1600" b="0">
                <a:solidFill>
                  <a:srgbClr val="42A5F5"/>
                </a:solidFill>
                <a:latin typeface="Calibri"/>
              </a:defRPr>
            </a:pPr>
            <a:r>
              <a:t>Chương 2.3: Phân tích không gian – thời gian</a:t>
            </a:r>
          </a:p>
        </p:txBody>
      </p:sp>
      <p:sp>
        <p:nvSpPr>
          <p:cNvPr id="5" name="Rectangle 4"/>
          <p:cNvSpPr/>
          <p:nvPr/>
        </p:nvSpPr>
        <p:spPr>
          <a:xfrm>
            <a:off x="0" y="1097280"/>
            <a:ext cx="12191695" cy="4572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492240"/>
            <a:ext cx="12191695" cy="365760"/>
          </a:xfrm>
          <a:prstGeom prst="rect">
            <a:avLst/>
          </a:prstGeom>
          <a:solidFill>
            <a:srgbClr val="0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10528"/>
            <a:ext cx="10972800" cy="320040"/>
          </a:xfrm>
          <a:prstGeom prst="rect">
            <a:avLst/>
          </a:prstGeom>
          <a:noFill/>
        </p:spPr>
        <p:txBody>
          <a:bodyPr wrap="square">
            <a:spAutoFit/>
          </a:bodyPr>
          <a:lstStyle/>
          <a:p>
            <a:pPr algn="ctr">
              <a:lnSpc>
                <a:spcPts val="1200"/>
              </a:lnSpc>
              <a:spcAft>
                <a:spcPts val="0"/>
              </a:spcAft>
              <a:defRPr sz="1000" b="0">
                <a:solidFill>
                  <a:srgbClr val="BBDEFB"/>
                </a:solidFill>
                <a:latin typeface="Calibri"/>
              </a:defRPr>
            </a:pPr>
            <a:r>
              <a:t>La Đại Lộc | MSSV: 4551050116 | GVHD: TS. Nguyễn Thanh Bình | Trường Đại học Quy Nhơn</a:t>
            </a:r>
          </a:p>
        </p:txBody>
      </p:sp>
      <p:sp>
        <p:nvSpPr>
          <p:cNvPr id="8" name="TextBox 7"/>
          <p:cNvSpPr txBox="1"/>
          <p:nvPr/>
        </p:nvSpPr>
        <p:spPr>
          <a:xfrm>
            <a:off x="731520" y="1463040"/>
            <a:ext cx="10515600" cy="365760"/>
          </a:xfrm>
          <a:prstGeom prst="rect">
            <a:avLst/>
          </a:prstGeom>
          <a:noFill/>
        </p:spPr>
        <p:txBody>
          <a:bodyPr wrap="square">
            <a:spAutoFit/>
          </a:bodyPr>
          <a:lstStyle/>
          <a:p>
            <a:pPr algn="l">
              <a:lnSpc>
                <a:spcPts val="1920"/>
              </a:lnSpc>
              <a:spcAft>
                <a:spcPts val="0"/>
              </a:spcAft>
              <a:defRPr sz="1600" b="1">
                <a:solidFill>
                  <a:srgbClr val="0A2E5C"/>
                </a:solidFill>
                <a:latin typeface="Calibri"/>
              </a:defRPr>
            </a:pPr>
            <a:r>
              <a:t>Kiến trúc 2-Pathway: Slow Pathway + Fast Pathway</a:t>
            </a:r>
          </a:p>
        </p:txBody>
      </p:sp>
      <p:sp>
        <p:nvSpPr>
          <p:cNvPr id="9" name="Rounded Rectangle 8"/>
          <p:cNvSpPr/>
          <p:nvPr/>
        </p:nvSpPr>
        <p:spPr>
          <a:xfrm>
            <a:off x="731520" y="2103120"/>
            <a:ext cx="5029200" cy="1828800"/>
          </a:xfrm>
          <a:prstGeom prst="roundRect">
            <a:avLst/>
          </a:prstGeom>
          <a:solidFill>
            <a:srgbClr val="E3F2FD"/>
          </a:solidFill>
          <a:ln>
            <a:solidFill>
              <a:srgbClr val="144D8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2194560"/>
            <a:ext cx="5029200" cy="365760"/>
          </a:xfrm>
          <a:prstGeom prst="rect">
            <a:avLst/>
          </a:prstGeom>
          <a:noFill/>
        </p:spPr>
        <p:txBody>
          <a:bodyPr wrap="square">
            <a:spAutoFit/>
          </a:bodyPr>
          <a:lstStyle/>
          <a:p>
            <a:pPr algn="ctr">
              <a:lnSpc>
                <a:spcPts val="2160"/>
              </a:lnSpc>
              <a:spcAft>
                <a:spcPts val="0"/>
              </a:spcAft>
              <a:defRPr sz="1800" b="1">
                <a:solidFill>
                  <a:srgbClr val="144D8D"/>
                </a:solidFill>
                <a:latin typeface="Calibri"/>
              </a:defRPr>
            </a:pPr>
            <a:r>
              <a:t>🐢 Slow Pathway</a:t>
            </a:r>
          </a:p>
        </p:txBody>
      </p:sp>
      <p:sp>
        <p:nvSpPr>
          <p:cNvPr id="11" name="TextBox 10"/>
          <p:cNvSpPr txBox="1"/>
          <p:nvPr/>
        </p:nvSpPr>
        <p:spPr>
          <a:xfrm>
            <a:off x="1097280" y="2743200"/>
            <a:ext cx="4389120" cy="1097280"/>
          </a:xfrm>
          <a:prstGeom prst="rect">
            <a:avLst/>
          </a:prstGeom>
          <a:noFill/>
        </p:spPr>
        <p:txBody>
          <a:bodyPr wrap="square">
            <a:spAutoFit/>
          </a:bodyPr>
          <a:lstStyle/>
          <a:p>
            <a:pPr algn="l">
              <a:lnSpc>
                <a:spcPts val="1690"/>
              </a:lnSpc>
              <a:spcAft>
                <a:spcPts val="600"/>
              </a:spcAft>
              <a:defRPr sz="1300">
                <a:solidFill>
                  <a:srgbClr val="424242"/>
                </a:solidFill>
                <a:latin typeface="Calibri"/>
              </a:defRPr>
            </a:pPr>
            <a:r>
              <a:t>▸ Lấy mẫu thưa hơn (ít frame hơn)</a:t>
            </a:r>
          </a:p>
          <a:p>
            <a:pPr algn="l">
              <a:lnSpc>
                <a:spcPts val="1690"/>
              </a:lnSpc>
              <a:spcAft>
                <a:spcPts val="600"/>
              </a:spcAft>
              <a:defRPr sz="1300">
                <a:solidFill>
                  <a:srgbClr val="424242"/>
                </a:solidFill>
                <a:latin typeface="Calibri"/>
              </a:defRPr>
            </a:pPr>
            <a:r>
              <a:t>▸ Học đặc trưng ngữ nghĩa không gian ổn định</a:t>
            </a:r>
          </a:p>
          <a:p>
            <a:pPr algn="l">
              <a:lnSpc>
                <a:spcPts val="1690"/>
              </a:lnSpc>
              <a:spcAft>
                <a:spcPts val="600"/>
              </a:spcAft>
              <a:defRPr sz="1300">
                <a:solidFill>
                  <a:srgbClr val="424242"/>
                </a:solidFill>
                <a:latin typeface="Calibri"/>
              </a:defRPr>
            </a:pPr>
            <a:r>
              <a:t>▸ Bố cục cảnh, hình dạng vật thể, cấu trúc cơ thể</a:t>
            </a:r>
          </a:p>
        </p:txBody>
      </p:sp>
      <p:sp>
        <p:nvSpPr>
          <p:cNvPr id="12" name="Rounded Rectangle 11"/>
          <p:cNvSpPr/>
          <p:nvPr/>
        </p:nvSpPr>
        <p:spPr>
          <a:xfrm>
            <a:off x="6217920" y="2103120"/>
            <a:ext cx="5029200" cy="1828800"/>
          </a:xfrm>
          <a:prstGeom prst="roundRect">
            <a:avLst/>
          </a:prstGeom>
          <a:solidFill>
            <a:srgbClr val="FFF3E0"/>
          </a:solidFill>
          <a:ln>
            <a:solidFill>
              <a:srgbClr val="FF6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217920" y="2194560"/>
            <a:ext cx="5029200" cy="365760"/>
          </a:xfrm>
          <a:prstGeom prst="rect">
            <a:avLst/>
          </a:prstGeom>
          <a:noFill/>
        </p:spPr>
        <p:txBody>
          <a:bodyPr wrap="square">
            <a:spAutoFit/>
          </a:bodyPr>
          <a:lstStyle/>
          <a:p>
            <a:pPr algn="ctr">
              <a:lnSpc>
                <a:spcPts val="2160"/>
              </a:lnSpc>
              <a:spcAft>
                <a:spcPts val="0"/>
              </a:spcAft>
              <a:defRPr sz="1800" b="1">
                <a:solidFill>
                  <a:srgbClr val="FF6F00"/>
                </a:solidFill>
                <a:latin typeface="Calibri"/>
              </a:defRPr>
            </a:pPr>
            <a:r>
              <a:t>🐇 Fast Pathway</a:t>
            </a:r>
          </a:p>
        </p:txBody>
      </p:sp>
      <p:sp>
        <p:nvSpPr>
          <p:cNvPr id="14" name="TextBox 13"/>
          <p:cNvSpPr txBox="1"/>
          <p:nvPr/>
        </p:nvSpPr>
        <p:spPr>
          <a:xfrm>
            <a:off x="6583680" y="2743200"/>
            <a:ext cx="4389120" cy="1097280"/>
          </a:xfrm>
          <a:prstGeom prst="rect">
            <a:avLst/>
          </a:prstGeom>
          <a:noFill/>
        </p:spPr>
        <p:txBody>
          <a:bodyPr wrap="square">
            <a:spAutoFit/>
          </a:bodyPr>
          <a:lstStyle/>
          <a:p>
            <a:pPr algn="l">
              <a:lnSpc>
                <a:spcPts val="1690"/>
              </a:lnSpc>
              <a:spcAft>
                <a:spcPts val="600"/>
              </a:spcAft>
              <a:defRPr sz="1300">
                <a:solidFill>
                  <a:srgbClr val="424242"/>
                </a:solidFill>
                <a:latin typeface="Calibri"/>
              </a:defRPr>
            </a:pPr>
            <a:r>
              <a:t>▸ Lấy mẫu dày hơn (nhiều frame hơn)</a:t>
            </a:r>
          </a:p>
          <a:p>
            <a:pPr algn="l">
              <a:lnSpc>
                <a:spcPts val="1690"/>
              </a:lnSpc>
              <a:spcAft>
                <a:spcPts val="600"/>
              </a:spcAft>
              <a:defRPr sz="1300">
                <a:solidFill>
                  <a:srgbClr val="424242"/>
                </a:solidFill>
                <a:latin typeface="Calibri"/>
              </a:defRPr>
            </a:pPr>
            <a:r>
              <a:t>▸ Tập trung thông tin thời gian, chuyển động nhanh</a:t>
            </a:r>
          </a:p>
          <a:p>
            <a:pPr algn="l">
              <a:lnSpc>
                <a:spcPts val="1690"/>
              </a:lnSpc>
              <a:spcAft>
                <a:spcPts val="600"/>
              </a:spcAft>
              <a:defRPr sz="1300">
                <a:solidFill>
                  <a:srgbClr val="424242"/>
                </a:solidFill>
                <a:latin typeface="Calibri"/>
              </a:defRPr>
            </a:pPr>
            <a:r>
              <a:t>▸ Thiết kế nhẹ hơn về kênh đặc trưng</a:t>
            </a:r>
          </a:p>
        </p:txBody>
      </p:sp>
      <p:sp>
        <p:nvSpPr>
          <p:cNvPr id="15" name="Rectangle 14"/>
          <p:cNvSpPr/>
          <p:nvPr/>
        </p:nvSpPr>
        <p:spPr>
          <a:xfrm>
            <a:off x="5029200" y="2560320"/>
            <a:ext cx="1828800" cy="731520"/>
          </a:xfrm>
          <a:prstGeom prst="rect">
            <a:avLst/>
          </a:prstGeom>
          <a:solidFill>
            <a:srgbClr val="F3E5F5"/>
          </a:solidFill>
          <a:ln>
            <a:solidFill>
              <a:srgbClr val="6A1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029200" y="2651760"/>
            <a:ext cx="1828800" cy="548640"/>
          </a:xfrm>
          <a:prstGeom prst="rect">
            <a:avLst/>
          </a:prstGeom>
          <a:noFill/>
        </p:spPr>
        <p:txBody>
          <a:bodyPr wrap="square">
            <a:spAutoFit/>
          </a:bodyPr>
          <a:lstStyle/>
          <a:p>
            <a:pPr algn="ctr">
              <a:lnSpc>
                <a:spcPts val="1439"/>
              </a:lnSpc>
              <a:spcAft>
                <a:spcPts val="0"/>
              </a:spcAft>
              <a:defRPr sz="1200" b="1">
                <a:solidFill>
                  <a:srgbClr val="6A1B9A"/>
                </a:solidFill>
                <a:latin typeface="Calibri"/>
              </a:defRPr>
            </a:pPr>
            <a:r>
              <a:t>Lateral</a:t>
            </a:r>
            <a:br/>
            <a:r>
              <a:t>Connections</a:t>
            </a:r>
          </a:p>
        </p:txBody>
      </p:sp>
      <p:sp>
        <p:nvSpPr>
          <p:cNvPr id="17" name="TextBox 16"/>
          <p:cNvSpPr txBox="1"/>
          <p:nvPr/>
        </p:nvSpPr>
        <p:spPr>
          <a:xfrm>
            <a:off x="731520" y="4389120"/>
            <a:ext cx="10515600" cy="365760"/>
          </a:xfrm>
          <a:prstGeom prst="rect">
            <a:avLst/>
          </a:prstGeom>
          <a:noFill/>
        </p:spPr>
        <p:txBody>
          <a:bodyPr wrap="square">
            <a:spAutoFit/>
          </a:bodyPr>
          <a:lstStyle/>
          <a:p>
            <a:pPr algn="l">
              <a:lnSpc>
                <a:spcPts val="1920"/>
              </a:lnSpc>
              <a:spcAft>
                <a:spcPts val="0"/>
              </a:spcAft>
              <a:defRPr sz="1600" b="1">
                <a:solidFill>
                  <a:srgbClr val="0A2E5C"/>
                </a:solidFill>
                <a:latin typeface="Calibri"/>
              </a:defRPr>
            </a:pPr>
            <a:r>
              <a:t>Ứng dụng trong kiến trúc hệ thống</a:t>
            </a:r>
          </a:p>
        </p:txBody>
      </p:sp>
      <p:sp>
        <p:nvSpPr>
          <p:cNvPr id="18" name="TextBox 17"/>
          <p:cNvSpPr txBox="1"/>
          <p:nvPr/>
        </p:nvSpPr>
        <p:spPr>
          <a:xfrm>
            <a:off x="731520" y="4846320"/>
            <a:ext cx="10515600" cy="1371600"/>
          </a:xfrm>
          <a:prstGeom prst="rect">
            <a:avLst/>
          </a:prstGeom>
          <a:noFill/>
        </p:spPr>
        <p:txBody>
          <a:bodyPr wrap="square">
            <a:spAutoFit/>
          </a:bodyPr>
          <a:lstStyle/>
          <a:p>
            <a:pPr algn="l">
              <a:lnSpc>
                <a:spcPts val="1820"/>
              </a:lnSpc>
              <a:spcAft>
                <a:spcPts val="600"/>
              </a:spcAft>
              <a:defRPr sz="1400">
                <a:solidFill>
                  <a:srgbClr val="424242"/>
                </a:solidFill>
                <a:latin typeface="Calibri"/>
              </a:defRPr>
            </a:pPr>
            <a:r>
              <a:t>▸ Triển khai tại Cloud (không chạy trên Edge do chi phí tính toán cao)</a:t>
            </a:r>
          </a:p>
          <a:p>
            <a:pPr algn="l">
              <a:lnSpc>
                <a:spcPts val="1820"/>
              </a:lnSpc>
              <a:spcAft>
                <a:spcPts val="600"/>
              </a:spcAft>
              <a:defRPr sz="1400">
                <a:solidFill>
                  <a:srgbClr val="424242"/>
                </a:solidFill>
                <a:latin typeface="Calibri"/>
              </a:defRPr>
            </a:pPr>
            <a:r>
              <a:t>▸ Vai trò: tầng xác thực chuyên sâu (Deep Verification Layer)</a:t>
            </a:r>
          </a:p>
          <a:p>
            <a:pPr algn="l">
              <a:lnSpc>
                <a:spcPts val="1820"/>
              </a:lnSpc>
              <a:spcAft>
                <a:spcPts val="600"/>
              </a:spcAft>
              <a:defRPr sz="1400">
                <a:solidFill>
                  <a:srgbClr val="424242"/>
                </a:solidFill>
                <a:latin typeface="Calibri"/>
              </a:defRPr>
            </a:pPr>
            <a:r>
              <a:t>▸ Phân tích video clip bằng chứng được Edge gửi lên</a:t>
            </a:r>
          </a:p>
          <a:p>
            <a:pPr algn="l">
              <a:lnSpc>
                <a:spcPts val="1820"/>
              </a:lnSpc>
              <a:spcAft>
                <a:spcPts val="600"/>
              </a:spcAft>
              <a:defRPr sz="1400">
                <a:solidFill>
                  <a:srgbClr val="424242"/>
                </a:solidFill>
                <a:latin typeface="Calibri"/>
              </a:defRPr>
            </a:pPr>
            <a:r>
              <a:t>▸ Hiện tại sử dụng mô hình pretrained trên Kinetics-400, chưa fine-tune chuyên sâu</a:t>
            </a:r>
          </a:p>
          <a:p>
            <a:pPr algn="l">
              <a:lnSpc>
                <a:spcPts val="1820"/>
              </a:lnSpc>
              <a:spcAft>
                <a:spcPts val="600"/>
              </a:spcAft>
              <a:defRPr sz="1400">
                <a:solidFill>
                  <a:srgbClr val="424242"/>
                </a:solidFill>
                <a:latin typeface="Calibri"/>
              </a:defRPr>
            </a:pPr>
            <a:r>
              <a:t>▸ Kích hoạt theo yêu cầu qua API POST /alerts/{id}/verify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0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37160"/>
            <a:ext cx="10058400" cy="640080"/>
          </a:xfrm>
          <a:prstGeom prst="rect">
            <a:avLst/>
          </a:prstGeom>
          <a:noFill/>
        </p:spPr>
        <p:txBody>
          <a:bodyPr wrap="square">
            <a:spAutoFit/>
          </a:bodyPr>
          <a:lstStyle/>
          <a:p>
            <a:pPr algn="l">
              <a:lnSpc>
                <a:spcPts val="3840"/>
              </a:lnSpc>
              <a:spcAft>
                <a:spcPts val="0"/>
              </a:spcAft>
              <a:defRPr sz="3200" b="1">
                <a:solidFill>
                  <a:srgbClr val="FFFFFF"/>
                </a:solidFill>
                <a:latin typeface="Calibri"/>
              </a:defRPr>
            </a:pPr>
            <a:r>
              <a:t>TỐI ƯU MÔ HÌNH CHO THIẾT BỊ EDGE</a:t>
            </a:r>
          </a:p>
        </p:txBody>
      </p:sp>
      <p:sp>
        <p:nvSpPr>
          <p:cNvPr id="4" name="TextBox 3"/>
          <p:cNvSpPr txBox="1"/>
          <p:nvPr/>
        </p:nvSpPr>
        <p:spPr>
          <a:xfrm>
            <a:off x="731520" y="685800"/>
            <a:ext cx="10058400" cy="365760"/>
          </a:xfrm>
          <a:prstGeom prst="rect">
            <a:avLst/>
          </a:prstGeom>
          <a:noFill/>
        </p:spPr>
        <p:txBody>
          <a:bodyPr wrap="square">
            <a:spAutoFit/>
          </a:bodyPr>
          <a:lstStyle/>
          <a:p>
            <a:pPr algn="l">
              <a:lnSpc>
                <a:spcPts val="1920"/>
              </a:lnSpc>
              <a:spcAft>
                <a:spcPts val="0"/>
              </a:spcAft>
              <a:defRPr sz="1600" b="0">
                <a:solidFill>
                  <a:srgbClr val="42A5F5"/>
                </a:solidFill>
                <a:latin typeface="Calibri"/>
              </a:defRPr>
            </a:pPr>
            <a:r>
              <a:t>Chương 2.4: Quantization, TensorRT, Frame Skipping</a:t>
            </a:r>
          </a:p>
        </p:txBody>
      </p:sp>
      <p:sp>
        <p:nvSpPr>
          <p:cNvPr id="5" name="Rectangle 4"/>
          <p:cNvSpPr/>
          <p:nvPr/>
        </p:nvSpPr>
        <p:spPr>
          <a:xfrm>
            <a:off x="0" y="1097280"/>
            <a:ext cx="12191695" cy="4572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492240"/>
            <a:ext cx="12191695" cy="365760"/>
          </a:xfrm>
          <a:prstGeom prst="rect">
            <a:avLst/>
          </a:prstGeom>
          <a:solidFill>
            <a:srgbClr val="0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10528"/>
            <a:ext cx="10972800" cy="320040"/>
          </a:xfrm>
          <a:prstGeom prst="rect">
            <a:avLst/>
          </a:prstGeom>
          <a:noFill/>
        </p:spPr>
        <p:txBody>
          <a:bodyPr wrap="square">
            <a:spAutoFit/>
          </a:bodyPr>
          <a:lstStyle/>
          <a:p>
            <a:pPr algn="ctr">
              <a:lnSpc>
                <a:spcPts val="1200"/>
              </a:lnSpc>
              <a:spcAft>
                <a:spcPts val="0"/>
              </a:spcAft>
              <a:defRPr sz="1000" b="0">
                <a:solidFill>
                  <a:srgbClr val="BBDEFB"/>
                </a:solidFill>
                <a:latin typeface="Calibri"/>
              </a:defRPr>
            </a:pPr>
            <a:r>
              <a:t>La Đại Lộc | MSSV: 4551050116 | GVHD: TS. Nguyễn Thanh Bình | Trường Đại học Quy Nhơn</a:t>
            </a:r>
          </a:p>
        </p:txBody>
      </p:sp>
      <p:sp>
        <p:nvSpPr>
          <p:cNvPr id="8" name="Rectangle 7"/>
          <p:cNvSpPr/>
          <p:nvPr/>
        </p:nvSpPr>
        <p:spPr>
          <a:xfrm>
            <a:off x="731520" y="1645920"/>
            <a:ext cx="3474720" cy="457200"/>
          </a:xfrm>
          <a:prstGeom prst="rect">
            <a:avLst/>
          </a:prstGeom>
          <a:solidFill>
            <a:srgbClr val="144D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1691640"/>
            <a:ext cx="3291840" cy="365760"/>
          </a:xfrm>
          <a:prstGeom prst="rect">
            <a:avLst/>
          </a:prstGeom>
          <a:noFill/>
        </p:spPr>
        <p:txBody>
          <a:bodyPr wrap="square">
            <a:spAutoFit/>
          </a:bodyPr>
          <a:lstStyle/>
          <a:p>
            <a:pPr algn="ctr">
              <a:lnSpc>
                <a:spcPts val="1800"/>
              </a:lnSpc>
              <a:spcAft>
                <a:spcPts val="0"/>
              </a:spcAft>
              <a:defRPr sz="1500" b="1">
                <a:solidFill>
                  <a:srgbClr val="FFFFFF"/>
                </a:solidFill>
                <a:latin typeface="Calibri"/>
              </a:defRPr>
            </a:pPr>
            <a:r>
              <a:t>Lượng tử hóa (Quantization)</a:t>
            </a:r>
          </a:p>
        </p:txBody>
      </p:sp>
      <p:sp>
        <p:nvSpPr>
          <p:cNvPr id="10" name="TextBox 9"/>
          <p:cNvSpPr txBox="1"/>
          <p:nvPr/>
        </p:nvSpPr>
        <p:spPr>
          <a:xfrm>
            <a:off x="1005840" y="2286000"/>
            <a:ext cx="2926080" cy="3657600"/>
          </a:xfrm>
          <a:prstGeom prst="rect">
            <a:avLst/>
          </a:prstGeom>
          <a:noFill/>
        </p:spPr>
        <p:txBody>
          <a:bodyPr wrap="square">
            <a:spAutoFit/>
          </a:bodyPr>
          <a:lstStyle/>
          <a:p>
            <a:pPr algn="l">
              <a:lnSpc>
                <a:spcPts val="1820"/>
              </a:lnSpc>
              <a:spcAft>
                <a:spcPts val="600"/>
              </a:spcAft>
              <a:defRPr sz="1300">
                <a:solidFill>
                  <a:srgbClr val="424242"/>
                </a:solidFill>
                <a:latin typeface="Calibri"/>
              </a:defRPr>
            </a:pPr>
            <a:r>
              <a:t>▸ Chuyển FP32 → FP16/INT8</a:t>
            </a:r>
          </a:p>
          <a:p>
            <a:pPr algn="l">
              <a:lnSpc>
                <a:spcPts val="1820"/>
              </a:lnSpc>
              <a:spcAft>
                <a:spcPts val="600"/>
              </a:spcAft>
              <a:defRPr sz="1300">
                <a:solidFill>
                  <a:srgbClr val="424242"/>
                </a:solidFill>
                <a:latin typeface="Calibri"/>
              </a:defRPr>
            </a:pPr>
            <a:r>
              <a:t>▸ Giảm 2-4 lần kích thước mô hình</a:t>
            </a:r>
          </a:p>
          <a:p>
            <a:pPr algn="l">
              <a:lnSpc>
                <a:spcPts val="1820"/>
              </a:lnSpc>
              <a:spcAft>
                <a:spcPts val="600"/>
              </a:spcAft>
              <a:defRPr sz="1300">
                <a:solidFill>
                  <a:srgbClr val="424242"/>
                </a:solidFill>
                <a:latin typeface="Calibri"/>
              </a:defRPr>
            </a:pPr>
            <a:r>
              <a:t>▸ Tăng thông lượng tính toán</a:t>
            </a:r>
          </a:p>
          <a:p>
            <a:pPr algn="l">
              <a:lnSpc>
                <a:spcPts val="1820"/>
              </a:lnSpc>
              <a:spcAft>
                <a:spcPts val="600"/>
              </a:spcAft>
              <a:defRPr sz="1300">
                <a:solidFill>
                  <a:srgbClr val="424242"/>
                </a:solidFill>
                <a:latin typeface="Calibri"/>
              </a:defRPr>
            </a:pPr>
            <a:r>
              <a:t>▸ Post-Training Quantization (PTQ)</a:t>
            </a:r>
          </a:p>
          <a:p>
            <a:pPr algn="l">
              <a:lnSpc>
                <a:spcPts val="1820"/>
              </a:lnSpc>
              <a:spcAft>
                <a:spcPts val="600"/>
              </a:spcAft>
              <a:defRPr sz="1300">
                <a:solidFill>
                  <a:srgbClr val="424242"/>
                </a:solidFill>
                <a:latin typeface="Calibri"/>
              </a:defRPr>
            </a:pPr>
            <a:r>
              <a:t>▸ Quantization-Aware Training (QAT)</a:t>
            </a:r>
          </a:p>
        </p:txBody>
      </p:sp>
      <p:sp>
        <p:nvSpPr>
          <p:cNvPr id="11" name="Rectangle 10"/>
          <p:cNvSpPr/>
          <p:nvPr/>
        </p:nvSpPr>
        <p:spPr>
          <a:xfrm>
            <a:off x="4480559" y="1645920"/>
            <a:ext cx="3474720" cy="457200"/>
          </a:xfrm>
          <a:prstGeom prst="rect">
            <a:avLst/>
          </a:prstGeom>
          <a:solidFill>
            <a:srgbClr val="006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1999" y="1691640"/>
            <a:ext cx="3291840" cy="365760"/>
          </a:xfrm>
          <a:prstGeom prst="rect">
            <a:avLst/>
          </a:prstGeom>
          <a:noFill/>
        </p:spPr>
        <p:txBody>
          <a:bodyPr wrap="square">
            <a:spAutoFit/>
          </a:bodyPr>
          <a:lstStyle/>
          <a:p>
            <a:pPr algn="ctr">
              <a:lnSpc>
                <a:spcPts val="1800"/>
              </a:lnSpc>
              <a:spcAft>
                <a:spcPts val="0"/>
              </a:spcAft>
              <a:defRPr sz="1500" b="1">
                <a:solidFill>
                  <a:srgbClr val="FFFFFF"/>
                </a:solidFill>
                <a:latin typeface="Calibri"/>
              </a:defRPr>
            </a:pPr>
            <a:r>
              <a:t>TensorRT</a:t>
            </a:r>
          </a:p>
        </p:txBody>
      </p:sp>
      <p:sp>
        <p:nvSpPr>
          <p:cNvPr id="13" name="TextBox 12"/>
          <p:cNvSpPr txBox="1"/>
          <p:nvPr/>
        </p:nvSpPr>
        <p:spPr>
          <a:xfrm>
            <a:off x="4754879" y="2286000"/>
            <a:ext cx="2926080" cy="3657600"/>
          </a:xfrm>
          <a:prstGeom prst="rect">
            <a:avLst/>
          </a:prstGeom>
          <a:noFill/>
        </p:spPr>
        <p:txBody>
          <a:bodyPr wrap="square">
            <a:spAutoFit/>
          </a:bodyPr>
          <a:lstStyle/>
          <a:p>
            <a:pPr algn="l">
              <a:lnSpc>
                <a:spcPts val="1820"/>
              </a:lnSpc>
              <a:spcAft>
                <a:spcPts val="600"/>
              </a:spcAft>
              <a:defRPr sz="1300">
                <a:solidFill>
                  <a:srgbClr val="424242"/>
                </a:solidFill>
                <a:latin typeface="Calibri"/>
              </a:defRPr>
            </a:pPr>
            <a:r>
              <a:t>▸ Trình biên dịch của NVIDIA</a:t>
            </a:r>
          </a:p>
          <a:p>
            <a:pPr algn="l">
              <a:lnSpc>
                <a:spcPts val="1820"/>
              </a:lnSpc>
              <a:spcAft>
                <a:spcPts val="600"/>
              </a:spcAft>
              <a:defRPr sz="1300">
                <a:solidFill>
                  <a:srgbClr val="424242"/>
                </a:solidFill>
                <a:latin typeface="Calibri"/>
              </a:defRPr>
            </a:pPr>
            <a:r>
              <a:t>▸ Hợp nhất lớp đồ thị (Layer Fusion)</a:t>
            </a:r>
          </a:p>
          <a:p>
            <a:pPr algn="l">
              <a:lnSpc>
                <a:spcPts val="1820"/>
              </a:lnSpc>
              <a:spcAft>
                <a:spcPts val="600"/>
              </a:spcAft>
              <a:defRPr sz="1300">
                <a:solidFill>
                  <a:srgbClr val="424242"/>
                </a:solidFill>
                <a:latin typeface="Calibri"/>
              </a:defRPr>
            </a:pPr>
            <a:r>
              <a:t>▸ Tự động tinh chỉnh nhân tính toán</a:t>
            </a:r>
          </a:p>
          <a:p>
            <a:pPr algn="l">
              <a:lnSpc>
                <a:spcPts val="1820"/>
              </a:lnSpc>
              <a:spcAft>
                <a:spcPts val="600"/>
              </a:spcAft>
              <a:defRPr sz="1300">
                <a:solidFill>
                  <a:srgbClr val="424242"/>
                </a:solidFill>
                <a:latin typeface="Calibri"/>
              </a:defRPr>
            </a:pPr>
            <a:r>
              <a:t>▸ Tối ưu bộ nhớ động</a:t>
            </a:r>
          </a:p>
          <a:p>
            <a:pPr algn="l">
              <a:lnSpc>
                <a:spcPts val="1820"/>
              </a:lnSpc>
              <a:spcAft>
                <a:spcPts val="600"/>
              </a:spcAft>
              <a:defRPr sz="1300">
                <a:solidFill>
                  <a:srgbClr val="424242"/>
                </a:solidFill>
                <a:latin typeface="Calibri"/>
              </a:defRPr>
            </a:pPr>
            <a:r>
              <a:t>▸ Hỗ trợ FP16/INT8 với Tensor Cores</a:t>
            </a:r>
          </a:p>
        </p:txBody>
      </p:sp>
      <p:sp>
        <p:nvSpPr>
          <p:cNvPr id="14" name="Rectangle 13"/>
          <p:cNvSpPr/>
          <p:nvPr/>
        </p:nvSpPr>
        <p:spPr>
          <a:xfrm>
            <a:off x="8229599" y="1645920"/>
            <a:ext cx="3474720" cy="457200"/>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21039" y="1691640"/>
            <a:ext cx="3291840" cy="365760"/>
          </a:xfrm>
          <a:prstGeom prst="rect">
            <a:avLst/>
          </a:prstGeom>
          <a:noFill/>
        </p:spPr>
        <p:txBody>
          <a:bodyPr wrap="square">
            <a:spAutoFit/>
          </a:bodyPr>
          <a:lstStyle/>
          <a:p>
            <a:pPr algn="ctr">
              <a:lnSpc>
                <a:spcPts val="1800"/>
              </a:lnSpc>
              <a:spcAft>
                <a:spcPts val="0"/>
              </a:spcAft>
              <a:defRPr sz="1500" b="1">
                <a:solidFill>
                  <a:srgbClr val="FFFFFF"/>
                </a:solidFill>
                <a:latin typeface="Calibri"/>
              </a:defRPr>
            </a:pPr>
            <a:r>
              <a:t>Chiến lược runtime</a:t>
            </a:r>
          </a:p>
        </p:txBody>
      </p:sp>
      <p:sp>
        <p:nvSpPr>
          <p:cNvPr id="16" name="TextBox 15"/>
          <p:cNvSpPr txBox="1"/>
          <p:nvPr/>
        </p:nvSpPr>
        <p:spPr>
          <a:xfrm>
            <a:off x="8503919" y="2286000"/>
            <a:ext cx="2926080" cy="3657600"/>
          </a:xfrm>
          <a:prstGeom prst="rect">
            <a:avLst/>
          </a:prstGeom>
          <a:noFill/>
        </p:spPr>
        <p:txBody>
          <a:bodyPr wrap="square">
            <a:spAutoFit/>
          </a:bodyPr>
          <a:lstStyle/>
          <a:p>
            <a:pPr algn="l">
              <a:lnSpc>
                <a:spcPts val="1820"/>
              </a:lnSpc>
              <a:spcAft>
                <a:spcPts val="600"/>
              </a:spcAft>
              <a:defRPr sz="1300">
                <a:solidFill>
                  <a:srgbClr val="424242"/>
                </a:solidFill>
                <a:latin typeface="Calibri"/>
              </a:defRPr>
            </a:pPr>
            <a:r>
              <a:t>▸ Frame Skipping (bỏ khung có chủ đích)</a:t>
            </a:r>
          </a:p>
          <a:p>
            <a:pPr algn="l">
              <a:lnSpc>
                <a:spcPts val="1820"/>
              </a:lnSpc>
              <a:spcAft>
                <a:spcPts val="600"/>
              </a:spcAft>
              <a:defRPr sz="1300">
                <a:solidFill>
                  <a:srgbClr val="424242"/>
                </a:solidFill>
                <a:latin typeface="Calibri"/>
              </a:defRPr>
            </a:pPr>
            <a:r>
              <a:t>▸ detect_every_n_frames = 2</a:t>
            </a:r>
          </a:p>
          <a:p>
            <a:pPr algn="l">
              <a:lnSpc>
                <a:spcPts val="1820"/>
              </a:lnSpc>
              <a:spcAft>
                <a:spcPts val="600"/>
              </a:spcAft>
              <a:defRPr sz="1300">
                <a:solidFill>
                  <a:srgbClr val="424242"/>
                </a:solidFill>
                <a:latin typeface="Calibri"/>
              </a:defRPr>
            </a:pPr>
            <a:r>
              <a:t>▸ pose_every_n_frames = 3</a:t>
            </a:r>
          </a:p>
          <a:p>
            <a:pPr algn="l">
              <a:lnSpc>
                <a:spcPts val="1820"/>
              </a:lnSpc>
              <a:spcAft>
                <a:spcPts val="600"/>
              </a:spcAft>
              <a:defRPr sz="1300">
                <a:solidFill>
                  <a:srgbClr val="424242"/>
                </a:solidFill>
                <a:latin typeface="Calibri"/>
              </a:defRPr>
            </a:pPr>
            <a:r>
              <a:t>▸ Resize đầu vào 640×640</a:t>
            </a:r>
          </a:p>
          <a:p>
            <a:pPr algn="l">
              <a:lnSpc>
                <a:spcPts val="1820"/>
              </a:lnSpc>
              <a:spcAft>
                <a:spcPts val="600"/>
              </a:spcAft>
              <a:defRPr sz="1300">
                <a:solidFill>
                  <a:srgbClr val="424242"/>
                </a:solidFill>
                <a:latin typeface="Calibri"/>
              </a:defRPr>
            </a:pPr>
            <a:r>
              <a:t>▸ Kích hoạt Pose theo điều kiện (lazy)</a:t>
            </a:r>
          </a:p>
        </p:txBody>
      </p:sp>
      <p:sp>
        <p:nvSpPr>
          <p:cNvPr id="17" name="Rounded Rectangle 16"/>
          <p:cNvSpPr/>
          <p:nvPr/>
        </p:nvSpPr>
        <p:spPr>
          <a:xfrm>
            <a:off x="1371600" y="5486400"/>
            <a:ext cx="9144000" cy="640080"/>
          </a:xfrm>
          <a:prstGeom prst="roundRect">
            <a:avLst/>
          </a:prstGeom>
          <a:solidFill>
            <a:srgbClr val="FFF3E0"/>
          </a:solidFill>
          <a:ln>
            <a:solidFill>
              <a:srgbClr val="FF6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645920" y="5577840"/>
            <a:ext cx="8686800" cy="457200"/>
          </a:xfrm>
          <a:prstGeom prst="rect">
            <a:avLst/>
          </a:prstGeom>
          <a:noFill/>
        </p:spPr>
        <p:txBody>
          <a:bodyPr wrap="square">
            <a:spAutoFit/>
          </a:bodyPr>
          <a:lstStyle/>
          <a:p>
            <a:pPr algn="ctr">
              <a:lnSpc>
                <a:spcPts val="1680"/>
              </a:lnSpc>
              <a:spcAft>
                <a:spcPts val="0"/>
              </a:spcAft>
              <a:defRPr sz="1400" b="1">
                <a:solidFill>
                  <a:srgbClr val="FF6F00"/>
                </a:solidFill>
                <a:latin typeface="Calibri"/>
              </a:defRPr>
            </a:pPr>
            <a:r>
              <a:t>Mục tiêu: Đảm bảo FPS phục vụ cảnh báo gần thời gian thực trên thiết bị Edge có tài nguyên hạn chế</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0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37160"/>
            <a:ext cx="10058400" cy="640080"/>
          </a:xfrm>
          <a:prstGeom prst="rect">
            <a:avLst/>
          </a:prstGeom>
          <a:noFill/>
        </p:spPr>
        <p:txBody>
          <a:bodyPr wrap="square">
            <a:spAutoFit/>
          </a:bodyPr>
          <a:lstStyle/>
          <a:p>
            <a:pPr algn="l">
              <a:lnSpc>
                <a:spcPts val="3840"/>
              </a:lnSpc>
              <a:spcAft>
                <a:spcPts val="0"/>
              </a:spcAft>
              <a:defRPr sz="3200" b="1">
                <a:solidFill>
                  <a:srgbClr val="FFFFFF"/>
                </a:solidFill>
                <a:latin typeface="Calibri"/>
              </a:defRPr>
            </a:pPr>
            <a:r>
              <a:t>PIPELINE XỬ LÝ TẠI EDGE</a:t>
            </a:r>
          </a:p>
        </p:txBody>
      </p:sp>
      <p:sp>
        <p:nvSpPr>
          <p:cNvPr id="4" name="TextBox 3"/>
          <p:cNvSpPr txBox="1"/>
          <p:nvPr/>
        </p:nvSpPr>
        <p:spPr>
          <a:xfrm>
            <a:off x="731520" y="685800"/>
            <a:ext cx="10058400" cy="365760"/>
          </a:xfrm>
          <a:prstGeom prst="rect">
            <a:avLst/>
          </a:prstGeom>
          <a:noFill/>
        </p:spPr>
        <p:txBody>
          <a:bodyPr wrap="square">
            <a:spAutoFit/>
          </a:bodyPr>
          <a:lstStyle/>
          <a:p>
            <a:pPr algn="l">
              <a:lnSpc>
                <a:spcPts val="1920"/>
              </a:lnSpc>
              <a:spcAft>
                <a:spcPts val="0"/>
              </a:spcAft>
              <a:defRPr sz="1600" b="0">
                <a:solidFill>
                  <a:srgbClr val="42A5F5"/>
                </a:solidFill>
                <a:latin typeface="Calibri"/>
              </a:defRPr>
            </a:pPr>
            <a:r>
              <a:t>Chương 3.2.1: Luồng xử lý tuần tự</a:t>
            </a:r>
          </a:p>
        </p:txBody>
      </p:sp>
      <p:sp>
        <p:nvSpPr>
          <p:cNvPr id="5" name="Rectangle 4"/>
          <p:cNvSpPr/>
          <p:nvPr/>
        </p:nvSpPr>
        <p:spPr>
          <a:xfrm>
            <a:off x="0" y="1097280"/>
            <a:ext cx="12191695" cy="4572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492240"/>
            <a:ext cx="12191695" cy="365760"/>
          </a:xfrm>
          <a:prstGeom prst="rect">
            <a:avLst/>
          </a:prstGeom>
          <a:solidFill>
            <a:srgbClr val="0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10528"/>
            <a:ext cx="10972800" cy="320040"/>
          </a:xfrm>
          <a:prstGeom prst="rect">
            <a:avLst/>
          </a:prstGeom>
          <a:noFill/>
        </p:spPr>
        <p:txBody>
          <a:bodyPr wrap="square">
            <a:spAutoFit/>
          </a:bodyPr>
          <a:lstStyle/>
          <a:p>
            <a:pPr algn="ctr">
              <a:lnSpc>
                <a:spcPts val="1200"/>
              </a:lnSpc>
              <a:spcAft>
                <a:spcPts val="0"/>
              </a:spcAft>
              <a:defRPr sz="1000" b="0">
                <a:solidFill>
                  <a:srgbClr val="BBDEFB"/>
                </a:solidFill>
                <a:latin typeface="Calibri"/>
              </a:defRPr>
            </a:pPr>
            <a:r>
              <a:t>La Đại Lộc | MSSV: 4551050116 | GVHD: TS. Nguyễn Thanh Bình | Trường Đại học Quy Nhơn</a:t>
            </a:r>
          </a:p>
        </p:txBody>
      </p:sp>
      <p:sp>
        <p:nvSpPr>
          <p:cNvPr id="8" name="Rounded Rectangle 7"/>
          <p:cNvSpPr/>
          <p:nvPr/>
        </p:nvSpPr>
        <p:spPr>
          <a:xfrm>
            <a:off x="365760" y="1645920"/>
            <a:ext cx="1234440" cy="822960"/>
          </a:xfrm>
          <a:prstGeom prst="roundRect">
            <a:avLst/>
          </a:prstGeom>
          <a:solidFill>
            <a:srgbClr val="42424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100" b="1">
                <a:solidFill>
                  <a:srgbClr val="FFFFFF"/>
                </a:solidFill>
                <a:latin typeface="Calibri"/>
              </a:defRPr>
            </a:pPr>
            <a:r>
              <a:t>Camera</a:t>
            </a:r>
            <a:br/>
            <a:r>
              <a:t>Input</a:t>
            </a:r>
          </a:p>
        </p:txBody>
      </p:sp>
      <p:sp>
        <p:nvSpPr>
          <p:cNvPr id="9" name="Right Arrow 8"/>
          <p:cNvSpPr/>
          <p:nvPr/>
        </p:nvSpPr>
        <p:spPr>
          <a:xfrm>
            <a:off x="1627632" y="1874520"/>
            <a:ext cx="164592" cy="274320"/>
          </a:xfrm>
          <a:prstGeom prst="rightArrow">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1810512" y="1645920"/>
            <a:ext cx="1234440" cy="822960"/>
          </a:xfrm>
          <a:prstGeom prst="roundRect">
            <a:avLst/>
          </a:prstGeom>
          <a:solidFill>
            <a:srgbClr val="9E9E9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100" b="1">
                <a:solidFill>
                  <a:srgbClr val="FFFFFF"/>
                </a:solidFill>
                <a:latin typeface="Calibri"/>
              </a:defRPr>
            </a:pPr>
            <a:r>
              <a:t>Resize</a:t>
            </a:r>
            <a:br/>
            <a:r>
              <a:t>640px</a:t>
            </a:r>
          </a:p>
        </p:txBody>
      </p:sp>
      <p:sp>
        <p:nvSpPr>
          <p:cNvPr id="11" name="Right Arrow 10"/>
          <p:cNvSpPr/>
          <p:nvPr/>
        </p:nvSpPr>
        <p:spPr>
          <a:xfrm>
            <a:off x="3072384" y="1874520"/>
            <a:ext cx="164592" cy="274320"/>
          </a:xfrm>
          <a:prstGeom prst="rightArrow">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255264" y="1645920"/>
            <a:ext cx="1234440" cy="822960"/>
          </a:xfrm>
          <a:prstGeom prst="roundRect">
            <a:avLst/>
          </a:prstGeom>
          <a:solidFill>
            <a:srgbClr val="144D8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100" b="1">
                <a:solidFill>
                  <a:srgbClr val="FFFFFF"/>
                </a:solidFill>
                <a:latin typeface="Calibri"/>
              </a:defRPr>
            </a:pPr>
            <a:r>
              <a:t>Frame</a:t>
            </a:r>
            <a:br/>
            <a:r>
              <a:t>Counter</a:t>
            </a:r>
          </a:p>
        </p:txBody>
      </p:sp>
      <p:sp>
        <p:nvSpPr>
          <p:cNvPr id="13" name="Right Arrow 12"/>
          <p:cNvSpPr/>
          <p:nvPr/>
        </p:nvSpPr>
        <p:spPr>
          <a:xfrm>
            <a:off x="4517136" y="1874520"/>
            <a:ext cx="164592" cy="274320"/>
          </a:xfrm>
          <a:prstGeom prst="rightArrow">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4700016" y="1645920"/>
            <a:ext cx="1234440" cy="822960"/>
          </a:xfrm>
          <a:prstGeom prst="round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100" b="1">
                <a:solidFill>
                  <a:srgbClr val="FFFFFF"/>
                </a:solidFill>
                <a:latin typeface="Calibri"/>
              </a:defRPr>
            </a:pPr>
            <a:r>
              <a:t>YOLO</a:t>
            </a:r>
            <a:br/>
            <a:r>
              <a:t>Detection</a:t>
            </a:r>
          </a:p>
        </p:txBody>
      </p:sp>
      <p:sp>
        <p:nvSpPr>
          <p:cNvPr id="15" name="Right Arrow 14"/>
          <p:cNvSpPr/>
          <p:nvPr/>
        </p:nvSpPr>
        <p:spPr>
          <a:xfrm>
            <a:off x="5961888" y="1874520"/>
            <a:ext cx="164592" cy="274320"/>
          </a:xfrm>
          <a:prstGeom prst="rightArrow">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144768" y="1645920"/>
            <a:ext cx="1234440" cy="822960"/>
          </a:xfrm>
          <a:prstGeom prst="roundRect">
            <a:avLst/>
          </a:prstGeom>
          <a:solidFill>
            <a:srgbClr val="00695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100" b="1">
                <a:solidFill>
                  <a:srgbClr val="FFFFFF"/>
                </a:solidFill>
                <a:latin typeface="Calibri"/>
              </a:defRPr>
            </a:pPr>
            <a:r>
              <a:t>Check</a:t>
            </a:r>
            <a:br/>
            <a:r>
              <a:t>Objects</a:t>
            </a:r>
          </a:p>
        </p:txBody>
      </p:sp>
      <p:sp>
        <p:nvSpPr>
          <p:cNvPr id="17" name="Right Arrow 16"/>
          <p:cNvSpPr/>
          <p:nvPr/>
        </p:nvSpPr>
        <p:spPr>
          <a:xfrm>
            <a:off x="7406640" y="1874520"/>
            <a:ext cx="164592" cy="274320"/>
          </a:xfrm>
          <a:prstGeom prst="rightArrow">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7589520" y="1645920"/>
            <a:ext cx="1234440" cy="82296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100" b="1">
                <a:solidFill>
                  <a:srgbClr val="FFFFFF"/>
                </a:solidFill>
                <a:latin typeface="Calibri"/>
              </a:defRPr>
            </a:pPr>
            <a:r>
              <a:t>MediaPipe</a:t>
            </a:r>
            <a:br/>
            <a:r>
              <a:t>Pose</a:t>
            </a:r>
          </a:p>
        </p:txBody>
      </p:sp>
      <p:sp>
        <p:nvSpPr>
          <p:cNvPr id="19" name="Right Arrow 18"/>
          <p:cNvSpPr/>
          <p:nvPr/>
        </p:nvSpPr>
        <p:spPr>
          <a:xfrm>
            <a:off x="8851392" y="1874520"/>
            <a:ext cx="164592" cy="274320"/>
          </a:xfrm>
          <a:prstGeom prst="rightArrow">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9034272" y="1645920"/>
            <a:ext cx="1234440" cy="822960"/>
          </a:xfrm>
          <a:prstGeom prst="round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100" b="1">
                <a:solidFill>
                  <a:srgbClr val="FFFFFF"/>
                </a:solidFill>
                <a:latin typeface="Calibri"/>
              </a:defRPr>
            </a:pPr>
            <a:r>
              <a:t>Rules</a:t>
            </a:r>
            <a:br/>
            <a:r>
              <a:t>Engine</a:t>
            </a:r>
          </a:p>
        </p:txBody>
      </p:sp>
      <p:sp>
        <p:nvSpPr>
          <p:cNvPr id="21" name="Right Arrow 20"/>
          <p:cNvSpPr/>
          <p:nvPr/>
        </p:nvSpPr>
        <p:spPr>
          <a:xfrm>
            <a:off x="10296144" y="1874520"/>
            <a:ext cx="164592" cy="274320"/>
          </a:xfrm>
          <a:prstGeom prst="rightArrow">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10479024" y="1645920"/>
            <a:ext cx="1234440" cy="822960"/>
          </a:xfrm>
          <a:prstGeom prst="round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100" b="1">
                <a:solidFill>
                  <a:srgbClr val="FFFFFF"/>
                </a:solidFill>
                <a:latin typeface="Calibri"/>
              </a:defRPr>
            </a:pPr>
            <a:r>
              <a:t>Violation</a:t>
            </a:r>
            <a:br/>
            <a:r>
              <a:t>Event</a:t>
            </a:r>
          </a:p>
        </p:txBody>
      </p:sp>
      <p:sp>
        <p:nvSpPr>
          <p:cNvPr id="23" name="Down Arrow 22"/>
          <p:cNvSpPr/>
          <p:nvPr/>
        </p:nvSpPr>
        <p:spPr>
          <a:xfrm>
            <a:off x="9601200" y="2560320"/>
            <a:ext cx="365760" cy="457200"/>
          </a:xfrm>
          <a:prstGeom prst="downArrow">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7315200" y="3200400"/>
            <a:ext cx="2011680" cy="1097280"/>
          </a:xfrm>
          <a:prstGeom prst="roundRect">
            <a:avLst/>
          </a:prstGeom>
          <a:solidFill>
            <a:srgbClr val="FCE4EC"/>
          </a:solidFill>
          <a:ln>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406640" y="3246120"/>
            <a:ext cx="1828800" cy="320040"/>
          </a:xfrm>
          <a:prstGeom prst="rect">
            <a:avLst/>
          </a:prstGeom>
          <a:noFill/>
        </p:spPr>
        <p:txBody>
          <a:bodyPr wrap="square">
            <a:spAutoFit/>
          </a:bodyPr>
          <a:lstStyle/>
          <a:p>
            <a:pPr algn="ctr">
              <a:lnSpc>
                <a:spcPts val="1439"/>
              </a:lnSpc>
              <a:spcAft>
                <a:spcPts val="0"/>
              </a:spcAft>
              <a:defRPr sz="1200" b="1">
                <a:solidFill>
                  <a:srgbClr val="C62828"/>
                </a:solidFill>
                <a:latin typeface="Calibri"/>
              </a:defRPr>
            </a:pPr>
            <a:r>
              <a:t>🔊 AlertManager</a:t>
            </a:r>
          </a:p>
        </p:txBody>
      </p:sp>
      <p:sp>
        <p:nvSpPr>
          <p:cNvPr id="26" name="TextBox 25"/>
          <p:cNvSpPr txBox="1"/>
          <p:nvPr/>
        </p:nvSpPr>
        <p:spPr>
          <a:xfrm>
            <a:off x="7406640" y="3611880"/>
            <a:ext cx="1828800" cy="548640"/>
          </a:xfrm>
          <a:prstGeom prst="rect">
            <a:avLst/>
          </a:prstGeom>
          <a:noFill/>
        </p:spPr>
        <p:txBody>
          <a:bodyPr wrap="square">
            <a:spAutoFit/>
          </a:bodyPr>
          <a:lstStyle/>
          <a:p>
            <a:pPr algn="ctr">
              <a:lnSpc>
                <a:spcPts val="1320"/>
              </a:lnSpc>
              <a:spcAft>
                <a:spcPts val="0"/>
              </a:spcAft>
              <a:defRPr sz="1100" b="0">
                <a:solidFill>
                  <a:srgbClr val="424242"/>
                </a:solidFill>
                <a:latin typeface="Calibri"/>
              </a:defRPr>
            </a:pPr>
            <a:r>
              <a:t>Cảnh báo cục bộ</a:t>
            </a:r>
            <a:br/>
            <a:r>
              <a:t>(âm thanh, LED)</a:t>
            </a:r>
          </a:p>
        </p:txBody>
      </p:sp>
      <p:sp>
        <p:nvSpPr>
          <p:cNvPr id="27" name="Rounded Rectangle 26"/>
          <p:cNvSpPr/>
          <p:nvPr/>
        </p:nvSpPr>
        <p:spPr>
          <a:xfrm>
            <a:off x="9144000" y="3200400"/>
            <a:ext cx="2011680" cy="1097280"/>
          </a:xfrm>
          <a:prstGeom prst="roundRect">
            <a:avLst/>
          </a:prstGeom>
          <a:solidFill>
            <a:srgbClr val="FCE4EC"/>
          </a:solidFill>
          <a:ln>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235440" y="3246120"/>
            <a:ext cx="1828800" cy="320040"/>
          </a:xfrm>
          <a:prstGeom prst="rect">
            <a:avLst/>
          </a:prstGeom>
          <a:noFill/>
        </p:spPr>
        <p:txBody>
          <a:bodyPr wrap="square">
            <a:spAutoFit/>
          </a:bodyPr>
          <a:lstStyle/>
          <a:p>
            <a:pPr algn="ctr">
              <a:lnSpc>
                <a:spcPts val="1439"/>
              </a:lnSpc>
              <a:spcAft>
                <a:spcPts val="0"/>
              </a:spcAft>
              <a:defRPr sz="1200" b="1">
                <a:solidFill>
                  <a:srgbClr val="C62828"/>
                </a:solidFill>
                <a:latin typeface="Calibri"/>
              </a:defRPr>
            </a:pPr>
            <a:r>
              <a:t>💾 EvidenceWriter</a:t>
            </a:r>
          </a:p>
        </p:txBody>
      </p:sp>
      <p:sp>
        <p:nvSpPr>
          <p:cNvPr id="29" name="TextBox 28"/>
          <p:cNvSpPr txBox="1"/>
          <p:nvPr/>
        </p:nvSpPr>
        <p:spPr>
          <a:xfrm>
            <a:off x="9235440" y="3611880"/>
            <a:ext cx="1828800" cy="548640"/>
          </a:xfrm>
          <a:prstGeom prst="rect">
            <a:avLst/>
          </a:prstGeom>
          <a:noFill/>
        </p:spPr>
        <p:txBody>
          <a:bodyPr wrap="square">
            <a:spAutoFit/>
          </a:bodyPr>
          <a:lstStyle/>
          <a:p>
            <a:pPr algn="ctr">
              <a:lnSpc>
                <a:spcPts val="1320"/>
              </a:lnSpc>
              <a:spcAft>
                <a:spcPts val="0"/>
              </a:spcAft>
              <a:defRPr sz="1100" b="0">
                <a:solidFill>
                  <a:srgbClr val="424242"/>
                </a:solidFill>
                <a:latin typeface="Calibri"/>
              </a:defRPr>
            </a:pPr>
            <a:r>
              <a:t>Lưu ảnh/video</a:t>
            </a:r>
            <a:br/>
            <a:r>
              <a:t>bằng chứng</a:t>
            </a:r>
          </a:p>
        </p:txBody>
      </p:sp>
      <p:sp>
        <p:nvSpPr>
          <p:cNvPr id="30" name="Rounded Rectangle 29"/>
          <p:cNvSpPr/>
          <p:nvPr/>
        </p:nvSpPr>
        <p:spPr>
          <a:xfrm>
            <a:off x="10972800" y="3200400"/>
            <a:ext cx="2011680" cy="1097280"/>
          </a:xfrm>
          <a:prstGeom prst="roundRect">
            <a:avLst/>
          </a:prstGeom>
          <a:solidFill>
            <a:srgbClr val="FCE4EC"/>
          </a:solidFill>
          <a:ln>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1064240" y="3246120"/>
            <a:ext cx="1828800" cy="320040"/>
          </a:xfrm>
          <a:prstGeom prst="rect">
            <a:avLst/>
          </a:prstGeom>
          <a:noFill/>
        </p:spPr>
        <p:txBody>
          <a:bodyPr wrap="square">
            <a:spAutoFit/>
          </a:bodyPr>
          <a:lstStyle/>
          <a:p>
            <a:pPr algn="ctr">
              <a:lnSpc>
                <a:spcPts val="1439"/>
              </a:lnSpc>
              <a:spcAft>
                <a:spcPts val="0"/>
              </a:spcAft>
              <a:defRPr sz="1200" b="1">
                <a:solidFill>
                  <a:srgbClr val="C62828"/>
                </a:solidFill>
                <a:latin typeface="Calibri"/>
              </a:defRPr>
            </a:pPr>
            <a:r>
              <a:t>🖥️ OverlayRenderer</a:t>
            </a:r>
          </a:p>
        </p:txBody>
      </p:sp>
      <p:sp>
        <p:nvSpPr>
          <p:cNvPr id="32" name="TextBox 31"/>
          <p:cNvSpPr txBox="1"/>
          <p:nvPr/>
        </p:nvSpPr>
        <p:spPr>
          <a:xfrm>
            <a:off x="11064240" y="3611880"/>
            <a:ext cx="1828800" cy="548640"/>
          </a:xfrm>
          <a:prstGeom prst="rect">
            <a:avLst/>
          </a:prstGeom>
          <a:noFill/>
        </p:spPr>
        <p:txBody>
          <a:bodyPr wrap="square">
            <a:spAutoFit/>
          </a:bodyPr>
          <a:lstStyle/>
          <a:p>
            <a:pPr algn="ctr">
              <a:lnSpc>
                <a:spcPts val="1320"/>
              </a:lnSpc>
              <a:spcAft>
                <a:spcPts val="0"/>
              </a:spcAft>
              <a:defRPr sz="1100" b="0">
                <a:solidFill>
                  <a:srgbClr val="424242"/>
                </a:solidFill>
                <a:latin typeface="Calibri"/>
              </a:defRPr>
            </a:pPr>
            <a:r>
              <a:t>Hiển thị kết quả</a:t>
            </a:r>
            <a:br/>
            <a:r>
              <a:t>trên màn hình</a:t>
            </a:r>
          </a:p>
        </p:txBody>
      </p:sp>
      <p:sp>
        <p:nvSpPr>
          <p:cNvPr id="33" name="TextBox 32"/>
          <p:cNvSpPr txBox="1"/>
          <p:nvPr/>
        </p:nvSpPr>
        <p:spPr>
          <a:xfrm>
            <a:off x="731520" y="4754880"/>
            <a:ext cx="10972800" cy="365760"/>
          </a:xfrm>
          <a:prstGeom prst="rect">
            <a:avLst/>
          </a:prstGeom>
          <a:noFill/>
        </p:spPr>
        <p:txBody>
          <a:bodyPr wrap="square">
            <a:spAutoFit/>
          </a:bodyPr>
          <a:lstStyle/>
          <a:p>
            <a:pPr algn="l">
              <a:lnSpc>
                <a:spcPts val="1920"/>
              </a:lnSpc>
              <a:spcAft>
                <a:spcPts val="0"/>
              </a:spcAft>
              <a:defRPr sz="1600" b="1">
                <a:solidFill>
                  <a:srgbClr val="0A2E5C"/>
                </a:solidFill>
                <a:latin typeface="Calibri"/>
              </a:defRPr>
            </a:pPr>
            <a:r>
              <a:t>Ba cơ chế tối ưu chính tại Edge:</a:t>
            </a:r>
          </a:p>
        </p:txBody>
      </p:sp>
      <p:sp>
        <p:nvSpPr>
          <p:cNvPr id="34" name="Rounded Rectangle 33"/>
          <p:cNvSpPr/>
          <p:nvPr/>
        </p:nvSpPr>
        <p:spPr>
          <a:xfrm>
            <a:off x="731520" y="5212080"/>
            <a:ext cx="3017520" cy="822960"/>
          </a:xfrm>
          <a:prstGeom prst="roundRect">
            <a:avLst/>
          </a:prstGeom>
          <a:solidFill>
            <a:srgbClr val="E3F2FD"/>
          </a:solidFill>
          <a:ln>
            <a:solidFill>
              <a:srgbClr val="144D8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22960" y="5257800"/>
            <a:ext cx="2834640" cy="320040"/>
          </a:xfrm>
          <a:prstGeom prst="rect">
            <a:avLst/>
          </a:prstGeom>
          <a:noFill/>
        </p:spPr>
        <p:txBody>
          <a:bodyPr wrap="square">
            <a:spAutoFit/>
          </a:bodyPr>
          <a:lstStyle/>
          <a:p>
            <a:pPr algn="ctr">
              <a:lnSpc>
                <a:spcPts val="1680"/>
              </a:lnSpc>
              <a:spcAft>
                <a:spcPts val="0"/>
              </a:spcAft>
              <a:defRPr sz="1400" b="1">
                <a:solidFill>
                  <a:srgbClr val="144D8D"/>
                </a:solidFill>
                <a:latin typeface="Calibri"/>
              </a:defRPr>
            </a:pPr>
            <a:r>
              <a:t>Hạ độ phân giải</a:t>
            </a:r>
          </a:p>
        </p:txBody>
      </p:sp>
      <p:sp>
        <p:nvSpPr>
          <p:cNvPr id="36" name="TextBox 35"/>
          <p:cNvSpPr txBox="1"/>
          <p:nvPr/>
        </p:nvSpPr>
        <p:spPr>
          <a:xfrm>
            <a:off x="822960" y="5577840"/>
            <a:ext cx="2834640" cy="320040"/>
          </a:xfrm>
          <a:prstGeom prst="rect">
            <a:avLst/>
          </a:prstGeom>
          <a:noFill/>
        </p:spPr>
        <p:txBody>
          <a:bodyPr wrap="square">
            <a:spAutoFit/>
          </a:bodyPr>
          <a:lstStyle/>
          <a:p>
            <a:pPr algn="ctr">
              <a:lnSpc>
                <a:spcPts val="1439"/>
              </a:lnSpc>
              <a:spcAft>
                <a:spcPts val="0"/>
              </a:spcAft>
              <a:defRPr sz="1200" b="0">
                <a:solidFill>
                  <a:srgbClr val="424242"/>
                </a:solidFill>
                <a:latin typeface="Calibri"/>
              </a:defRPr>
            </a:pPr>
            <a:r>
              <a:t>Resize từ 848→640px</a:t>
            </a:r>
          </a:p>
        </p:txBody>
      </p:sp>
      <p:sp>
        <p:nvSpPr>
          <p:cNvPr id="37" name="Rounded Rectangle 36"/>
          <p:cNvSpPr/>
          <p:nvPr/>
        </p:nvSpPr>
        <p:spPr>
          <a:xfrm>
            <a:off x="4114800" y="5212080"/>
            <a:ext cx="3017520" cy="822960"/>
          </a:xfrm>
          <a:prstGeom prst="roundRect">
            <a:avLst/>
          </a:prstGeom>
          <a:solidFill>
            <a:srgbClr val="E3F2FD"/>
          </a:solidFill>
          <a:ln>
            <a:solidFill>
              <a:srgbClr val="144D8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206240" y="5257800"/>
            <a:ext cx="2834640" cy="320040"/>
          </a:xfrm>
          <a:prstGeom prst="rect">
            <a:avLst/>
          </a:prstGeom>
          <a:noFill/>
        </p:spPr>
        <p:txBody>
          <a:bodyPr wrap="square">
            <a:spAutoFit/>
          </a:bodyPr>
          <a:lstStyle/>
          <a:p>
            <a:pPr algn="ctr">
              <a:lnSpc>
                <a:spcPts val="1680"/>
              </a:lnSpc>
              <a:spcAft>
                <a:spcPts val="0"/>
              </a:spcAft>
              <a:defRPr sz="1400" b="1">
                <a:solidFill>
                  <a:srgbClr val="144D8D"/>
                </a:solidFill>
                <a:latin typeface="Calibri"/>
              </a:defRPr>
            </a:pPr>
            <a:r>
              <a:t>Frame Skipping</a:t>
            </a:r>
          </a:p>
        </p:txBody>
      </p:sp>
      <p:sp>
        <p:nvSpPr>
          <p:cNvPr id="39" name="TextBox 38"/>
          <p:cNvSpPr txBox="1"/>
          <p:nvPr/>
        </p:nvSpPr>
        <p:spPr>
          <a:xfrm>
            <a:off x="4206240" y="5577840"/>
            <a:ext cx="2834640" cy="320040"/>
          </a:xfrm>
          <a:prstGeom prst="rect">
            <a:avLst/>
          </a:prstGeom>
          <a:noFill/>
        </p:spPr>
        <p:txBody>
          <a:bodyPr wrap="square">
            <a:spAutoFit/>
          </a:bodyPr>
          <a:lstStyle/>
          <a:p>
            <a:pPr algn="ctr">
              <a:lnSpc>
                <a:spcPts val="1439"/>
              </a:lnSpc>
              <a:spcAft>
                <a:spcPts val="0"/>
              </a:spcAft>
              <a:defRPr sz="1200" b="0">
                <a:solidFill>
                  <a:srgbClr val="424242"/>
                </a:solidFill>
                <a:latin typeface="Calibri"/>
              </a:defRPr>
            </a:pPr>
            <a:r>
              <a:t>YOLO mỗi N=2 frame</a:t>
            </a:r>
          </a:p>
        </p:txBody>
      </p:sp>
      <p:sp>
        <p:nvSpPr>
          <p:cNvPr id="40" name="Rounded Rectangle 39"/>
          <p:cNvSpPr/>
          <p:nvPr/>
        </p:nvSpPr>
        <p:spPr>
          <a:xfrm>
            <a:off x="7498079" y="5212080"/>
            <a:ext cx="3017520" cy="822960"/>
          </a:xfrm>
          <a:prstGeom prst="roundRect">
            <a:avLst/>
          </a:prstGeom>
          <a:solidFill>
            <a:srgbClr val="E3F2FD"/>
          </a:solidFill>
          <a:ln>
            <a:solidFill>
              <a:srgbClr val="144D8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589519" y="5257800"/>
            <a:ext cx="2834640" cy="320040"/>
          </a:xfrm>
          <a:prstGeom prst="rect">
            <a:avLst/>
          </a:prstGeom>
          <a:noFill/>
        </p:spPr>
        <p:txBody>
          <a:bodyPr wrap="square">
            <a:spAutoFit/>
          </a:bodyPr>
          <a:lstStyle/>
          <a:p>
            <a:pPr algn="ctr">
              <a:lnSpc>
                <a:spcPts val="1680"/>
              </a:lnSpc>
              <a:spcAft>
                <a:spcPts val="0"/>
              </a:spcAft>
              <a:defRPr sz="1400" b="1">
                <a:solidFill>
                  <a:srgbClr val="144D8D"/>
                </a:solidFill>
                <a:latin typeface="Calibri"/>
              </a:defRPr>
            </a:pPr>
            <a:r>
              <a:t>Lazy Pose</a:t>
            </a:r>
          </a:p>
        </p:txBody>
      </p:sp>
      <p:sp>
        <p:nvSpPr>
          <p:cNvPr id="42" name="TextBox 41"/>
          <p:cNvSpPr txBox="1"/>
          <p:nvPr/>
        </p:nvSpPr>
        <p:spPr>
          <a:xfrm>
            <a:off x="7589519" y="5577840"/>
            <a:ext cx="2834640" cy="320040"/>
          </a:xfrm>
          <a:prstGeom prst="rect">
            <a:avLst/>
          </a:prstGeom>
          <a:noFill/>
        </p:spPr>
        <p:txBody>
          <a:bodyPr wrap="square">
            <a:spAutoFit/>
          </a:bodyPr>
          <a:lstStyle/>
          <a:p>
            <a:pPr algn="ctr">
              <a:lnSpc>
                <a:spcPts val="1439"/>
              </a:lnSpc>
              <a:spcAft>
                <a:spcPts val="0"/>
              </a:spcAft>
              <a:defRPr sz="1200" b="0">
                <a:solidFill>
                  <a:srgbClr val="424242"/>
                </a:solidFill>
                <a:latin typeface="Calibri"/>
              </a:defRPr>
            </a:pPr>
            <a:r>
              <a:t>Chỉ chạy Pose khi có detection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0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37160"/>
            <a:ext cx="10058400" cy="640080"/>
          </a:xfrm>
          <a:prstGeom prst="rect">
            <a:avLst/>
          </a:prstGeom>
          <a:noFill/>
        </p:spPr>
        <p:txBody>
          <a:bodyPr wrap="square">
            <a:spAutoFit/>
          </a:bodyPr>
          <a:lstStyle/>
          <a:p>
            <a:pPr algn="l">
              <a:lnSpc>
                <a:spcPts val="3840"/>
              </a:lnSpc>
              <a:spcAft>
                <a:spcPts val="0"/>
              </a:spcAft>
              <a:defRPr sz="3200" b="1">
                <a:solidFill>
                  <a:srgbClr val="FFFFFF"/>
                </a:solidFill>
                <a:latin typeface="Calibri"/>
              </a:defRPr>
            </a:pPr>
            <a:r>
              <a:t>CƠ CHẾ KẾT HỢP YOLO VÀ MEDIAPIPE POSE</a:t>
            </a:r>
          </a:p>
        </p:txBody>
      </p:sp>
      <p:sp>
        <p:nvSpPr>
          <p:cNvPr id="4" name="TextBox 3"/>
          <p:cNvSpPr txBox="1"/>
          <p:nvPr/>
        </p:nvSpPr>
        <p:spPr>
          <a:xfrm>
            <a:off x="731520" y="685800"/>
            <a:ext cx="10058400" cy="365760"/>
          </a:xfrm>
          <a:prstGeom prst="rect">
            <a:avLst/>
          </a:prstGeom>
          <a:noFill/>
        </p:spPr>
        <p:txBody>
          <a:bodyPr wrap="square">
            <a:spAutoFit/>
          </a:bodyPr>
          <a:lstStyle/>
          <a:p>
            <a:pPr algn="l">
              <a:lnSpc>
                <a:spcPts val="1920"/>
              </a:lnSpc>
              <a:spcAft>
                <a:spcPts val="0"/>
              </a:spcAft>
              <a:defRPr sz="1600" b="0">
                <a:solidFill>
                  <a:srgbClr val="42A5F5"/>
                </a:solidFill>
                <a:latin typeface="Calibri"/>
              </a:defRPr>
            </a:pPr>
            <a:r>
              <a:t>Chương 3.2.2: Suy luận hai tầng</a:t>
            </a:r>
          </a:p>
        </p:txBody>
      </p:sp>
      <p:sp>
        <p:nvSpPr>
          <p:cNvPr id="5" name="Rectangle 4"/>
          <p:cNvSpPr/>
          <p:nvPr/>
        </p:nvSpPr>
        <p:spPr>
          <a:xfrm>
            <a:off x="0" y="1097280"/>
            <a:ext cx="12191695" cy="4572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492240"/>
            <a:ext cx="12191695" cy="365760"/>
          </a:xfrm>
          <a:prstGeom prst="rect">
            <a:avLst/>
          </a:prstGeom>
          <a:solidFill>
            <a:srgbClr val="0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10528"/>
            <a:ext cx="10972800" cy="320040"/>
          </a:xfrm>
          <a:prstGeom prst="rect">
            <a:avLst/>
          </a:prstGeom>
          <a:noFill/>
        </p:spPr>
        <p:txBody>
          <a:bodyPr wrap="square">
            <a:spAutoFit/>
          </a:bodyPr>
          <a:lstStyle/>
          <a:p>
            <a:pPr algn="ctr">
              <a:lnSpc>
                <a:spcPts val="1200"/>
              </a:lnSpc>
              <a:spcAft>
                <a:spcPts val="0"/>
              </a:spcAft>
              <a:defRPr sz="1000" b="0">
                <a:solidFill>
                  <a:srgbClr val="BBDEFB"/>
                </a:solidFill>
                <a:latin typeface="Calibri"/>
              </a:defRPr>
            </a:pPr>
            <a:r>
              <a:t>La Đại Lộc | MSSV: 4551050116 | GVHD: TS. Nguyễn Thanh Bình | Trường Đại học Quy Nhơn</a:t>
            </a:r>
          </a:p>
        </p:txBody>
      </p:sp>
      <p:sp>
        <p:nvSpPr>
          <p:cNvPr id="8" name="TextBox 7"/>
          <p:cNvSpPr txBox="1"/>
          <p:nvPr/>
        </p:nvSpPr>
        <p:spPr>
          <a:xfrm>
            <a:off x="731520" y="1463040"/>
            <a:ext cx="5029200" cy="365760"/>
          </a:xfrm>
          <a:prstGeom prst="rect">
            <a:avLst/>
          </a:prstGeom>
          <a:noFill/>
        </p:spPr>
        <p:txBody>
          <a:bodyPr wrap="square">
            <a:spAutoFit/>
          </a:bodyPr>
          <a:lstStyle/>
          <a:p>
            <a:pPr algn="l">
              <a:lnSpc>
                <a:spcPts val="1920"/>
              </a:lnSpc>
              <a:spcAft>
                <a:spcPts val="0"/>
              </a:spcAft>
              <a:defRPr sz="1600" b="1">
                <a:solidFill>
                  <a:srgbClr val="0A2E5C"/>
                </a:solidFill>
                <a:latin typeface="Calibri"/>
              </a:defRPr>
            </a:pPr>
            <a:r>
              <a:t>Luồng suy luận hai tầng</a:t>
            </a:r>
          </a:p>
        </p:txBody>
      </p:sp>
      <p:sp>
        <p:nvSpPr>
          <p:cNvPr id="9" name="Rounded Rectangle 8"/>
          <p:cNvSpPr/>
          <p:nvPr/>
        </p:nvSpPr>
        <p:spPr>
          <a:xfrm>
            <a:off x="731520" y="2011680"/>
            <a:ext cx="5029200" cy="1097280"/>
          </a:xfrm>
          <a:prstGeom prst="roundRect">
            <a:avLst/>
          </a:prstGeom>
          <a:solidFill>
            <a:srgbClr val="E3F2FD"/>
          </a:solidFill>
          <a:ln>
            <a:solidFill>
              <a:srgbClr val="144D8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2057400"/>
            <a:ext cx="5029200" cy="320040"/>
          </a:xfrm>
          <a:prstGeom prst="rect">
            <a:avLst/>
          </a:prstGeom>
          <a:noFill/>
        </p:spPr>
        <p:txBody>
          <a:bodyPr wrap="square">
            <a:spAutoFit/>
          </a:bodyPr>
          <a:lstStyle/>
          <a:p>
            <a:pPr algn="ctr">
              <a:lnSpc>
                <a:spcPts val="1680"/>
              </a:lnSpc>
              <a:spcAft>
                <a:spcPts val="0"/>
              </a:spcAft>
              <a:defRPr sz="1400" b="1">
                <a:solidFill>
                  <a:srgbClr val="144D8D"/>
                </a:solidFill>
                <a:latin typeface="Calibri"/>
              </a:defRPr>
            </a:pPr>
            <a:r>
              <a:t>Tầng 1: YOLO Detection</a:t>
            </a:r>
          </a:p>
        </p:txBody>
      </p:sp>
      <p:sp>
        <p:nvSpPr>
          <p:cNvPr id="11" name="TextBox 10"/>
          <p:cNvSpPr txBox="1"/>
          <p:nvPr/>
        </p:nvSpPr>
        <p:spPr>
          <a:xfrm>
            <a:off x="914400" y="2423160"/>
            <a:ext cx="4572000" cy="548640"/>
          </a:xfrm>
          <a:prstGeom prst="rect">
            <a:avLst/>
          </a:prstGeom>
          <a:noFill/>
        </p:spPr>
        <p:txBody>
          <a:bodyPr wrap="square">
            <a:spAutoFit/>
          </a:bodyPr>
          <a:lstStyle/>
          <a:p>
            <a:pPr algn="ctr">
              <a:lnSpc>
                <a:spcPts val="1439"/>
              </a:lnSpc>
              <a:spcAft>
                <a:spcPts val="0"/>
              </a:spcAft>
              <a:defRPr sz="1200" b="0">
                <a:solidFill>
                  <a:srgbClr val="424242"/>
                </a:solidFill>
                <a:latin typeface="Calibri"/>
              </a:defRPr>
            </a:pPr>
            <a:r>
              <a:t>Phát hiện đối tượng → Bounding box + Confidence</a:t>
            </a:r>
            <a:br/>
            <a:r>
              <a:t>Cung cấp tín hiệu kích hoạt cho Pose</a:t>
            </a:r>
          </a:p>
        </p:txBody>
      </p:sp>
      <p:sp>
        <p:nvSpPr>
          <p:cNvPr id="12" name="Down Arrow 11"/>
          <p:cNvSpPr/>
          <p:nvPr/>
        </p:nvSpPr>
        <p:spPr>
          <a:xfrm>
            <a:off x="3017520" y="3108960"/>
            <a:ext cx="365760" cy="274320"/>
          </a:xfrm>
          <a:prstGeom prst="downArrow">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731520" y="3474720"/>
            <a:ext cx="5029200" cy="1097280"/>
          </a:xfrm>
          <a:prstGeom prst="roundRect">
            <a:avLst/>
          </a:prstGeom>
          <a:solidFill>
            <a:srgbClr val="E8F5E9"/>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3520440"/>
            <a:ext cx="5029200" cy="320040"/>
          </a:xfrm>
          <a:prstGeom prst="rect">
            <a:avLst/>
          </a:prstGeom>
          <a:noFill/>
        </p:spPr>
        <p:txBody>
          <a:bodyPr wrap="square">
            <a:spAutoFit/>
          </a:bodyPr>
          <a:lstStyle/>
          <a:p>
            <a:pPr algn="ctr">
              <a:lnSpc>
                <a:spcPts val="1680"/>
              </a:lnSpc>
              <a:spcAft>
                <a:spcPts val="0"/>
              </a:spcAft>
              <a:defRPr sz="1400" b="1">
                <a:solidFill>
                  <a:srgbClr val="2E7D32"/>
                </a:solidFill>
                <a:latin typeface="Calibri"/>
              </a:defRPr>
            </a:pPr>
            <a:r>
              <a:t>Tầng 2: MediaPipe Pose</a:t>
            </a:r>
          </a:p>
        </p:txBody>
      </p:sp>
      <p:sp>
        <p:nvSpPr>
          <p:cNvPr id="15" name="TextBox 14"/>
          <p:cNvSpPr txBox="1"/>
          <p:nvPr/>
        </p:nvSpPr>
        <p:spPr>
          <a:xfrm>
            <a:off x="914400" y="3886200"/>
            <a:ext cx="4572000" cy="548640"/>
          </a:xfrm>
          <a:prstGeom prst="rect">
            <a:avLst/>
          </a:prstGeom>
          <a:noFill/>
        </p:spPr>
        <p:txBody>
          <a:bodyPr wrap="square">
            <a:spAutoFit/>
          </a:bodyPr>
          <a:lstStyle/>
          <a:p>
            <a:pPr algn="ctr">
              <a:lnSpc>
                <a:spcPts val="1439"/>
              </a:lnSpc>
              <a:spcAft>
                <a:spcPts val="0"/>
              </a:spcAft>
              <a:defRPr sz="1200" b="0">
                <a:solidFill>
                  <a:srgbClr val="424242"/>
                </a:solidFill>
                <a:latin typeface="Calibri"/>
              </a:defRPr>
            </a:pPr>
            <a:r>
              <a:t>13 landmarks → Driver ROI + Chest ROI</a:t>
            </a:r>
            <a:br/>
            <a:r>
              <a:t>Đo khoảng cách Euclidean với vật thể</a:t>
            </a:r>
          </a:p>
        </p:txBody>
      </p:sp>
      <p:sp>
        <p:nvSpPr>
          <p:cNvPr id="16" name="Down Arrow 15"/>
          <p:cNvSpPr/>
          <p:nvPr/>
        </p:nvSpPr>
        <p:spPr>
          <a:xfrm>
            <a:off x="3017520" y="4572000"/>
            <a:ext cx="365760" cy="274320"/>
          </a:xfrm>
          <a:prstGeom prst="downArrow">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731520" y="4937760"/>
            <a:ext cx="5029200" cy="914400"/>
          </a:xfrm>
          <a:prstGeom prst="roundRect">
            <a:avLst/>
          </a:prstGeom>
          <a:solidFill>
            <a:srgbClr val="FFF3E0"/>
          </a:solidFill>
          <a:ln>
            <a:solidFill>
              <a:srgbClr val="FF6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4983480"/>
            <a:ext cx="5029200" cy="320040"/>
          </a:xfrm>
          <a:prstGeom prst="rect">
            <a:avLst/>
          </a:prstGeom>
          <a:noFill/>
        </p:spPr>
        <p:txBody>
          <a:bodyPr wrap="square">
            <a:spAutoFit/>
          </a:bodyPr>
          <a:lstStyle/>
          <a:p>
            <a:pPr algn="ctr">
              <a:lnSpc>
                <a:spcPts val="1680"/>
              </a:lnSpc>
              <a:spcAft>
                <a:spcPts val="0"/>
              </a:spcAft>
              <a:defRPr sz="1400" b="1">
                <a:solidFill>
                  <a:srgbClr val="FF6F00"/>
                </a:solidFill>
                <a:latin typeface="Calibri"/>
              </a:defRPr>
            </a:pPr>
            <a:r>
              <a:t>Tầng 3: Behavior Rules Engine</a:t>
            </a:r>
          </a:p>
        </p:txBody>
      </p:sp>
      <p:sp>
        <p:nvSpPr>
          <p:cNvPr id="19" name="TextBox 18"/>
          <p:cNvSpPr txBox="1"/>
          <p:nvPr/>
        </p:nvSpPr>
        <p:spPr>
          <a:xfrm>
            <a:off x="914400" y="5349240"/>
            <a:ext cx="4572000" cy="365760"/>
          </a:xfrm>
          <a:prstGeom prst="rect">
            <a:avLst/>
          </a:prstGeom>
          <a:noFill/>
        </p:spPr>
        <p:txBody>
          <a:bodyPr wrap="square">
            <a:spAutoFit/>
          </a:bodyPr>
          <a:lstStyle/>
          <a:p>
            <a:pPr algn="ctr">
              <a:lnSpc>
                <a:spcPts val="1320"/>
              </a:lnSpc>
              <a:spcAft>
                <a:spcPts val="0"/>
              </a:spcAft>
              <a:defRPr sz="1100" b="0">
                <a:solidFill>
                  <a:srgbClr val="424242"/>
                </a:solidFill>
                <a:latin typeface="Calibri"/>
              </a:defRPr>
            </a:pPr>
            <a:r>
              <a:t>Score = w1×YOLO_conf + w2×proximity(obj,wrist) + w3×proximity(obj,face) − w4×size_penalty</a:t>
            </a:r>
          </a:p>
        </p:txBody>
      </p:sp>
      <p:sp>
        <p:nvSpPr>
          <p:cNvPr id="20" name="TextBox 19"/>
          <p:cNvSpPr txBox="1"/>
          <p:nvPr/>
        </p:nvSpPr>
        <p:spPr>
          <a:xfrm>
            <a:off x="6400800" y="1463040"/>
            <a:ext cx="5029200" cy="365760"/>
          </a:xfrm>
          <a:prstGeom prst="rect">
            <a:avLst/>
          </a:prstGeom>
          <a:noFill/>
        </p:spPr>
        <p:txBody>
          <a:bodyPr wrap="square">
            <a:spAutoFit/>
          </a:bodyPr>
          <a:lstStyle/>
          <a:p>
            <a:pPr algn="l">
              <a:lnSpc>
                <a:spcPts val="1920"/>
              </a:lnSpc>
              <a:spcAft>
                <a:spcPts val="0"/>
              </a:spcAft>
              <a:defRPr sz="1600" b="1">
                <a:solidFill>
                  <a:srgbClr val="0A2E5C"/>
                </a:solidFill>
                <a:latin typeface="Calibri"/>
              </a:defRPr>
            </a:pPr>
            <a:r>
              <a:t>Nguyên tắc xác thực</a:t>
            </a:r>
          </a:p>
        </p:txBody>
      </p:sp>
      <p:sp>
        <p:nvSpPr>
          <p:cNvPr id="21" name="TextBox 20"/>
          <p:cNvSpPr txBox="1"/>
          <p:nvPr/>
        </p:nvSpPr>
        <p:spPr>
          <a:xfrm>
            <a:off x="6400800" y="2011680"/>
            <a:ext cx="5303520" cy="4114800"/>
          </a:xfrm>
          <a:prstGeom prst="rect">
            <a:avLst/>
          </a:prstGeom>
          <a:noFill/>
        </p:spPr>
        <p:txBody>
          <a:bodyPr wrap="square">
            <a:spAutoFit/>
          </a:bodyPr>
          <a:lstStyle/>
          <a:p>
            <a:pPr algn="l">
              <a:lnSpc>
                <a:spcPts val="1820"/>
              </a:lnSpc>
              <a:spcAft>
                <a:spcPts val="600"/>
              </a:spcAft>
              <a:defRPr sz="1300">
                <a:solidFill>
                  <a:srgbClr val="424242"/>
                </a:solidFill>
                <a:latin typeface="Calibri"/>
              </a:defRPr>
            </a:pPr>
            <a:r>
              <a:t>▸ Không fallback YOLO đơn lẻ cho hành vi dùng điện thoại</a:t>
            </a:r>
          </a:p>
          <a:p>
            <a:pPr algn="l">
              <a:lnSpc>
                <a:spcPts val="1820"/>
              </a:lnSpc>
              <a:spcAft>
                <a:spcPts val="600"/>
              </a:spcAft>
              <a:defRPr sz="1300">
                <a:solidFill>
                  <a:srgbClr val="424242"/>
                </a:solidFill>
                <a:latin typeface="Calibri"/>
              </a:defRPr>
            </a:pPr>
            <a:r>
              <a:t>▸ Fallback cho hút thuốc: raw conf ≥ 0.70 khi không có pose</a:t>
            </a:r>
          </a:p>
          <a:p>
            <a:pPr algn="l">
              <a:lnSpc>
                <a:spcPts val="1820"/>
              </a:lnSpc>
              <a:spcAft>
                <a:spcPts val="600"/>
              </a:spcAft>
              <a:defRPr sz="1300">
                <a:solidFill>
                  <a:srgbClr val="424242"/>
                </a:solidFill>
                <a:latin typeface="Calibri"/>
              </a:defRPr>
            </a:pPr>
            <a:r>
              <a:t>▸ Cần tối thiểu: 1 điểm mặt + 1 điểm vai + 1 điểm cổ tay</a:t>
            </a:r>
          </a:p>
          <a:p>
            <a:pPr algn="l">
              <a:lnSpc>
                <a:spcPts val="1820"/>
              </a:lnSpc>
              <a:spcAft>
                <a:spcPts val="600"/>
              </a:spcAft>
              <a:defRPr sz="1300">
                <a:solidFill>
                  <a:srgbClr val="424242"/>
                </a:solidFill>
                <a:latin typeface="Calibri"/>
              </a:defRPr>
            </a:pPr>
            <a:r>
              <a:t>▸ Khoảng cách chuẩn hóa theo tỷ lệ vai tài xế</a:t>
            </a:r>
          </a:p>
          <a:p>
            <a:pPr algn="l">
              <a:lnSpc>
                <a:spcPts val="1820"/>
              </a:lnSpc>
              <a:spcAft>
                <a:spcPts val="600"/>
              </a:spcAft>
              <a:defRPr sz="1300">
                <a:solidFill>
                  <a:srgbClr val="424242"/>
                </a:solidFill>
                <a:latin typeface="Calibri"/>
              </a:defRPr>
            </a:pPr>
            <a:r>
              <a:t>▸ Ngưỡng xác nhận: score ≥ 0.62</a:t>
            </a:r>
          </a:p>
          <a:p>
            <a:pPr algn="l">
              <a:lnSpc>
                <a:spcPts val="1820"/>
              </a:lnSpc>
              <a:spcAft>
                <a:spcPts val="600"/>
              </a:spcAft>
              <a:defRPr sz="1300">
                <a:solidFill>
                  <a:srgbClr val="424242"/>
                </a:solidFill>
                <a:latin typeface="Calibri"/>
              </a:defRPr>
            </a:pPr>
            <a:r>
              <a:t>▸ Số frame liên tiếp cần xác nhận: 7 frame (phone, smoking), 12 frame (no_seatbelt)</a:t>
            </a:r>
          </a:p>
        </p:txBody>
      </p:sp>
      <p:sp>
        <p:nvSpPr>
          <p:cNvPr id="22" name="Rounded Rectangle 21"/>
          <p:cNvSpPr/>
          <p:nvPr/>
        </p:nvSpPr>
        <p:spPr>
          <a:xfrm>
            <a:off x="6400800" y="5303520"/>
            <a:ext cx="5029200" cy="731520"/>
          </a:xfrm>
          <a:prstGeom prst="roundRect">
            <a:avLst/>
          </a:prstGeom>
          <a:solidFill>
            <a:srgbClr val="E8F5E9"/>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675120" y="5394960"/>
            <a:ext cx="4572000" cy="548640"/>
          </a:xfrm>
          <a:prstGeom prst="rect">
            <a:avLst/>
          </a:prstGeom>
          <a:noFill/>
        </p:spPr>
        <p:txBody>
          <a:bodyPr wrap="square">
            <a:spAutoFit/>
          </a:bodyPr>
          <a:lstStyle/>
          <a:p>
            <a:pPr algn="ctr">
              <a:lnSpc>
                <a:spcPts val="1680"/>
              </a:lnSpc>
              <a:spcAft>
                <a:spcPts val="0"/>
              </a:spcAft>
              <a:defRPr sz="1400" b="1">
                <a:solidFill>
                  <a:srgbClr val="2E7D32"/>
                </a:solidFill>
                <a:latin typeface="Calibri"/>
              </a:defRPr>
            </a:pPr>
            <a:r>
              <a:t>✓ Giảm cảnh báo sai tốt hơn so với chỉ dùng YOLO thuần túy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0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37160"/>
            <a:ext cx="10058400" cy="640080"/>
          </a:xfrm>
          <a:prstGeom prst="rect">
            <a:avLst/>
          </a:prstGeom>
          <a:noFill/>
        </p:spPr>
        <p:txBody>
          <a:bodyPr wrap="square">
            <a:spAutoFit/>
          </a:bodyPr>
          <a:lstStyle/>
          <a:p>
            <a:pPr algn="l">
              <a:lnSpc>
                <a:spcPts val="3840"/>
              </a:lnSpc>
              <a:spcAft>
                <a:spcPts val="0"/>
              </a:spcAft>
              <a:defRPr sz="3200" b="1">
                <a:solidFill>
                  <a:srgbClr val="FFFFFF"/>
                </a:solidFill>
                <a:latin typeface="Calibri"/>
              </a:defRPr>
            </a:pPr>
            <a:r>
              <a:t>DRIVER ROI VÀ CHEST ROI</a:t>
            </a:r>
          </a:p>
        </p:txBody>
      </p:sp>
      <p:sp>
        <p:nvSpPr>
          <p:cNvPr id="4" name="TextBox 3"/>
          <p:cNvSpPr txBox="1"/>
          <p:nvPr/>
        </p:nvSpPr>
        <p:spPr>
          <a:xfrm>
            <a:off x="731520" y="685800"/>
            <a:ext cx="10058400" cy="365760"/>
          </a:xfrm>
          <a:prstGeom prst="rect">
            <a:avLst/>
          </a:prstGeom>
          <a:noFill/>
        </p:spPr>
        <p:txBody>
          <a:bodyPr wrap="square">
            <a:spAutoFit/>
          </a:bodyPr>
          <a:lstStyle/>
          <a:p>
            <a:pPr algn="l">
              <a:lnSpc>
                <a:spcPts val="1920"/>
              </a:lnSpc>
              <a:spcAft>
                <a:spcPts val="0"/>
              </a:spcAft>
              <a:defRPr sz="1600" b="0">
                <a:solidFill>
                  <a:srgbClr val="42A5F5"/>
                </a:solidFill>
                <a:latin typeface="Calibri"/>
              </a:defRPr>
            </a:pPr>
            <a:r>
              <a:t>Chương 3.2.2: Vùng quan tâm trong khoang lái</a:t>
            </a:r>
          </a:p>
        </p:txBody>
      </p:sp>
      <p:sp>
        <p:nvSpPr>
          <p:cNvPr id="5" name="Rectangle 4"/>
          <p:cNvSpPr/>
          <p:nvPr/>
        </p:nvSpPr>
        <p:spPr>
          <a:xfrm>
            <a:off x="0" y="1097280"/>
            <a:ext cx="12191695" cy="4572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492240"/>
            <a:ext cx="12191695" cy="365760"/>
          </a:xfrm>
          <a:prstGeom prst="rect">
            <a:avLst/>
          </a:prstGeom>
          <a:solidFill>
            <a:srgbClr val="0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10528"/>
            <a:ext cx="10972800" cy="320040"/>
          </a:xfrm>
          <a:prstGeom prst="rect">
            <a:avLst/>
          </a:prstGeom>
          <a:noFill/>
        </p:spPr>
        <p:txBody>
          <a:bodyPr wrap="square">
            <a:spAutoFit/>
          </a:bodyPr>
          <a:lstStyle/>
          <a:p>
            <a:pPr algn="ctr">
              <a:lnSpc>
                <a:spcPts val="1200"/>
              </a:lnSpc>
              <a:spcAft>
                <a:spcPts val="0"/>
              </a:spcAft>
              <a:defRPr sz="1000" b="0">
                <a:solidFill>
                  <a:srgbClr val="BBDEFB"/>
                </a:solidFill>
                <a:latin typeface="Calibri"/>
              </a:defRPr>
            </a:pPr>
            <a:r>
              <a:t>La Đại Lộc | MSSV: 4551050116 | GVHD: TS. Nguyễn Thanh Bình | Trường Đại học Quy Nhơn</a:t>
            </a:r>
          </a:p>
        </p:txBody>
      </p:sp>
      <p:sp>
        <p:nvSpPr>
          <p:cNvPr id="8" name="Rounded Rectangle 7"/>
          <p:cNvSpPr/>
          <p:nvPr/>
        </p:nvSpPr>
        <p:spPr>
          <a:xfrm>
            <a:off x="731520" y="1645920"/>
            <a:ext cx="5029200" cy="4389120"/>
          </a:xfrm>
          <a:prstGeom prst="roundRect">
            <a:avLst/>
          </a:prstGeom>
          <a:solidFill>
            <a:srgbClr val="E3F2FD"/>
          </a:solidFill>
          <a:ln>
            <a:solidFill>
              <a:srgbClr val="144D8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1737360"/>
            <a:ext cx="5029200" cy="365760"/>
          </a:xfrm>
          <a:prstGeom prst="rect">
            <a:avLst/>
          </a:prstGeom>
          <a:noFill/>
        </p:spPr>
        <p:txBody>
          <a:bodyPr wrap="square">
            <a:spAutoFit/>
          </a:bodyPr>
          <a:lstStyle/>
          <a:p>
            <a:pPr algn="ctr">
              <a:lnSpc>
                <a:spcPts val="2160"/>
              </a:lnSpc>
              <a:spcAft>
                <a:spcPts val="0"/>
              </a:spcAft>
              <a:defRPr sz="1800" b="1">
                <a:solidFill>
                  <a:srgbClr val="144D8D"/>
                </a:solidFill>
                <a:latin typeface="Calibri"/>
              </a:defRPr>
            </a:pPr>
            <a:r>
              <a:t>Driver ROI (Vùng người lái)</a:t>
            </a:r>
          </a:p>
        </p:txBody>
      </p:sp>
      <p:sp>
        <p:nvSpPr>
          <p:cNvPr id="10" name="TextBox 9"/>
          <p:cNvSpPr txBox="1"/>
          <p:nvPr/>
        </p:nvSpPr>
        <p:spPr>
          <a:xfrm>
            <a:off x="1097280" y="2286000"/>
            <a:ext cx="4389120" cy="3200400"/>
          </a:xfrm>
          <a:prstGeom prst="rect">
            <a:avLst/>
          </a:prstGeom>
          <a:noFill/>
        </p:spPr>
        <p:txBody>
          <a:bodyPr wrap="square">
            <a:spAutoFit/>
          </a:bodyPr>
          <a:lstStyle/>
          <a:p>
            <a:pPr algn="l">
              <a:lnSpc>
                <a:spcPts val="2100"/>
              </a:lnSpc>
              <a:spcAft>
                <a:spcPts val="600"/>
              </a:spcAft>
              <a:defRPr sz="1400">
                <a:solidFill>
                  <a:srgbClr val="424242"/>
                </a:solidFill>
                <a:latin typeface="Calibri"/>
              </a:defRPr>
            </a:pPr>
            <a:r>
              <a:t>▸ Xây dựng từ tọa độ: mũi, tai, vai, cổ tay</a:t>
            </a:r>
          </a:p>
          <a:p>
            <a:pPr algn="l">
              <a:lnSpc>
                <a:spcPts val="2100"/>
              </a:lnSpc>
              <a:spcAft>
                <a:spcPts val="600"/>
              </a:spcAft>
              <a:defRPr sz="1400">
                <a:solidFill>
                  <a:srgbClr val="424242"/>
                </a:solidFill>
                <a:latin typeface="Calibri"/>
              </a:defRPr>
            </a:pPr>
            <a:r>
              <a:t>▸ Giới hạn vùng thao tác chính của tài xế</a:t>
            </a:r>
          </a:p>
          <a:p>
            <a:pPr algn="l">
              <a:lnSpc>
                <a:spcPts val="2100"/>
              </a:lnSpc>
              <a:spcAft>
                <a:spcPts val="600"/>
              </a:spcAft>
              <a:defRPr sz="1400">
                <a:solidFill>
                  <a:srgbClr val="424242"/>
                </a:solidFill>
                <a:latin typeface="Calibri"/>
              </a:defRPr>
            </a:pPr>
            <a:r>
              <a:t>▸ Phân biệt vật thể của tài xế vs hành khách</a:t>
            </a:r>
          </a:p>
          <a:p>
            <a:pPr algn="l">
              <a:lnSpc>
                <a:spcPts val="2100"/>
              </a:lnSpc>
              <a:spcAft>
                <a:spcPts val="600"/>
              </a:spcAft>
              <a:defRPr sz="1400">
                <a:solidFill>
                  <a:srgbClr val="424242"/>
                </a:solidFill>
                <a:latin typeface="Calibri"/>
              </a:defRPr>
            </a:pPr>
            <a:r>
              <a:t>▸ Giảm nhiễu từ ghế phụ và bảng điều khiển</a:t>
            </a:r>
          </a:p>
          <a:p>
            <a:pPr algn="l">
              <a:lnSpc>
                <a:spcPts val="2100"/>
              </a:lnSpc>
              <a:spcAft>
                <a:spcPts val="600"/>
              </a:spcAft>
              <a:defRPr sz="1400">
                <a:solidFill>
                  <a:srgbClr val="424242"/>
                </a:solidFill>
                <a:latin typeface="Calibri"/>
              </a:defRPr>
            </a:pPr>
            <a:r>
              <a:t>▸ Tập trung tính toán Edge vào đúng đối tượng</a:t>
            </a:r>
          </a:p>
        </p:txBody>
      </p:sp>
      <p:sp>
        <p:nvSpPr>
          <p:cNvPr id="11" name="Rounded Rectangle 10"/>
          <p:cNvSpPr/>
          <p:nvPr/>
        </p:nvSpPr>
        <p:spPr>
          <a:xfrm>
            <a:off x="6400800" y="1645920"/>
            <a:ext cx="5029200" cy="4389120"/>
          </a:xfrm>
          <a:prstGeom prst="roundRect">
            <a:avLst/>
          </a:prstGeom>
          <a:solidFill>
            <a:srgbClr val="FFF3E0"/>
          </a:solidFill>
          <a:ln>
            <a:solidFill>
              <a:srgbClr val="FF6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1737360"/>
            <a:ext cx="5029200" cy="365760"/>
          </a:xfrm>
          <a:prstGeom prst="rect">
            <a:avLst/>
          </a:prstGeom>
          <a:noFill/>
        </p:spPr>
        <p:txBody>
          <a:bodyPr wrap="square">
            <a:spAutoFit/>
          </a:bodyPr>
          <a:lstStyle/>
          <a:p>
            <a:pPr algn="ctr">
              <a:lnSpc>
                <a:spcPts val="2160"/>
              </a:lnSpc>
              <a:spcAft>
                <a:spcPts val="0"/>
              </a:spcAft>
              <a:defRPr sz="1800" b="1">
                <a:solidFill>
                  <a:srgbClr val="FF6F00"/>
                </a:solidFill>
                <a:latin typeface="Calibri"/>
              </a:defRPr>
            </a:pPr>
            <a:r>
              <a:t>Chest ROI (Vùng ngực)</a:t>
            </a:r>
          </a:p>
        </p:txBody>
      </p:sp>
      <p:sp>
        <p:nvSpPr>
          <p:cNvPr id="13" name="TextBox 12"/>
          <p:cNvSpPr txBox="1"/>
          <p:nvPr/>
        </p:nvSpPr>
        <p:spPr>
          <a:xfrm>
            <a:off x="6766560" y="2286000"/>
            <a:ext cx="4389120" cy="3200400"/>
          </a:xfrm>
          <a:prstGeom prst="rect">
            <a:avLst/>
          </a:prstGeom>
          <a:noFill/>
        </p:spPr>
        <p:txBody>
          <a:bodyPr wrap="square">
            <a:spAutoFit/>
          </a:bodyPr>
          <a:lstStyle/>
          <a:p>
            <a:pPr algn="l">
              <a:lnSpc>
                <a:spcPts val="2100"/>
              </a:lnSpc>
              <a:spcAft>
                <a:spcPts val="600"/>
              </a:spcAft>
              <a:defRPr sz="1400">
                <a:solidFill>
                  <a:srgbClr val="424242"/>
                </a:solidFill>
                <a:latin typeface="Calibri"/>
              </a:defRPr>
            </a:pPr>
            <a:r>
              <a:t>▸ Nội suy từ tọa độ hai vai và trục xương sống</a:t>
            </a:r>
          </a:p>
          <a:p>
            <a:pPr algn="l">
              <a:lnSpc>
                <a:spcPts val="2100"/>
              </a:lnSpc>
              <a:spcAft>
                <a:spcPts val="600"/>
              </a:spcAft>
              <a:defRPr sz="1400">
                <a:solidFill>
                  <a:srgbClr val="424242"/>
                </a:solidFill>
                <a:latin typeface="Calibri"/>
              </a:defRPr>
            </a:pPr>
            <a:r>
              <a:t>▸ Phục vụ đánh giá trạng thái dây an toàn</a:t>
            </a:r>
          </a:p>
          <a:p>
            <a:pPr algn="l">
              <a:lnSpc>
                <a:spcPts val="2100"/>
              </a:lnSpc>
              <a:spcAft>
                <a:spcPts val="600"/>
              </a:spcAft>
              <a:defRPr sz="1400">
                <a:solidFill>
                  <a:srgbClr val="424242"/>
                </a:solidFill>
                <a:latin typeface="Calibri"/>
              </a:defRPr>
            </a:pPr>
            <a:r>
              <a:t>▸ Đoán quỹ đạo chuẩn mà dây phải đi qua</a:t>
            </a:r>
          </a:p>
          <a:p>
            <a:pPr algn="l">
              <a:lnSpc>
                <a:spcPts val="2100"/>
              </a:lnSpc>
              <a:spcAft>
                <a:spcPts val="600"/>
              </a:spcAft>
              <a:defRPr sz="1400">
                <a:solidFill>
                  <a:srgbClr val="424242"/>
                </a:solidFill>
                <a:latin typeface="Calibri"/>
              </a:defRPr>
            </a:pPr>
            <a:r>
              <a:t>▸ Đối chiếu bounding box dây an toàn với ranh giới</a:t>
            </a:r>
          </a:p>
          <a:p>
            <a:pPr algn="l">
              <a:lnSpc>
                <a:spcPts val="2100"/>
              </a:lnSpc>
              <a:spcAft>
                <a:spcPts val="600"/>
              </a:spcAft>
              <a:defRPr sz="1400">
                <a:solidFill>
                  <a:srgbClr val="424242"/>
                </a:solidFill>
                <a:latin typeface="Calibri"/>
              </a:defRPr>
            </a:pPr>
            <a:r>
              <a:t>▸ Loại bỏ báo động giả do nếp áo hoặc quai túi</a:t>
            </a:r>
          </a:p>
        </p:txBody>
      </p:sp>
      <p:sp>
        <p:nvSpPr>
          <p:cNvPr id="14" name="Rounded Rectangle 13"/>
          <p:cNvSpPr/>
          <p:nvPr/>
        </p:nvSpPr>
        <p:spPr>
          <a:xfrm>
            <a:off x="1828800" y="5486400"/>
            <a:ext cx="8229600" cy="640080"/>
          </a:xfrm>
          <a:prstGeom prst="roundRect">
            <a:avLst/>
          </a:prstGeom>
          <a:solidFill>
            <a:srgbClr val="F3E5F5"/>
          </a:solidFill>
          <a:ln>
            <a:solidFill>
              <a:srgbClr val="6A1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103120" y="5577840"/>
            <a:ext cx="7772400" cy="457200"/>
          </a:xfrm>
          <a:prstGeom prst="rect">
            <a:avLst/>
          </a:prstGeom>
          <a:noFill/>
        </p:spPr>
        <p:txBody>
          <a:bodyPr wrap="square">
            <a:spAutoFit/>
          </a:bodyPr>
          <a:lstStyle/>
          <a:p>
            <a:pPr algn="ctr">
              <a:lnSpc>
                <a:spcPts val="1680"/>
              </a:lnSpc>
              <a:spcAft>
                <a:spcPts val="0"/>
              </a:spcAft>
              <a:defRPr sz="1400" b="1">
                <a:solidFill>
                  <a:srgbClr val="6A1B9A"/>
                </a:solidFill>
                <a:latin typeface="Calibri"/>
              </a:defRPr>
            </a:pPr>
            <a:r>
              <a:t>Cả hai ROI đều được xây dựng từ dữ liệu MediaPipe Pose → giảm phụ thuộc vào góc camera</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0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37160"/>
            <a:ext cx="10058400" cy="640080"/>
          </a:xfrm>
          <a:prstGeom prst="rect">
            <a:avLst/>
          </a:prstGeom>
          <a:noFill/>
        </p:spPr>
        <p:txBody>
          <a:bodyPr wrap="square">
            <a:spAutoFit/>
          </a:bodyPr>
          <a:lstStyle/>
          <a:p>
            <a:pPr algn="l">
              <a:lnSpc>
                <a:spcPts val="3840"/>
              </a:lnSpc>
              <a:spcAft>
                <a:spcPts val="0"/>
              </a:spcAft>
              <a:defRPr sz="3200" b="1">
                <a:solidFill>
                  <a:srgbClr val="FFFFFF"/>
                </a:solidFill>
                <a:latin typeface="Calibri"/>
              </a:defRPr>
            </a:pPr>
            <a:r>
              <a:t>PHÁT HIỆN HÀNH VI SỬ DỤNG ĐIỆN THOẠI</a:t>
            </a:r>
          </a:p>
        </p:txBody>
      </p:sp>
      <p:sp>
        <p:nvSpPr>
          <p:cNvPr id="4" name="TextBox 3"/>
          <p:cNvSpPr txBox="1"/>
          <p:nvPr/>
        </p:nvSpPr>
        <p:spPr>
          <a:xfrm>
            <a:off x="731520" y="685800"/>
            <a:ext cx="10058400" cy="365760"/>
          </a:xfrm>
          <a:prstGeom prst="rect">
            <a:avLst/>
          </a:prstGeom>
          <a:noFill/>
        </p:spPr>
        <p:txBody>
          <a:bodyPr wrap="square">
            <a:spAutoFit/>
          </a:bodyPr>
          <a:lstStyle/>
          <a:p>
            <a:pPr algn="l">
              <a:lnSpc>
                <a:spcPts val="1920"/>
              </a:lnSpc>
              <a:spcAft>
                <a:spcPts val="0"/>
              </a:spcAft>
              <a:defRPr sz="1600" b="0">
                <a:solidFill>
                  <a:srgbClr val="42A5F5"/>
                </a:solidFill>
                <a:latin typeface="Calibri"/>
              </a:defRPr>
            </a:pPr>
            <a:r>
              <a:t>Chương 3.2.3</a:t>
            </a:r>
          </a:p>
        </p:txBody>
      </p:sp>
      <p:sp>
        <p:nvSpPr>
          <p:cNvPr id="5" name="Rectangle 4"/>
          <p:cNvSpPr/>
          <p:nvPr/>
        </p:nvSpPr>
        <p:spPr>
          <a:xfrm>
            <a:off x="0" y="1097280"/>
            <a:ext cx="12191695" cy="4572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492240"/>
            <a:ext cx="12191695" cy="365760"/>
          </a:xfrm>
          <a:prstGeom prst="rect">
            <a:avLst/>
          </a:prstGeom>
          <a:solidFill>
            <a:srgbClr val="0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10528"/>
            <a:ext cx="10972800" cy="320040"/>
          </a:xfrm>
          <a:prstGeom prst="rect">
            <a:avLst/>
          </a:prstGeom>
          <a:noFill/>
        </p:spPr>
        <p:txBody>
          <a:bodyPr wrap="square">
            <a:spAutoFit/>
          </a:bodyPr>
          <a:lstStyle/>
          <a:p>
            <a:pPr algn="ctr">
              <a:lnSpc>
                <a:spcPts val="1200"/>
              </a:lnSpc>
              <a:spcAft>
                <a:spcPts val="0"/>
              </a:spcAft>
              <a:defRPr sz="1000" b="0">
                <a:solidFill>
                  <a:srgbClr val="BBDEFB"/>
                </a:solidFill>
                <a:latin typeface="Calibri"/>
              </a:defRPr>
            </a:pPr>
            <a:r>
              <a:t>La Đại Lộc | MSSV: 4551050116 | GVHD: TS. Nguyễn Thanh Bình | Trường Đại học Quy Nhơn</a:t>
            </a:r>
          </a:p>
        </p:txBody>
      </p:sp>
      <p:sp>
        <p:nvSpPr>
          <p:cNvPr id="8" name="Rounded Rectangle 7"/>
          <p:cNvSpPr/>
          <p:nvPr/>
        </p:nvSpPr>
        <p:spPr>
          <a:xfrm>
            <a:off x="457200" y="1645920"/>
            <a:ext cx="1691640" cy="914400"/>
          </a:xfrm>
          <a:prstGeom prst="round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100" b="1">
                <a:solidFill>
                  <a:srgbClr val="FFFFFF"/>
                </a:solidFill>
                <a:latin typeface="Calibri"/>
              </a:defRPr>
            </a:pPr>
            <a:r>
              <a:t>YOLO phát hiện</a:t>
            </a:r>
            <a:br/>
            <a:r>
              <a:t>điện thoại</a:t>
            </a:r>
          </a:p>
        </p:txBody>
      </p:sp>
      <p:sp>
        <p:nvSpPr>
          <p:cNvPr id="9" name="Right Arrow 8"/>
          <p:cNvSpPr/>
          <p:nvPr/>
        </p:nvSpPr>
        <p:spPr>
          <a:xfrm>
            <a:off x="2176272" y="1920240"/>
            <a:ext cx="182880" cy="274320"/>
          </a:xfrm>
          <a:prstGeom prst="rightArrow">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2377440" y="1645920"/>
            <a:ext cx="1691640" cy="914400"/>
          </a:xfrm>
          <a:prstGeom prst="roundRect">
            <a:avLst/>
          </a:prstGeom>
          <a:solidFill>
            <a:srgbClr val="144D8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100" b="1">
                <a:solidFill>
                  <a:srgbClr val="FFFFFF"/>
                </a:solidFill>
                <a:latin typeface="Calibri"/>
              </a:defRPr>
            </a:pPr>
            <a:r>
              <a:t>Kiểm tra trong</a:t>
            </a:r>
            <a:br/>
            <a:r>
              <a:t>Driver ROI</a:t>
            </a:r>
          </a:p>
        </p:txBody>
      </p:sp>
      <p:sp>
        <p:nvSpPr>
          <p:cNvPr id="11" name="Right Arrow 10"/>
          <p:cNvSpPr/>
          <p:nvPr/>
        </p:nvSpPr>
        <p:spPr>
          <a:xfrm>
            <a:off x="4096512" y="1920240"/>
            <a:ext cx="182880" cy="274320"/>
          </a:xfrm>
          <a:prstGeom prst="rightArrow">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297680" y="1645920"/>
            <a:ext cx="1691640" cy="914400"/>
          </a:xfrm>
          <a:prstGeom prst="roundRect">
            <a:avLst/>
          </a:prstGeom>
          <a:solidFill>
            <a:srgbClr val="00695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100" b="1">
                <a:solidFill>
                  <a:srgbClr val="FFFFFF"/>
                </a:solidFill>
                <a:latin typeface="Calibri"/>
              </a:defRPr>
            </a:pPr>
            <a:r>
              <a:t>Tính khoảng cách</a:t>
            </a:r>
            <a:br/>
            <a:r>
              <a:t>với cổ tay/mặt</a:t>
            </a:r>
          </a:p>
        </p:txBody>
      </p:sp>
      <p:sp>
        <p:nvSpPr>
          <p:cNvPr id="13" name="Right Arrow 12"/>
          <p:cNvSpPr/>
          <p:nvPr/>
        </p:nvSpPr>
        <p:spPr>
          <a:xfrm>
            <a:off x="6016752" y="1920240"/>
            <a:ext cx="182880" cy="274320"/>
          </a:xfrm>
          <a:prstGeom prst="rightArrow">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217920" y="1645920"/>
            <a:ext cx="1691640" cy="914400"/>
          </a:xfrm>
          <a:prstGeom prst="round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100" b="1">
                <a:solidFill>
                  <a:srgbClr val="FFFFFF"/>
                </a:solidFill>
                <a:latin typeface="Calibri"/>
              </a:defRPr>
            </a:pPr>
            <a:r>
              <a:t>Tính điểm</a:t>
            </a:r>
            <a:br/>
            <a:r>
              <a:t>vi phạm</a:t>
            </a:r>
          </a:p>
        </p:txBody>
      </p:sp>
      <p:sp>
        <p:nvSpPr>
          <p:cNvPr id="15" name="Right Arrow 14"/>
          <p:cNvSpPr/>
          <p:nvPr/>
        </p:nvSpPr>
        <p:spPr>
          <a:xfrm>
            <a:off x="7936992" y="1920240"/>
            <a:ext cx="182880" cy="274320"/>
          </a:xfrm>
          <a:prstGeom prst="rightArrow">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8138160" y="1645920"/>
            <a:ext cx="1691640" cy="914400"/>
          </a:xfrm>
          <a:prstGeom prst="round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100" b="1">
                <a:solidFill>
                  <a:srgbClr val="FFFFFF"/>
                </a:solidFill>
                <a:latin typeface="Calibri"/>
              </a:defRPr>
            </a:pPr>
            <a:r>
              <a:t>Score ≥ 0.62</a:t>
            </a:r>
            <a:br/>
            <a:r>
              <a:t>× 7 frames?</a:t>
            </a:r>
          </a:p>
        </p:txBody>
      </p:sp>
      <p:sp>
        <p:nvSpPr>
          <p:cNvPr id="17" name="Right Arrow 16"/>
          <p:cNvSpPr/>
          <p:nvPr/>
        </p:nvSpPr>
        <p:spPr>
          <a:xfrm>
            <a:off x="9857232" y="1920240"/>
            <a:ext cx="182880" cy="274320"/>
          </a:xfrm>
          <a:prstGeom prst="rightArrow">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10058400" y="1645920"/>
            <a:ext cx="1691640" cy="91440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100" b="1">
                <a:solidFill>
                  <a:srgbClr val="FFFFFF"/>
                </a:solidFill>
                <a:latin typeface="Calibri"/>
              </a:defRPr>
            </a:pPr>
            <a:r>
              <a:t>Cảnh báo</a:t>
            </a:r>
            <a:br/>
            <a:r>
              <a:t>vi phạm</a:t>
            </a:r>
          </a:p>
        </p:txBody>
      </p:sp>
      <p:sp>
        <p:nvSpPr>
          <p:cNvPr id="19" name="TextBox 18"/>
          <p:cNvSpPr txBox="1"/>
          <p:nvPr/>
        </p:nvSpPr>
        <p:spPr>
          <a:xfrm>
            <a:off x="731520" y="3017520"/>
            <a:ext cx="10515600" cy="365760"/>
          </a:xfrm>
          <a:prstGeom prst="rect">
            <a:avLst/>
          </a:prstGeom>
          <a:noFill/>
        </p:spPr>
        <p:txBody>
          <a:bodyPr wrap="square">
            <a:spAutoFit/>
          </a:bodyPr>
          <a:lstStyle/>
          <a:p>
            <a:pPr algn="l">
              <a:lnSpc>
                <a:spcPts val="1920"/>
              </a:lnSpc>
              <a:spcAft>
                <a:spcPts val="0"/>
              </a:spcAft>
              <a:defRPr sz="1600" b="1">
                <a:solidFill>
                  <a:srgbClr val="0A2E5C"/>
                </a:solidFill>
                <a:latin typeface="Calibri"/>
              </a:defRPr>
            </a:pPr>
            <a:r>
              <a:t>Chi tiết cơ chế phát hiện:</a:t>
            </a:r>
          </a:p>
        </p:txBody>
      </p:sp>
      <p:sp>
        <p:nvSpPr>
          <p:cNvPr id="20" name="TextBox 19"/>
          <p:cNvSpPr txBox="1"/>
          <p:nvPr/>
        </p:nvSpPr>
        <p:spPr>
          <a:xfrm>
            <a:off x="731520" y="3474720"/>
            <a:ext cx="10515600" cy="2743200"/>
          </a:xfrm>
          <a:prstGeom prst="rect">
            <a:avLst/>
          </a:prstGeom>
          <a:noFill/>
        </p:spPr>
        <p:txBody>
          <a:bodyPr wrap="square">
            <a:spAutoFit/>
          </a:bodyPr>
          <a:lstStyle/>
          <a:p>
            <a:pPr algn="l">
              <a:lnSpc>
                <a:spcPts val="1820"/>
              </a:lnSpc>
              <a:spcAft>
                <a:spcPts val="600"/>
              </a:spcAft>
              <a:defRPr sz="1400">
                <a:solidFill>
                  <a:srgbClr val="424242"/>
                </a:solidFill>
                <a:latin typeface="Calibri"/>
              </a:defRPr>
            </a:pPr>
            <a:r>
              <a:t>▸ YOLO khoanh vùng điện thoại trong khung hình với confidence score</a:t>
            </a:r>
          </a:p>
          <a:p>
            <a:pPr algn="l">
              <a:lnSpc>
                <a:spcPts val="1820"/>
              </a:lnSpc>
              <a:spcAft>
                <a:spcPts val="600"/>
              </a:spcAft>
              <a:defRPr sz="1400">
                <a:solidFill>
                  <a:srgbClr val="424242"/>
                </a:solidFill>
                <a:latin typeface="Calibri"/>
              </a:defRPr>
            </a:pPr>
            <a:r>
              <a:t>▸ Kiểm tra bounding box có nằm trong Driver ROI hay không → loại bỏ nếu ngoài vùng</a:t>
            </a:r>
          </a:p>
          <a:p>
            <a:pPr algn="l">
              <a:lnSpc>
                <a:spcPts val="1820"/>
              </a:lnSpc>
              <a:spcAft>
                <a:spcPts val="600"/>
              </a:spcAft>
              <a:defRPr sz="1400">
                <a:solidFill>
                  <a:srgbClr val="424242"/>
                </a:solidFill>
                <a:latin typeface="Calibri"/>
              </a:defRPr>
            </a:pPr>
            <a:r>
              <a:t>▸ Tính khoảng cách Euclidean từ tâm điện thoại đến cổ tay và vùng đầu (tai/mũi)</a:t>
            </a:r>
          </a:p>
          <a:p>
            <a:pPr algn="l">
              <a:lnSpc>
                <a:spcPts val="1820"/>
              </a:lnSpc>
              <a:spcAft>
                <a:spcPts val="600"/>
              </a:spcAft>
              <a:defRPr sz="1400">
                <a:solidFill>
                  <a:srgbClr val="424242"/>
                </a:solidFill>
                <a:latin typeface="Calibri"/>
              </a:defRPr>
            </a:pPr>
            <a:r>
              <a:t>▸ Điểm vi phạm = w1×YOLO_conf + w2×proximity(obj,wrist) + w3×proximity(obj,face) − w4×size_penalty</a:t>
            </a:r>
          </a:p>
          <a:p>
            <a:pPr algn="l">
              <a:lnSpc>
                <a:spcPts val="1820"/>
              </a:lnSpc>
              <a:spcAft>
                <a:spcPts val="600"/>
              </a:spcAft>
              <a:defRPr sz="1400">
                <a:solidFill>
                  <a:srgbClr val="424242"/>
                </a:solidFill>
                <a:latin typeface="Calibri"/>
              </a:defRPr>
            </a:pPr>
            <a:r>
              <a:t>▸ Khoảng cách được chuẩn hóa theo tỷ lệ vai tài xế để phù hợp với nhiều vóc dáng</a:t>
            </a:r>
          </a:p>
          <a:p>
            <a:pPr algn="l">
              <a:lnSpc>
                <a:spcPts val="1820"/>
              </a:lnSpc>
              <a:spcAft>
                <a:spcPts val="600"/>
              </a:spcAft>
              <a:defRPr sz="1400">
                <a:solidFill>
                  <a:srgbClr val="424242"/>
                </a:solidFill>
                <a:latin typeface="Calibri"/>
              </a:defRPr>
            </a:pPr>
            <a:r>
              <a:t>▸ Yêu cầu xác nhận liên tục 7 frame vượt ngưỡng 0.62 trước khi tạo cảnh báo</a:t>
            </a:r>
          </a:p>
          <a:p>
            <a:pPr algn="l">
              <a:lnSpc>
                <a:spcPts val="1820"/>
              </a:lnSpc>
              <a:spcAft>
                <a:spcPts val="600"/>
              </a:spcAft>
              <a:defRPr sz="1400">
                <a:solidFill>
                  <a:srgbClr val="424242"/>
                </a:solidFill>
                <a:latin typeface="Calibri"/>
              </a:defRPr>
            </a:pPr>
            <a:r>
              <a:t>▸ Áp dụng cơ chế cooldown 4 giây giữa 2 cảnh báo cùng loại để tránh spam</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0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37160"/>
            <a:ext cx="10058400" cy="640080"/>
          </a:xfrm>
          <a:prstGeom prst="rect">
            <a:avLst/>
          </a:prstGeom>
          <a:noFill/>
        </p:spPr>
        <p:txBody>
          <a:bodyPr wrap="square">
            <a:spAutoFit/>
          </a:bodyPr>
          <a:lstStyle/>
          <a:p>
            <a:pPr algn="l">
              <a:lnSpc>
                <a:spcPts val="3840"/>
              </a:lnSpc>
              <a:spcAft>
                <a:spcPts val="0"/>
              </a:spcAft>
              <a:defRPr sz="3200" b="1">
                <a:solidFill>
                  <a:srgbClr val="FFFFFF"/>
                </a:solidFill>
                <a:latin typeface="Calibri"/>
              </a:defRPr>
            </a:pPr>
            <a:r>
              <a:t>PHÁT HIỆN HÀNH VI HÚT THUỐC</a:t>
            </a:r>
          </a:p>
        </p:txBody>
      </p:sp>
      <p:sp>
        <p:nvSpPr>
          <p:cNvPr id="4" name="TextBox 3"/>
          <p:cNvSpPr txBox="1"/>
          <p:nvPr/>
        </p:nvSpPr>
        <p:spPr>
          <a:xfrm>
            <a:off x="731520" y="685800"/>
            <a:ext cx="10058400" cy="365760"/>
          </a:xfrm>
          <a:prstGeom prst="rect">
            <a:avLst/>
          </a:prstGeom>
          <a:noFill/>
        </p:spPr>
        <p:txBody>
          <a:bodyPr wrap="square">
            <a:spAutoFit/>
          </a:bodyPr>
          <a:lstStyle/>
          <a:p>
            <a:pPr algn="l">
              <a:lnSpc>
                <a:spcPts val="1920"/>
              </a:lnSpc>
              <a:spcAft>
                <a:spcPts val="0"/>
              </a:spcAft>
              <a:defRPr sz="1600" b="0">
                <a:solidFill>
                  <a:srgbClr val="42A5F5"/>
                </a:solidFill>
                <a:latin typeface="Calibri"/>
              </a:defRPr>
            </a:pPr>
            <a:r>
              <a:t>Chương 3.2.3</a:t>
            </a:r>
          </a:p>
        </p:txBody>
      </p:sp>
      <p:sp>
        <p:nvSpPr>
          <p:cNvPr id="5" name="Rectangle 4"/>
          <p:cNvSpPr/>
          <p:nvPr/>
        </p:nvSpPr>
        <p:spPr>
          <a:xfrm>
            <a:off x="0" y="1097280"/>
            <a:ext cx="12191695" cy="4572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492240"/>
            <a:ext cx="12191695" cy="365760"/>
          </a:xfrm>
          <a:prstGeom prst="rect">
            <a:avLst/>
          </a:prstGeom>
          <a:solidFill>
            <a:srgbClr val="0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10528"/>
            <a:ext cx="10972800" cy="320040"/>
          </a:xfrm>
          <a:prstGeom prst="rect">
            <a:avLst/>
          </a:prstGeom>
          <a:noFill/>
        </p:spPr>
        <p:txBody>
          <a:bodyPr wrap="square">
            <a:spAutoFit/>
          </a:bodyPr>
          <a:lstStyle/>
          <a:p>
            <a:pPr algn="ctr">
              <a:lnSpc>
                <a:spcPts val="1200"/>
              </a:lnSpc>
              <a:spcAft>
                <a:spcPts val="0"/>
              </a:spcAft>
              <a:defRPr sz="1000" b="0">
                <a:solidFill>
                  <a:srgbClr val="BBDEFB"/>
                </a:solidFill>
                <a:latin typeface="Calibri"/>
              </a:defRPr>
            </a:pPr>
            <a:r>
              <a:t>La Đại Lộc | MSSV: 4551050116 | GVHD: TS. Nguyễn Thanh Bình | Trường Đại học Quy Nhơn</a:t>
            </a:r>
          </a:p>
        </p:txBody>
      </p:sp>
      <p:sp>
        <p:nvSpPr>
          <p:cNvPr id="8" name="TextBox 7"/>
          <p:cNvSpPr txBox="1"/>
          <p:nvPr/>
        </p:nvSpPr>
        <p:spPr>
          <a:xfrm>
            <a:off x="731520" y="1463040"/>
            <a:ext cx="5029200" cy="365760"/>
          </a:xfrm>
          <a:prstGeom prst="rect">
            <a:avLst/>
          </a:prstGeom>
          <a:noFill/>
        </p:spPr>
        <p:txBody>
          <a:bodyPr wrap="square">
            <a:spAutoFit/>
          </a:bodyPr>
          <a:lstStyle/>
          <a:p>
            <a:pPr algn="l">
              <a:lnSpc>
                <a:spcPts val="1920"/>
              </a:lnSpc>
              <a:spcAft>
                <a:spcPts val="0"/>
              </a:spcAft>
              <a:defRPr sz="1600" b="1">
                <a:solidFill>
                  <a:srgbClr val="C62828"/>
                </a:solidFill>
                <a:latin typeface="Calibri"/>
              </a:defRPr>
            </a:pPr>
            <a:r>
              <a:t>Đặc thù bài toán</a:t>
            </a:r>
          </a:p>
        </p:txBody>
      </p:sp>
      <p:sp>
        <p:nvSpPr>
          <p:cNvPr id="9" name="TextBox 8"/>
          <p:cNvSpPr txBox="1"/>
          <p:nvPr/>
        </p:nvSpPr>
        <p:spPr>
          <a:xfrm>
            <a:off x="731520" y="2011680"/>
            <a:ext cx="5029200" cy="2286000"/>
          </a:xfrm>
          <a:prstGeom prst="rect">
            <a:avLst/>
          </a:prstGeom>
          <a:noFill/>
        </p:spPr>
        <p:txBody>
          <a:bodyPr wrap="square">
            <a:spAutoFit/>
          </a:bodyPr>
          <a:lstStyle/>
          <a:p>
            <a:pPr algn="l">
              <a:lnSpc>
                <a:spcPts val="1959"/>
              </a:lnSpc>
              <a:spcAft>
                <a:spcPts val="600"/>
              </a:spcAft>
              <a:defRPr sz="1400">
                <a:solidFill>
                  <a:srgbClr val="424242"/>
                </a:solidFill>
                <a:latin typeface="Calibri"/>
              </a:defRPr>
            </a:pPr>
            <a:r>
              <a:t>⚠ Điếu thuốc có kích thước pixel rất nhỏ</a:t>
            </a:r>
          </a:p>
          <a:p>
            <a:pPr algn="l">
              <a:lnSpc>
                <a:spcPts val="1959"/>
              </a:lnSpc>
              <a:spcAft>
                <a:spcPts val="600"/>
              </a:spcAft>
              <a:defRPr sz="1400">
                <a:solidFill>
                  <a:srgbClr val="424242"/>
                </a:solidFill>
                <a:latin typeface="Calibri"/>
              </a:defRPr>
            </a:pPr>
            <a:r>
              <a:t>⚠ Dễ bị che khuất bởi ngón tay hoặc khuôn mặt</a:t>
            </a:r>
          </a:p>
          <a:p>
            <a:pPr algn="l">
              <a:lnSpc>
                <a:spcPts val="1959"/>
              </a:lnSpc>
              <a:spcAft>
                <a:spcPts val="600"/>
              </a:spcAft>
              <a:defRPr sz="1400">
                <a:solidFill>
                  <a:srgbClr val="424242"/>
                </a:solidFill>
                <a:latin typeface="Calibri"/>
              </a:defRPr>
            </a:pPr>
            <a:r>
              <a:t>⚠ Vật thể tương đồng gây nhiễu: bút, ống hút, tăm</a:t>
            </a:r>
          </a:p>
          <a:p>
            <a:pPr algn="l">
              <a:lnSpc>
                <a:spcPts val="1959"/>
              </a:lnSpc>
              <a:spcAft>
                <a:spcPts val="600"/>
              </a:spcAft>
              <a:defRPr sz="1400">
                <a:solidFill>
                  <a:srgbClr val="424242"/>
                </a:solidFill>
                <a:latin typeface="Calibri"/>
              </a:defRPr>
            </a:pPr>
            <a:r>
              <a:t>⚠ Cần kết hợp vị trí miệng, tay và tư thế</a:t>
            </a:r>
          </a:p>
        </p:txBody>
      </p:sp>
      <p:sp>
        <p:nvSpPr>
          <p:cNvPr id="10" name="TextBox 9"/>
          <p:cNvSpPr txBox="1"/>
          <p:nvPr/>
        </p:nvSpPr>
        <p:spPr>
          <a:xfrm>
            <a:off x="6400800" y="1463040"/>
            <a:ext cx="5029200" cy="365760"/>
          </a:xfrm>
          <a:prstGeom prst="rect">
            <a:avLst/>
          </a:prstGeom>
          <a:noFill/>
        </p:spPr>
        <p:txBody>
          <a:bodyPr wrap="square">
            <a:spAutoFit/>
          </a:bodyPr>
          <a:lstStyle/>
          <a:p>
            <a:pPr algn="l">
              <a:lnSpc>
                <a:spcPts val="1920"/>
              </a:lnSpc>
              <a:spcAft>
                <a:spcPts val="0"/>
              </a:spcAft>
              <a:defRPr sz="1600" b="1">
                <a:solidFill>
                  <a:srgbClr val="2E7D32"/>
                </a:solidFill>
                <a:latin typeface="Calibri"/>
              </a:defRPr>
            </a:pPr>
            <a:r>
              <a:t>Cơ chế phát hiện</a:t>
            </a:r>
          </a:p>
        </p:txBody>
      </p:sp>
      <p:sp>
        <p:nvSpPr>
          <p:cNvPr id="11" name="TextBox 10"/>
          <p:cNvSpPr txBox="1"/>
          <p:nvPr/>
        </p:nvSpPr>
        <p:spPr>
          <a:xfrm>
            <a:off x="6400800" y="2011680"/>
            <a:ext cx="5029200" cy="2286000"/>
          </a:xfrm>
          <a:prstGeom prst="rect">
            <a:avLst/>
          </a:prstGeom>
          <a:noFill/>
        </p:spPr>
        <p:txBody>
          <a:bodyPr wrap="square">
            <a:spAutoFit/>
          </a:bodyPr>
          <a:lstStyle/>
          <a:p>
            <a:pPr algn="l">
              <a:lnSpc>
                <a:spcPts val="1959"/>
              </a:lnSpc>
              <a:spcAft>
                <a:spcPts val="600"/>
              </a:spcAft>
              <a:defRPr sz="1400">
                <a:solidFill>
                  <a:srgbClr val="424242"/>
                </a:solidFill>
                <a:latin typeface="Calibri"/>
              </a:defRPr>
            </a:pPr>
            <a:r>
              <a:t>✓ YOLO phát hiện vùng nghi vấn chứa điếu thuốc</a:t>
            </a:r>
          </a:p>
          <a:p>
            <a:pPr algn="l">
              <a:lnSpc>
                <a:spcPts val="1959"/>
              </a:lnSpc>
              <a:spcAft>
                <a:spcPts val="600"/>
              </a:spcAft>
              <a:defRPr sz="1400">
                <a:solidFill>
                  <a:srgbClr val="424242"/>
                </a:solidFill>
                <a:latin typeface="Calibri"/>
              </a:defRPr>
            </a:pPr>
            <a:r>
              <a:t>✓ MediaPipe kiểm tra khoảng cách cổ tay ↔ miệng</a:t>
            </a:r>
          </a:p>
          <a:p>
            <a:pPr algn="l">
              <a:lnSpc>
                <a:spcPts val="1959"/>
              </a:lnSpc>
              <a:spcAft>
                <a:spcPts val="600"/>
              </a:spcAft>
              <a:defRPr sz="1400">
                <a:solidFill>
                  <a:srgbClr val="424242"/>
                </a:solidFill>
                <a:latin typeface="Calibri"/>
              </a:defRPr>
            </a:pPr>
            <a:r>
              <a:t>✓ Score ≥ 0.62 trong 7 frame liên tiếp</a:t>
            </a:r>
          </a:p>
          <a:p>
            <a:pPr algn="l">
              <a:lnSpc>
                <a:spcPts val="1959"/>
              </a:lnSpc>
              <a:spcAft>
                <a:spcPts val="600"/>
              </a:spcAft>
              <a:defRPr sz="1400">
                <a:solidFill>
                  <a:srgbClr val="424242"/>
                </a:solidFill>
                <a:latin typeface="Calibri"/>
              </a:defRPr>
            </a:pPr>
            <a:r>
              <a:t>✓ Có cơ chế fallback: raw conf ≥ 0.70 khi không có pose</a:t>
            </a:r>
          </a:p>
        </p:txBody>
      </p:sp>
      <p:sp>
        <p:nvSpPr>
          <p:cNvPr id="12" name="Rounded Rectangle 11"/>
          <p:cNvSpPr/>
          <p:nvPr/>
        </p:nvSpPr>
        <p:spPr>
          <a:xfrm>
            <a:off x="731520" y="4572000"/>
            <a:ext cx="10515600" cy="1371600"/>
          </a:xfrm>
          <a:prstGeom prst="roundRect">
            <a:avLst/>
          </a:prstGeom>
          <a:solidFill>
            <a:srgbClr val="FFF3E0"/>
          </a:solidFill>
          <a:ln>
            <a:solidFill>
              <a:srgbClr val="FF6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97280" y="4663440"/>
            <a:ext cx="10058400" cy="365760"/>
          </a:xfrm>
          <a:prstGeom prst="rect">
            <a:avLst/>
          </a:prstGeom>
          <a:noFill/>
        </p:spPr>
        <p:txBody>
          <a:bodyPr wrap="square">
            <a:spAutoFit/>
          </a:bodyPr>
          <a:lstStyle/>
          <a:p>
            <a:pPr algn="l">
              <a:lnSpc>
                <a:spcPts val="1920"/>
              </a:lnSpc>
              <a:spcAft>
                <a:spcPts val="0"/>
              </a:spcAft>
              <a:defRPr sz="1600" b="1">
                <a:solidFill>
                  <a:srgbClr val="FF6F00"/>
                </a:solidFill>
                <a:latin typeface="Calibri"/>
              </a:defRPr>
            </a:pPr>
            <a:r>
              <a:t>Cơ chế Fallback cho hút thuốc:</a:t>
            </a:r>
          </a:p>
        </p:txBody>
      </p:sp>
      <p:sp>
        <p:nvSpPr>
          <p:cNvPr id="14" name="TextBox 13"/>
          <p:cNvSpPr txBox="1"/>
          <p:nvPr/>
        </p:nvSpPr>
        <p:spPr>
          <a:xfrm>
            <a:off x="1097280" y="5029200"/>
            <a:ext cx="10058400" cy="731520"/>
          </a:xfrm>
          <a:prstGeom prst="rect">
            <a:avLst/>
          </a:prstGeom>
          <a:noFill/>
        </p:spPr>
        <p:txBody>
          <a:bodyPr wrap="square">
            <a:spAutoFit/>
          </a:bodyPr>
          <a:lstStyle/>
          <a:p>
            <a:pPr algn="l">
              <a:lnSpc>
                <a:spcPts val="1820"/>
              </a:lnSpc>
              <a:spcAft>
                <a:spcPts val="0"/>
              </a:spcAft>
              <a:defRPr sz="1300" b="0">
                <a:solidFill>
                  <a:srgbClr val="424242"/>
                </a:solidFill>
                <a:latin typeface="Calibri"/>
              </a:defRPr>
            </a:pPr>
            <a:r>
              <a:t>Khi MediaPipe Pose không khả dụng (thất bại phát hiện landmarks), hệ thống vẫn có thể xác nhận hành vi hút thuốc dựa trên confidence thô của YOLO nếu giá trị ≥ 0.70. Cơ chế này giúp tránh bỏ sót trong điều kiện pose thất bại, tuy nhiên chỉ áp dụng cho hành vi hút thuốc.</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0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37160"/>
            <a:ext cx="10058400" cy="640080"/>
          </a:xfrm>
          <a:prstGeom prst="rect">
            <a:avLst/>
          </a:prstGeom>
          <a:noFill/>
        </p:spPr>
        <p:txBody>
          <a:bodyPr wrap="square">
            <a:spAutoFit/>
          </a:bodyPr>
          <a:lstStyle/>
          <a:p>
            <a:pPr algn="l">
              <a:lnSpc>
                <a:spcPts val="3840"/>
              </a:lnSpc>
              <a:spcAft>
                <a:spcPts val="0"/>
              </a:spcAft>
              <a:defRPr sz="3200" b="1">
                <a:solidFill>
                  <a:srgbClr val="FFFFFF"/>
                </a:solidFill>
                <a:latin typeface="Calibri"/>
              </a:defRPr>
            </a:pPr>
            <a:r>
              <a:t>PHÁT HIỆN KHÔNG THẮT DÂY AN TOÀN</a:t>
            </a:r>
          </a:p>
        </p:txBody>
      </p:sp>
      <p:sp>
        <p:nvSpPr>
          <p:cNvPr id="4" name="TextBox 3"/>
          <p:cNvSpPr txBox="1"/>
          <p:nvPr/>
        </p:nvSpPr>
        <p:spPr>
          <a:xfrm>
            <a:off x="731520" y="685800"/>
            <a:ext cx="10058400" cy="365760"/>
          </a:xfrm>
          <a:prstGeom prst="rect">
            <a:avLst/>
          </a:prstGeom>
          <a:noFill/>
        </p:spPr>
        <p:txBody>
          <a:bodyPr wrap="square">
            <a:spAutoFit/>
          </a:bodyPr>
          <a:lstStyle/>
          <a:p>
            <a:pPr algn="l">
              <a:lnSpc>
                <a:spcPts val="1920"/>
              </a:lnSpc>
              <a:spcAft>
                <a:spcPts val="0"/>
              </a:spcAft>
              <a:defRPr sz="1600" b="0">
                <a:solidFill>
                  <a:srgbClr val="42A5F5"/>
                </a:solidFill>
                <a:latin typeface="Calibri"/>
              </a:defRPr>
            </a:pPr>
            <a:r>
              <a:t>Chương 3.2.3</a:t>
            </a:r>
          </a:p>
        </p:txBody>
      </p:sp>
      <p:sp>
        <p:nvSpPr>
          <p:cNvPr id="5" name="Rectangle 4"/>
          <p:cNvSpPr/>
          <p:nvPr/>
        </p:nvSpPr>
        <p:spPr>
          <a:xfrm>
            <a:off x="0" y="1097280"/>
            <a:ext cx="12191695" cy="4572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492240"/>
            <a:ext cx="12191695" cy="365760"/>
          </a:xfrm>
          <a:prstGeom prst="rect">
            <a:avLst/>
          </a:prstGeom>
          <a:solidFill>
            <a:srgbClr val="0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10528"/>
            <a:ext cx="10972800" cy="320040"/>
          </a:xfrm>
          <a:prstGeom prst="rect">
            <a:avLst/>
          </a:prstGeom>
          <a:noFill/>
        </p:spPr>
        <p:txBody>
          <a:bodyPr wrap="square">
            <a:spAutoFit/>
          </a:bodyPr>
          <a:lstStyle/>
          <a:p>
            <a:pPr algn="ctr">
              <a:lnSpc>
                <a:spcPts val="1200"/>
              </a:lnSpc>
              <a:spcAft>
                <a:spcPts val="0"/>
              </a:spcAft>
              <a:defRPr sz="1000" b="0">
                <a:solidFill>
                  <a:srgbClr val="BBDEFB"/>
                </a:solidFill>
                <a:latin typeface="Calibri"/>
              </a:defRPr>
            </a:pPr>
            <a:r>
              <a:t>La Đại Lộc | MSSV: 4551050116 | GVHD: TS. Nguyễn Thanh Bình | Trường Đại học Quy Nhơn</a:t>
            </a:r>
          </a:p>
        </p:txBody>
      </p:sp>
      <p:sp>
        <p:nvSpPr>
          <p:cNvPr id="8" name="TextBox 7"/>
          <p:cNvSpPr txBox="1"/>
          <p:nvPr/>
        </p:nvSpPr>
        <p:spPr>
          <a:xfrm>
            <a:off x="731520" y="1463040"/>
            <a:ext cx="5029200" cy="365760"/>
          </a:xfrm>
          <a:prstGeom prst="rect">
            <a:avLst/>
          </a:prstGeom>
          <a:noFill/>
        </p:spPr>
        <p:txBody>
          <a:bodyPr wrap="square">
            <a:spAutoFit/>
          </a:bodyPr>
          <a:lstStyle/>
          <a:p>
            <a:pPr algn="l">
              <a:lnSpc>
                <a:spcPts val="1920"/>
              </a:lnSpc>
              <a:spcAft>
                <a:spcPts val="0"/>
              </a:spcAft>
              <a:defRPr sz="1600" b="1">
                <a:solidFill>
                  <a:srgbClr val="0A2E5C"/>
                </a:solidFill>
                <a:latin typeface="Calibri"/>
              </a:defRPr>
            </a:pPr>
            <a:r>
              <a:t>Cơ chế phát hiện</a:t>
            </a:r>
          </a:p>
        </p:txBody>
      </p:sp>
      <p:sp>
        <p:nvSpPr>
          <p:cNvPr id="9" name="TextBox 8"/>
          <p:cNvSpPr txBox="1"/>
          <p:nvPr/>
        </p:nvSpPr>
        <p:spPr>
          <a:xfrm>
            <a:off x="731520" y="2011680"/>
            <a:ext cx="5486400" cy="4114800"/>
          </a:xfrm>
          <a:prstGeom prst="rect">
            <a:avLst/>
          </a:prstGeom>
          <a:noFill/>
        </p:spPr>
        <p:txBody>
          <a:bodyPr wrap="square">
            <a:spAutoFit/>
          </a:bodyPr>
          <a:lstStyle/>
          <a:p>
            <a:pPr algn="l">
              <a:lnSpc>
                <a:spcPts val="1959"/>
              </a:lnSpc>
              <a:spcAft>
                <a:spcPts val="600"/>
              </a:spcAft>
              <a:defRPr sz="1400">
                <a:solidFill>
                  <a:srgbClr val="424242"/>
                </a:solidFill>
                <a:latin typeface="Calibri"/>
              </a:defRPr>
            </a:pPr>
            <a:r>
              <a:t>▸ Sử dụng vùng Chest ROI (nội suy từ hai vai)</a:t>
            </a:r>
          </a:p>
          <a:p>
            <a:pPr algn="l">
              <a:lnSpc>
                <a:spcPts val="1959"/>
              </a:lnSpc>
              <a:spcAft>
                <a:spcPts val="600"/>
              </a:spcAft>
              <a:defRPr sz="1400">
                <a:solidFill>
                  <a:srgbClr val="424242"/>
                </a:solidFill>
                <a:latin typeface="Calibri"/>
              </a:defRPr>
            </a:pPr>
            <a:r>
              <a:t>▸ YOLO phát hiện trạng thái seatbelt / no-seatbelt</a:t>
            </a:r>
          </a:p>
          <a:p>
            <a:pPr algn="l">
              <a:lnSpc>
                <a:spcPts val="1959"/>
              </a:lnSpc>
              <a:spcAft>
                <a:spcPts val="600"/>
              </a:spcAft>
              <a:defRPr sz="1400">
                <a:solidFill>
                  <a:srgbClr val="424242"/>
                </a:solidFill>
                <a:latin typeface="Calibri"/>
              </a:defRPr>
            </a:pPr>
            <a:r>
              <a:t>▸ Đối chiếu bounding box với ranh giới Chest ROI</a:t>
            </a:r>
          </a:p>
          <a:p>
            <a:pPr algn="l">
              <a:lnSpc>
                <a:spcPts val="1959"/>
              </a:lnSpc>
              <a:spcAft>
                <a:spcPts val="600"/>
              </a:spcAft>
              <a:defRPr sz="1400">
                <a:solidFill>
                  <a:srgbClr val="424242"/>
                </a:solidFill>
                <a:latin typeface="Calibri"/>
              </a:defRPr>
            </a:pPr>
            <a:r>
              <a:t>▸ Kiểm tra sự tồn tại của dải dây đi cắt ngang qua vùng ngực</a:t>
            </a:r>
          </a:p>
          <a:p>
            <a:pPr algn="l">
              <a:lnSpc>
                <a:spcPts val="1959"/>
              </a:lnSpc>
              <a:spcAft>
                <a:spcPts val="600"/>
              </a:spcAft>
              <a:defRPr sz="1400">
                <a:solidFill>
                  <a:srgbClr val="424242"/>
                </a:solidFill>
                <a:latin typeface="Calibri"/>
              </a:defRPr>
            </a:pPr>
            <a:r>
              <a:t>▸ Ngưỡng tin cậy: 0.45 + margin 0.07</a:t>
            </a:r>
          </a:p>
          <a:p>
            <a:pPr algn="l">
              <a:lnSpc>
                <a:spcPts val="1959"/>
              </a:lnSpc>
              <a:spcAft>
                <a:spcPts val="600"/>
              </a:spcAft>
              <a:defRPr sz="1400">
                <a:solidFill>
                  <a:srgbClr val="424242"/>
                </a:solidFill>
                <a:latin typeface="Calibri"/>
              </a:defRPr>
            </a:pPr>
            <a:r>
              <a:t>▸ Yêu cầu xác nhận 12 frame liên tiếp</a:t>
            </a:r>
          </a:p>
          <a:p>
            <a:pPr algn="l">
              <a:lnSpc>
                <a:spcPts val="1959"/>
              </a:lnSpc>
              <a:spcAft>
                <a:spcPts val="600"/>
              </a:spcAft>
              <a:defRPr sz="1400">
                <a:solidFill>
                  <a:srgbClr val="424242"/>
                </a:solidFill>
                <a:latin typeface="Calibri"/>
              </a:defRPr>
            </a:pPr>
            <a:r>
              <a:t>▸ Không có cơ chế fallback (cần Pose để xác định Chest ROI)</a:t>
            </a:r>
          </a:p>
        </p:txBody>
      </p:sp>
      <p:sp>
        <p:nvSpPr>
          <p:cNvPr id="10" name="Rounded Rectangle 9"/>
          <p:cNvSpPr/>
          <p:nvPr/>
        </p:nvSpPr>
        <p:spPr>
          <a:xfrm>
            <a:off x="6858000" y="1645920"/>
            <a:ext cx="4572000" cy="4114800"/>
          </a:xfrm>
          <a:prstGeom prst="roundRect">
            <a:avLst/>
          </a:prstGeom>
          <a:solidFill>
            <a:srgbClr val="FCE4EC"/>
          </a:solidFill>
          <a:ln>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0" y="1737360"/>
            <a:ext cx="4572000" cy="365760"/>
          </a:xfrm>
          <a:prstGeom prst="rect">
            <a:avLst/>
          </a:prstGeom>
          <a:noFill/>
        </p:spPr>
        <p:txBody>
          <a:bodyPr wrap="square">
            <a:spAutoFit/>
          </a:bodyPr>
          <a:lstStyle/>
          <a:p>
            <a:pPr algn="ctr">
              <a:lnSpc>
                <a:spcPts val="1920"/>
              </a:lnSpc>
              <a:spcAft>
                <a:spcPts val="0"/>
              </a:spcAft>
              <a:defRPr sz="1600" b="1">
                <a:solidFill>
                  <a:srgbClr val="C62828"/>
                </a:solidFill>
                <a:latin typeface="Calibri"/>
              </a:defRPr>
            </a:pPr>
            <a:r>
              <a:t>🛡️ Ý nghĩa an toàn thụ động</a:t>
            </a:r>
          </a:p>
        </p:txBody>
      </p:sp>
      <p:sp>
        <p:nvSpPr>
          <p:cNvPr id="12" name="TextBox 11"/>
          <p:cNvSpPr txBox="1"/>
          <p:nvPr/>
        </p:nvSpPr>
        <p:spPr>
          <a:xfrm>
            <a:off x="7223760" y="2286000"/>
            <a:ext cx="3931920" cy="3200400"/>
          </a:xfrm>
          <a:prstGeom prst="rect">
            <a:avLst/>
          </a:prstGeom>
          <a:noFill/>
        </p:spPr>
        <p:txBody>
          <a:bodyPr wrap="square">
            <a:spAutoFit/>
          </a:bodyPr>
          <a:lstStyle/>
          <a:p>
            <a:pPr algn="l">
              <a:lnSpc>
                <a:spcPts val="2100"/>
              </a:lnSpc>
              <a:spcAft>
                <a:spcPts val="600"/>
              </a:spcAft>
              <a:defRPr sz="1400">
                <a:solidFill>
                  <a:srgbClr val="C62828"/>
                </a:solidFill>
                <a:latin typeface="Calibri"/>
              </a:defRPr>
            </a:pPr>
            <a:r>
              <a:t>• Không trực tiếp gây ra tai nạn</a:t>
            </a:r>
          </a:p>
          <a:p>
            <a:pPr algn="l">
              <a:lnSpc>
                <a:spcPts val="2100"/>
              </a:lnSpc>
              <a:spcAft>
                <a:spcPts val="600"/>
              </a:spcAft>
              <a:defRPr sz="1400">
                <a:solidFill>
                  <a:srgbClr val="C62828"/>
                </a:solidFill>
                <a:latin typeface="Calibri"/>
              </a:defRPr>
            </a:pPr>
            <a:r>
              <a:t>• Nhưng tước đi lớp bảo vệ cơ học quan trọng</a:t>
            </a:r>
          </a:p>
          <a:p>
            <a:pPr algn="l">
              <a:lnSpc>
                <a:spcPts val="2100"/>
              </a:lnSpc>
              <a:spcAft>
                <a:spcPts val="600"/>
              </a:spcAft>
              <a:defRPr sz="1400">
                <a:solidFill>
                  <a:srgbClr val="C62828"/>
                </a:solidFill>
                <a:latin typeface="Calibri"/>
              </a:defRPr>
            </a:pPr>
            <a:r>
              <a:t>• Khuếch đại mức độ nghiêm trọng khi sự cố xảy ra</a:t>
            </a:r>
          </a:p>
          <a:p>
            <a:pPr algn="l">
              <a:lnSpc>
                <a:spcPts val="2100"/>
              </a:lnSpc>
              <a:spcAft>
                <a:spcPts val="600"/>
              </a:spcAft>
              <a:defRPr sz="1400">
                <a:solidFill>
                  <a:srgbClr val="C62828"/>
                </a:solidFill>
                <a:latin typeface="Calibri"/>
              </a:defRPr>
            </a:pPr>
            <a:r>
              <a:t>• Cảnh báo giúp tài xế tuân thủ quy tắc an toàn</a:t>
            </a:r>
          </a:p>
          <a:p>
            <a:pPr algn="l">
              <a:lnSpc>
                <a:spcPts val="2100"/>
              </a:lnSpc>
              <a:spcAft>
                <a:spcPts val="600"/>
              </a:spcAft>
              <a:defRPr sz="1400">
                <a:solidFill>
                  <a:srgbClr val="C62828"/>
                </a:solidFill>
                <a:latin typeface="Calibri"/>
              </a:defRPr>
            </a:pPr>
            <a:r>
              <a:t>• Đặc biệt quan trọng trên xe khách đường dài</a:t>
            </a:r>
          </a:p>
        </p:txBody>
      </p:sp>
      <p:sp>
        <p:nvSpPr>
          <p:cNvPr id="13" name="Rounded Rectangle 12"/>
          <p:cNvSpPr/>
          <p:nvPr/>
        </p:nvSpPr>
        <p:spPr>
          <a:xfrm>
            <a:off x="1828800" y="5486400"/>
            <a:ext cx="8229600" cy="640080"/>
          </a:xfrm>
          <a:prstGeom prst="roundRect">
            <a:avLst/>
          </a:prstGeom>
          <a:solidFill>
            <a:srgbClr val="E8F5E9"/>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103120" y="5577840"/>
            <a:ext cx="7772400" cy="457200"/>
          </a:xfrm>
          <a:prstGeom prst="rect">
            <a:avLst/>
          </a:prstGeom>
          <a:noFill/>
        </p:spPr>
        <p:txBody>
          <a:bodyPr wrap="square">
            <a:spAutoFit/>
          </a:bodyPr>
          <a:lstStyle/>
          <a:p>
            <a:pPr algn="ctr">
              <a:lnSpc>
                <a:spcPts val="1680"/>
              </a:lnSpc>
              <a:spcAft>
                <a:spcPts val="0"/>
              </a:spcAft>
              <a:defRPr sz="1400" b="1">
                <a:solidFill>
                  <a:srgbClr val="2E7D32"/>
                </a:solidFill>
                <a:latin typeface="Calibri"/>
              </a:defRPr>
            </a:pPr>
            <a:r>
              <a:t>Thách thức: dây có thể hòa lẫn với áo, quai túi; cần dataset đa dạng về trang phục</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0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37160"/>
            <a:ext cx="10058400" cy="640080"/>
          </a:xfrm>
          <a:prstGeom prst="rect">
            <a:avLst/>
          </a:prstGeom>
          <a:noFill/>
        </p:spPr>
        <p:txBody>
          <a:bodyPr wrap="square">
            <a:spAutoFit/>
          </a:bodyPr>
          <a:lstStyle/>
          <a:p>
            <a:pPr algn="l">
              <a:lnSpc>
                <a:spcPts val="3840"/>
              </a:lnSpc>
              <a:spcAft>
                <a:spcPts val="0"/>
              </a:spcAft>
              <a:defRPr sz="3200" b="1">
                <a:solidFill>
                  <a:srgbClr val="FFFFFF"/>
                </a:solidFill>
                <a:latin typeface="Calibri"/>
              </a:defRPr>
            </a:pPr>
            <a:r>
              <a:t>THIẾT KẾ CLOUD BACKEND</a:t>
            </a:r>
          </a:p>
        </p:txBody>
      </p:sp>
      <p:sp>
        <p:nvSpPr>
          <p:cNvPr id="4" name="TextBox 3"/>
          <p:cNvSpPr txBox="1"/>
          <p:nvPr/>
        </p:nvSpPr>
        <p:spPr>
          <a:xfrm>
            <a:off x="731520" y="685800"/>
            <a:ext cx="10058400" cy="365760"/>
          </a:xfrm>
          <a:prstGeom prst="rect">
            <a:avLst/>
          </a:prstGeom>
          <a:noFill/>
        </p:spPr>
        <p:txBody>
          <a:bodyPr wrap="square">
            <a:spAutoFit/>
          </a:bodyPr>
          <a:lstStyle/>
          <a:p>
            <a:pPr algn="l">
              <a:lnSpc>
                <a:spcPts val="1920"/>
              </a:lnSpc>
              <a:spcAft>
                <a:spcPts val="0"/>
              </a:spcAft>
              <a:defRPr sz="1600" b="0">
                <a:solidFill>
                  <a:srgbClr val="42A5F5"/>
                </a:solidFill>
                <a:latin typeface="Calibri"/>
              </a:defRPr>
            </a:pPr>
            <a:r>
              <a:t>Chương 3.3: Kiến trúc phân lớp</a:t>
            </a:r>
          </a:p>
        </p:txBody>
      </p:sp>
      <p:sp>
        <p:nvSpPr>
          <p:cNvPr id="5" name="Rectangle 4"/>
          <p:cNvSpPr/>
          <p:nvPr/>
        </p:nvSpPr>
        <p:spPr>
          <a:xfrm>
            <a:off x="0" y="1097280"/>
            <a:ext cx="12191695" cy="4572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492240"/>
            <a:ext cx="12191695" cy="365760"/>
          </a:xfrm>
          <a:prstGeom prst="rect">
            <a:avLst/>
          </a:prstGeom>
          <a:solidFill>
            <a:srgbClr val="0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10528"/>
            <a:ext cx="10972800" cy="320040"/>
          </a:xfrm>
          <a:prstGeom prst="rect">
            <a:avLst/>
          </a:prstGeom>
          <a:noFill/>
        </p:spPr>
        <p:txBody>
          <a:bodyPr wrap="square">
            <a:spAutoFit/>
          </a:bodyPr>
          <a:lstStyle/>
          <a:p>
            <a:pPr algn="ctr">
              <a:lnSpc>
                <a:spcPts val="1200"/>
              </a:lnSpc>
              <a:spcAft>
                <a:spcPts val="0"/>
              </a:spcAft>
              <a:defRPr sz="1000" b="0">
                <a:solidFill>
                  <a:srgbClr val="BBDEFB"/>
                </a:solidFill>
                <a:latin typeface="Calibri"/>
              </a:defRPr>
            </a:pPr>
            <a:r>
              <a:t>La Đại Lộc | MSSV: 4551050116 | GVHD: TS. Nguyễn Thanh Bình | Trường Đại học Quy Nhơn</a:t>
            </a:r>
          </a:p>
        </p:txBody>
      </p:sp>
      <p:sp>
        <p:nvSpPr>
          <p:cNvPr id="8" name="Rounded Rectangle 7"/>
          <p:cNvSpPr/>
          <p:nvPr/>
        </p:nvSpPr>
        <p:spPr>
          <a:xfrm>
            <a:off x="731520" y="1645920"/>
            <a:ext cx="3474720" cy="3200400"/>
          </a:xfrm>
          <a:prstGeom prst="roundRect">
            <a:avLst/>
          </a:prstGeom>
          <a:solidFill>
            <a:srgbClr val="FFFFFF"/>
          </a:solidFill>
          <a:ln>
            <a:solidFill>
              <a:srgbClr val="144D8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31520" y="1645920"/>
            <a:ext cx="3474720" cy="731520"/>
          </a:xfrm>
          <a:prstGeom prst="rect">
            <a:avLst/>
          </a:prstGeom>
          <a:solidFill>
            <a:srgbClr val="144D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1691640"/>
            <a:ext cx="3474720" cy="320040"/>
          </a:xfrm>
          <a:prstGeom prst="rect">
            <a:avLst/>
          </a:prstGeom>
          <a:noFill/>
        </p:spPr>
        <p:txBody>
          <a:bodyPr wrap="square">
            <a:spAutoFit/>
          </a:bodyPr>
          <a:lstStyle/>
          <a:p>
            <a:pPr algn="ctr">
              <a:lnSpc>
                <a:spcPts val="2160"/>
              </a:lnSpc>
              <a:spcAft>
                <a:spcPts val="0"/>
              </a:spcAft>
              <a:defRPr sz="1800" b="1">
                <a:solidFill>
                  <a:srgbClr val="FFFFFF"/>
                </a:solidFill>
                <a:latin typeface="Calibri"/>
              </a:defRPr>
            </a:pPr>
            <a:r>
              <a:t>Router Layer</a:t>
            </a:r>
          </a:p>
        </p:txBody>
      </p:sp>
      <p:sp>
        <p:nvSpPr>
          <p:cNvPr id="11" name="TextBox 10"/>
          <p:cNvSpPr txBox="1"/>
          <p:nvPr/>
        </p:nvSpPr>
        <p:spPr>
          <a:xfrm>
            <a:off x="731520" y="2011680"/>
            <a:ext cx="3474720" cy="320040"/>
          </a:xfrm>
          <a:prstGeom prst="rect">
            <a:avLst/>
          </a:prstGeom>
          <a:noFill/>
        </p:spPr>
        <p:txBody>
          <a:bodyPr wrap="square">
            <a:spAutoFit/>
          </a:bodyPr>
          <a:lstStyle/>
          <a:p>
            <a:pPr algn="ctr">
              <a:lnSpc>
                <a:spcPts val="1439"/>
              </a:lnSpc>
              <a:spcAft>
                <a:spcPts val="0"/>
              </a:spcAft>
              <a:defRPr sz="1200" b="0">
                <a:solidFill>
                  <a:srgbClr val="E0E0E0"/>
                </a:solidFill>
                <a:latin typeface="Calibri"/>
              </a:defRPr>
            </a:pPr>
            <a:r>
              <a:t>API Routes</a:t>
            </a:r>
          </a:p>
        </p:txBody>
      </p:sp>
      <p:sp>
        <p:nvSpPr>
          <p:cNvPr id="12" name="TextBox 11"/>
          <p:cNvSpPr txBox="1"/>
          <p:nvPr/>
        </p:nvSpPr>
        <p:spPr>
          <a:xfrm>
            <a:off x="1005840" y="2560320"/>
            <a:ext cx="2926080" cy="2011680"/>
          </a:xfrm>
          <a:prstGeom prst="rect">
            <a:avLst/>
          </a:prstGeom>
          <a:noFill/>
        </p:spPr>
        <p:txBody>
          <a:bodyPr wrap="square">
            <a:spAutoFit/>
          </a:bodyPr>
          <a:lstStyle/>
          <a:p>
            <a:pPr algn="ctr">
              <a:lnSpc>
                <a:spcPts val="1959"/>
              </a:lnSpc>
              <a:spcAft>
                <a:spcPts val="0"/>
              </a:spcAft>
              <a:defRPr sz="1400" b="0">
                <a:solidFill>
                  <a:srgbClr val="424242"/>
                </a:solidFill>
                <a:latin typeface="Calibri"/>
              </a:defRPr>
            </a:pPr>
            <a:r>
              <a:t>Định nghĩa endpoints</a:t>
            </a:r>
            <a:br/>
            <a:r>
              <a:t>Tiếp nhận request từ Edge</a:t>
            </a:r>
            <a:br/>
            <a:r>
              <a:t>và Dashboard</a:t>
            </a:r>
          </a:p>
        </p:txBody>
      </p:sp>
      <p:sp>
        <p:nvSpPr>
          <p:cNvPr id="13" name="Rounded Rectangle 12"/>
          <p:cNvSpPr/>
          <p:nvPr/>
        </p:nvSpPr>
        <p:spPr>
          <a:xfrm>
            <a:off x="4480559" y="1645920"/>
            <a:ext cx="3474720" cy="3200400"/>
          </a:xfrm>
          <a:prstGeom prst="roundRect">
            <a:avLst/>
          </a:prstGeom>
          <a:solidFill>
            <a:srgbClr val="FFFFFF"/>
          </a:solidFill>
          <a:ln>
            <a:solidFill>
              <a:srgbClr val="0069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480559" y="1645920"/>
            <a:ext cx="3474720" cy="731520"/>
          </a:xfrm>
          <a:prstGeom prst="rect">
            <a:avLst/>
          </a:prstGeom>
          <a:solidFill>
            <a:srgbClr val="006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480559" y="1691640"/>
            <a:ext cx="3474720" cy="320040"/>
          </a:xfrm>
          <a:prstGeom prst="rect">
            <a:avLst/>
          </a:prstGeom>
          <a:noFill/>
        </p:spPr>
        <p:txBody>
          <a:bodyPr wrap="square">
            <a:spAutoFit/>
          </a:bodyPr>
          <a:lstStyle/>
          <a:p>
            <a:pPr algn="ctr">
              <a:lnSpc>
                <a:spcPts val="2160"/>
              </a:lnSpc>
              <a:spcAft>
                <a:spcPts val="0"/>
              </a:spcAft>
              <a:defRPr sz="1800" b="1">
                <a:solidFill>
                  <a:srgbClr val="FFFFFF"/>
                </a:solidFill>
                <a:latin typeface="Calibri"/>
              </a:defRPr>
            </a:pPr>
            <a:r>
              <a:t>Schema Layer</a:t>
            </a:r>
          </a:p>
        </p:txBody>
      </p:sp>
      <p:sp>
        <p:nvSpPr>
          <p:cNvPr id="16" name="TextBox 15"/>
          <p:cNvSpPr txBox="1"/>
          <p:nvPr/>
        </p:nvSpPr>
        <p:spPr>
          <a:xfrm>
            <a:off x="4480559" y="2011680"/>
            <a:ext cx="3474720" cy="320040"/>
          </a:xfrm>
          <a:prstGeom prst="rect">
            <a:avLst/>
          </a:prstGeom>
          <a:noFill/>
        </p:spPr>
        <p:txBody>
          <a:bodyPr wrap="square">
            <a:spAutoFit/>
          </a:bodyPr>
          <a:lstStyle/>
          <a:p>
            <a:pPr algn="ctr">
              <a:lnSpc>
                <a:spcPts val="1439"/>
              </a:lnSpc>
              <a:spcAft>
                <a:spcPts val="0"/>
              </a:spcAft>
              <a:defRPr sz="1200" b="0">
                <a:solidFill>
                  <a:srgbClr val="E0E0E0"/>
                </a:solidFill>
                <a:latin typeface="Calibri"/>
              </a:defRPr>
            </a:pPr>
            <a:r>
              <a:t>Pydantic Validation</a:t>
            </a:r>
          </a:p>
        </p:txBody>
      </p:sp>
      <p:sp>
        <p:nvSpPr>
          <p:cNvPr id="17" name="TextBox 16"/>
          <p:cNvSpPr txBox="1"/>
          <p:nvPr/>
        </p:nvSpPr>
        <p:spPr>
          <a:xfrm>
            <a:off x="4754879" y="2560320"/>
            <a:ext cx="2926080" cy="2011680"/>
          </a:xfrm>
          <a:prstGeom prst="rect">
            <a:avLst/>
          </a:prstGeom>
          <a:noFill/>
        </p:spPr>
        <p:txBody>
          <a:bodyPr wrap="square">
            <a:spAutoFit/>
          </a:bodyPr>
          <a:lstStyle/>
          <a:p>
            <a:pPr algn="ctr">
              <a:lnSpc>
                <a:spcPts val="1959"/>
              </a:lnSpc>
              <a:spcAft>
                <a:spcPts val="0"/>
              </a:spcAft>
              <a:defRPr sz="1400" b="0">
                <a:solidFill>
                  <a:srgbClr val="424242"/>
                </a:solidFill>
                <a:latin typeface="Calibri"/>
              </a:defRPr>
            </a:pPr>
            <a:r>
              <a:t>Kiểm tra dữ liệu đầu vào</a:t>
            </a:r>
            <a:br/>
            <a:r>
              <a:t>Chuẩn hóa metadata</a:t>
            </a:r>
            <a:br/>
            <a:r>
              <a:t>Đảm bảo cấu trúc thống nhất</a:t>
            </a:r>
          </a:p>
        </p:txBody>
      </p:sp>
      <p:sp>
        <p:nvSpPr>
          <p:cNvPr id="18" name="Rounded Rectangle 17"/>
          <p:cNvSpPr/>
          <p:nvPr/>
        </p:nvSpPr>
        <p:spPr>
          <a:xfrm>
            <a:off x="8229599" y="1645920"/>
            <a:ext cx="3474720" cy="3200400"/>
          </a:xfrm>
          <a:prstGeom prst="roundRect">
            <a:avLst/>
          </a:prstGeom>
          <a:solidFill>
            <a:srgbClr val="FFFFFF"/>
          </a:solidFill>
          <a:ln>
            <a:solidFill>
              <a:srgbClr val="FF6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229599" y="1645920"/>
            <a:ext cx="3474720" cy="731520"/>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29599" y="1691640"/>
            <a:ext cx="3474720" cy="320040"/>
          </a:xfrm>
          <a:prstGeom prst="rect">
            <a:avLst/>
          </a:prstGeom>
          <a:noFill/>
        </p:spPr>
        <p:txBody>
          <a:bodyPr wrap="square">
            <a:spAutoFit/>
          </a:bodyPr>
          <a:lstStyle/>
          <a:p>
            <a:pPr algn="ctr">
              <a:lnSpc>
                <a:spcPts val="2160"/>
              </a:lnSpc>
              <a:spcAft>
                <a:spcPts val="0"/>
              </a:spcAft>
              <a:defRPr sz="1800" b="1">
                <a:solidFill>
                  <a:srgbClr val="FFFFFF"/>
                </a:solidFill>
                <a:latin typeface="Calibri"/>
              </a:defRPr>
            </a:pPr>
            <a:r>
              <a:t>Model Layer</a:t>
            </a:r>
          </a:p>
        </p:txBody>
      </p:sp>
      <p:sp>
        <p:nvSpPr>
          <p:cNvPr id="21" name="TextBox 20"/>
          <p:cNvSpPr txBox="1"/>
          <p:nvPr/>
        </p:nvSpPr>
        <p:spPr>
          <a:xfrm>
            <a:off x="8229599" y="2011680"/>
            <a:ext cx="3474720" cy="320040"/>
          </a:xfrm>
          <a:prstGeom prst="rect">
            <a:avLst/>
          </a:prstGeom>
          <a:noFill/>
        </p:spPr>
        <p:txBody>
          <a:bodyPr wrap="square">
            <a:spAutoFit/>
          </a:bodyPr>
          <a:lstStyle/>
          <a:p>
            <a:pPr algn="ctr">
              <a:lnSpc>
                <a:spcPts val="1439"/>
              </a:lnSpc>
              <a:spcAft>
                <a:spcPts val="0"/>
              </a:spcAft>
              <a:defRPr sz="1200" b="0">
                <a:solidFill>
                  <a:srgbClr val="E0E0E0"/>
                </a:solidFill>
                <a:latin typeface="Calibri"/>
              </a:defRPr>
            </a:pPr>
            <a:r>
              <a:t>SQLAlchemy ORM</a:t>
            </a:r>
          </a:p>
        </p:txBody>
      </p:sp>
      <p:sp>
        <p:nvSpPr>
          <p:cNvPr id="22" name="TextBox 21"/>
          <p:cNvSpPr txBox="1"/>
          <p:nvPr/>
        </p:nvSpPr>
        <p:spPr>
          <a:xfrm>
            <a:off x="8503919" y="2560320"/>
            <a:ext cx="2926080" cy="2011680"/>
          </a:xfrm>
          <a:prstGeom prst="rect">
            <a:avLst/>
          </a:prstGeom>
          <a:noFill/>
        </p:spPr>
        <p:txBody>
          <a:bodyPr wrap="square">
            <a:spAutoFit/>
          </a:bodyPr>
          <a:lstStyle/>
          <a:p>
            <a:pPr algn="ctr">
              <a:lnSpc>
                <a:spcPts val="1959"/>
              </a:lnSpc>
              <a:spcAft>
                <a:spcPts val="0"/>
              </a:spcAft>
              <a:defRPr sz="1400" b="0">
                <a:solidFill>
                  <a:srgbClr val="424242"/>
                </a:solidFill>
                <a:latin typeface="Calibri"/>
              </a:defRPr>
            </a:pPr>
            <a:r>
              <a:t>Ánh xạ bảng DB thành đối tượng</a:t>
            </a:r>
            <a:br/>
            <a:r>
              <a:t>Thao tác CRUD</a:t>
            </a:r>
            <a:br/>
            <a:r>
              <a:t>Quản lý bảng Alerts</a:t>
            </a:r>
          </a:p>
        </p:txBody>
      </p:sp>
      <p:sp>
        <p:nvSpPr>
          <p:cNvPr id="23" name="TextBox 22"/>
          <p:cNvSpPr txBox="1"/>
          <p:nvPr/>
        </p:nvSpPr>
        <p:spPr>
          <a:xfrm>
            <a:off x="731520" y="5120640"/>
            <a:ext cx="10972800" cy="365760"/>
          </a:xfrm>
          <a:prstGeom prst="rect">
            <a:avLst/>
          </a:prstGeom>
          <a:noFill/>
        </p:spPr>
        <p:txBody>
          <a:bodyPr wrap="square">
            <a:spAutoFit/>
          </a:bodyPr>
          <a:lstStyle/>
          <a:p>
            <a:pPr algn="l">
              <a:lnSpc>
                <a:spcPts val="1920"/>
              </a:lnSpc>
              <a:spcAft>
                <a:spcPts val="0"/>
              </a:spcAft>
              <a:defRPr sz="1600" b="1">
                <a:solidFill>
                  <a:srgbClr val="0A2E5C"/>
                </a:solidFill>
                <a:latin typeface="Calibri"/>
              </a:defRPr>
            </a:pPr>
            <a:r>
              <a:t>API Endpoints chính:</a:t>
            </a:r>
          </a:p>
        </p:txBody>
      </p:sp>
      <p:sp>
        <p:nvSpPr>
          <p:cNvPr id="24" name="Rounded Rectangle 23"/>
          <p:cNvSpPr/>
          <p:nvPr/>
        </p:nvSpPr>
        <p:spPr>
          <a:xfrm>
            <a:off x="731520" y="5577840"/>
            <a:ext cx="3474720" cy="548640"/>
          </a:xfrm>
          <a:prstGeom prst="roundRect">
            <a:avLst/>
          </a:prstGeom>
          <a:solidFill>
            <a:srgbClr val="F5F5F5"/>
          </a:solidFill>
          <a:ln>
            <a:solidFill>
              <a:srgbClr val="144D8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22960" y="5596128"/>
            <a:ext cx="3291840" cy="228600"/>
          </a:xfrm>
          <a:prstGeom prst="rect">
            <a:avLst/>
          </a:prstGeom>
          <a:noFill/>
        </p:spPr>
        <p:txBody>
          <a:bodyPr wrap="square">
            <a:spAutoFit/>
          </a:bodyPr>
          <a:lstStyle/>
          <a:p>
            <a:pPr algn="ctr">
              <a:lnSpc>
                <a:spcPts val="1560"/>
              </a:lnSpc>
              <a:spcAft>
                <a:spcPts val="0"/>
              </a:spcAft>
              <a:defRPr sz="1300" b="1">
                <a:solidFill>
                  <a:srgbClr val="144D8D"/>
                </a:solidFill>
                <a:latin typeface="Calibri"/>
              </a:defRPr>
            </a:pPr>
            <a:r>
              <a:t>POST /alerts</a:t>
            </a:r>
          </a:p>
        </p:txBody>
      </p:sp>
      <p:sp>
        <p:nvSpPr>
          <p:cNvPr id="26" name="TextBox 25"/>
          <p:cNvSpPr txBox="1"/>
          <p:nvPr/>
        </p:nvSpPr>
        <p:spPr>
          <a:xfrm>
            <a:off x="822960" y="5852160"/>
            <a:ext cx="3291840" cy="228600"/>
          </a:xfrm>
          <a:prstGeom prst="rect">
            <a:avLst/>
          </a:prstGeom>
          <a:noFill/>
        </p:spPr>
        <p:txBody>
          <a:bodyPr wrap="square">
            <a:spAutoFit/>
          </a:bodyPr>
          <a:lstStyle/>
          <a:p>
            <a:pPr algn="ctr">
              <a:lnSpc>
                <a:spcPts val="1320"/>
              </a:lnSpc>
              <a:spcAft>
                <a:spcPts val="0"/>
              </a:spcAft>
              <a:defRPr sz="1100" b="0">
                <a:solidFill>
                  <a:srgbClr val="424242"/>
                </a:solidFill>
                <a:latin typeface="Calibri"/>
              </a:defRPr>
            </a:pPr>
            <a:r>
              <a:t>Edge gửi cảnh báo (multipart/form-data)</a:t>
            </a:r>
          </a:p>
        </p:txBody>
      </p:sp>
      <p:sp>
        <p:nvSpPr>
          <p:cNvPr id="27" name="Rounded Rectangle 26"/>
          <p:cNvSpPr/>
          <p:nvPr/>
        </p:nvSpPr>
        <p:spPr>
          <a:xfrm>
            <a:off x="4480559" y="5577840"/>
            <a:ext cx="3474720" cy="548640"/>
          </a:xfrm>
          <a:prstGeom prst="roundRect">
            <a:avLst/>
          </a:prstGeom>
          <a:solidFill>
            <a:srgbClr val="F5F5F5"/>
          </a:solidFill>
          <a:ln>
            <a:solidFill>
              <a:srgbClr val="0069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571999" y="5596128"/>
            <a:ext cx="3291840" cy="228600"/>
          </a:xfrm>
          <a:prstGeom prst="rect">
            <a:avLst/>
          </a:prstGeom>
          <a:noFill/>
        </p:spPr>
        <p:txBody>
          <a:bodyPr wrap="square">
            <a:spAutoFit/>
          </a:bodyPr>
          <a:lstStyle/>
          <a:p>
            <a:pPr algn="ctr">
              <a:lnSpc>
                <a:spcPts val="1560"/>
              </a:lnSpc>
              <a:spcAft>
                <a:spcPts val="0"/>
              </a:spcAft>
              <a:defRPr sz="1300" b="1">
                <a:solidFill>
                  <a:srgbClr val="00695C"/>
                </a:solidFill>
                <a:latin typeface="Calibri"/>
              </a:defRPr>
            </a:pPr>
            <a:r>
              <a:t>GET /api/alerts</a:t>
            </a:r>
          </a:p>
        </p:txBody>
      </p:sp>
      <p:sp>
        <p:nvSpPr>
          <p:cNvPr id="29" name="TextBox 28"/>
          <p:cNvSpPr txBox="1"/>
          <p:nvPr/>
        </p:nvSpPr>
        <p:spPr>
          <a:xfrm>
            <a:off x="4571999" y="5852160"/>
            <a:ext cx="3291840" cy="228600"/>
          </a:xfrm>
          <a:prstGeom prst="rect">
            <a:avLst/>
          </a:prstGeom>
          <a:noFill/>
        </p:spPr>
        <p:txBody>
          <a:bodyPr wrap="square">
            <a:spAutoFit/>
          </a:bodyPr>
          <a:lstStyle/>
          <a:p>
            <a:pPr algn="ctr">
              <a:lnSpc>
                <a:spcPts val="1320"/>
              </a:lnSpc>
              <a:spcAft>
                <a:spcPts val="0"/>
              </a:spcAft>
              <a:defRPr sz="1100" b="0">
                <a:solidFill>
                  <a:srgbClr val="424242"/>
                </a:solidFill>
                <a:latin typeface="Calibri"/>
              </a:defRPr>
            </a:pPr>
            <a:r>
              <a:t>Dashboard truy vấn danh sách cảnh báo</a:t>
            </a:r>
          </a:p>
        </p:txBody>
      </p:sp>
      <p:sp>
        <p:nvSpPr>
          <p:cNvPr id="30" name="Rounded Rectangle 29"/>
          <p:cNvSpPr/>
          <p:nvPr/>
        </p:nvSpPr>
        <p:spPr>
          <a:xfrm>
            <a:off x="8229599" y="5577840"/>
            <a:ext cx="3474720" cy="548640"/>
          </a:xfrm>
          <a:prstGeom prst="roundRect">
            <a:avLst/>
          </a:prstGeom>
          <a:solidFill>
            <a:srgbClr val="F5F5F5"/>
          </a:solidFill>
          <a:ln>
            <a:solidFill>
              <a:srgbClr val="FF6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321039" y="5596128"/>
            <a:ext cx="3291840" cy="228600"/>
          </a:xfrm>
          <a:prstGeom prst="rect">
            <a:avLst/>
          </a:prstGeom>
          <a:noFill/>
        </p:spPr>
        <p:txBody>
          <a:bodyPr wrap="square">
            <a:spAutoFit/>
          </a:bodyPr>
          <a:lstStyle/>
          <a:p>
            <a:pPr algn="ctr">
              <a:lnSpc>
                <a:spcPts val="1560"/>
              </a:lnSpc>
              <a:spcAft>
                <a:spcPts val="0"/>
              </a:spcAft>
              <a:defRPr sz="1300" b="1">
                <a:solidFill>
                  <a:srgbClr val="FF6F00"/>
                </a:solidFill>
                <a:latin typeface="Calibri"/>
              </a:defRPr>
            </a:pPr>
            <a:r>
              <a:t>POST /alerts/{id}/verify</a:t>
            </a:r>
          </a:p>
        </p:txBody>
      </p:sp>
      <p:sp>
        <p:nvSpPr>
          <p:cNvPr id="32" name="TextBox 31"/>
          <p:cNvSpPr txBox="1"/>
          <p:nvPr/>
        </p:nvSpPr>
        <p:spPr>
          <a:xfrm>
            <a:off x="8321039" y="5852160"/>
            <a:ext cx="3291840" cy="228600"/>
          </a:xfrm>
          <a:prstGeom prst="rect">
            <a:avLst/>
          </a:prstGeom>
          <a:noFill/>
        </p:spPr>
        <p:txBody>
          <a:bodyPr wrap="square">
            <a:spAutoFit/>
          </a:bodyPr>
          <a:lstStyle/>
          <a:p>
            <a:pPr algn="ctr">
              <a:lnSpc>
                <a:spcPts val="1320"/>
              </a:lnSpc>
              <a:spcAft>
                <a:spcPts val="0"/>
              </a:spcAft>
              <a:defRPr sz="1100" b="0">
                <a:solidFill>
                  <a:srgbClr val="424242"/>
                </a:solidFill>
                <a:latin typeface="Calibri"/>
              </a:defRPr>
            </a:pPr>
            <a:r>
              <a:t>Kích hoạt xác thực SlowFast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0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37160"/>
            <a:ext cx="10058400" cy="640080"/>
          </a:xfrm>
          <a:prstGeom prst="rect">
            <a:avLst/>
          </a:prstGeom>
          <a:noFill/>
        </p:spPr>
        <p:txBody>
          <a:bodyPr wrap="square">
            <a:spAutoFit/>
          </a:bodyPr>
          <a:lstStyle/>
          <a:p>
            <a:pPr algn="l">
              <a:lnSpc>
                <a:spcPts val="3840"/>
              </a:lnSpc>
              <a:spcAft>
                <a:spcPts val="0"/>
              </a:spcAft>
              <a:defRPr sz="3200" b="1">
                <a:solidFill>
                  <a:srgbClr val="FFFFFF"/>
                </a:solidFill>
                <a:latin typeface="Calibri"/>
              </a:defRPr>
            </a:pPr>
            <a:r>
              <a:t>CƠ SỞ DỮ LIỆU VÀ API</a:t>
            </a:r>
          </a:p>
        </p:txBody>
      </p:sp>
      <p:sp>
        <p:nvSpPr>
          <p:cNvPr id="4" name="TextBox 3"/>
          <p:cNvSpPr txBox="1"/>
          <p:nvPr/>
        </p:nvSpPr>
        <p:spPr>
          <a:xfrm>
            <a:off x="731520" y="685800"/>
            <a:ext cx="10058400" cy="365760"/>
          </a:xfrm>
          <a:prstGeom prst="rect">
            <a:avLst/>
          </a:prstGeom>
          <a:noFill/>
        </p:spPr>
        <p:txBody>
          <a:bodyPr wrap="square">
            <a:spAutoFit/>
          </a:bodyPr>
          <a:lstStyle/>
          <a:p>
            <a:pPr algn="l">
              <a:lnSpc>
                <a:spcPts val="1920"/>
              </a:lnSpc>
              <a:spcAft>
                <a:spcPts val="0"/>
              </a:spcAft>
              <a:defRPr sz="1600" b="0">
                <a:solidFill>
                  <a:srgbClr val="42A5F5"/>
                </a:solidFill>
                <a:latin typeface="Calibri"/>
              </a:defRPr>
            </a:pPr>
            <a:r>
              <a:t>Chương 3.4.1: Bảng Alerts</a:t>
            </a:r>
          </a:p>
        </p:txBody>
      </p:sp>
      <p:sp>
        <p:nvSpPr>
          <p:cNvPr id="5" name="Rectangle 4"/>
          <p:cNvSpPr/>
          <p:nvPr/>
        </p:nvSpPr>
        <p:spPr>
          <a:xfrm>
            <a:off x="0" y="1097280"/>
            <a:ext cx="12191695" cy="4572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492240"/>
            <a:ext cx="12191695" cy="365760"/>
          </a:xfrm>
          <a:prstGeom prst="rect">
            <a:avLst/>
          </a:prstGeom>
          <a:solidFill>
            <a:srgbClr val="0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10528"/>
            <a:ext cx="10972800" cy="320040"/>
          </a:xfrm>
          <a:prstGeom prst="rect">
            <a:avLst/>
          </a:prstGeom>
          <a:noFill/>
        </p:spPr>
        <p:txBody>
          <a:bodyPr wrap="square">
            <a:spAutoFit/>
          </a:bodyPr>
          <a:lstStyle/>
          <a:p>
            <a:pPr algn="ctr">
              <a:lnSpc>
                <a:spcPts val="1200"/>
              </a:lnSpc>
              <a:spcAft>
                <a:spcPts val="0"/>
              </a:spcAft>
              <a:defRPr sz="1000" b="0">
                <a:solidFill>
                  <a:srgbClr val="BBDEFB"/>
                </a:solidFill>
                <a:latin typeface="Calibri"/>
              </a:defRPr>
            </a:pPr>
            <a:r>
              <a:t>La Đại Lộc | MSSV: 4551050116 | GVHD: TS. Nguyễn Thanh Bình | Trường Đại học Quy Nhơn</a:t>
            </a:r>
          </a:p>
        </p:txBody>
      </p:sp>
      <p:graphicFrame>
        <p:nvGraphicFramePr>
          <p:cNvPr id="8" name="Table 7"/>
          <p:cNvGraphicFramePr>
            <a:graphicFrameLocks noGrp="1"/>
          </p:cNvGraphicFramePr>
          <p:nvPr/>
        </p:nvGraphicFramePr>
        <p:xfrm>
          <a:off x="457200" y="1463040"/>
          <a:ext cx="6858000" cy="457200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381000">
                <a:tc>
                  <a:txBody>
                    <a:bodyPr/>
                    <a:lstStyle/>
                    <a:p>
                      <a:pPr algn="ctr">
                        <a:defRPr sz="1200" b="1">
                          <a:solidFill>
                            <a:srgbClr val="FFFFFF"/>
                          </a:solidFill>
                          <a:latin typeface="Calibri"/>
                        </a:defRPr>
                      </a:pPr>
                      <a:r>
                        <a:t>Trường</a:t>
                      </a:r>
                    </a:p>
                  </a:txBody>
                  <a:tcPr>
                    <a:solidFill>
                      <a:srgbClr val="0A2E5C"/>
                    </a:solidFill>
                  </a:tcPr>
                </a:tc>
                <a:tc>
                  <a:txBody>
                    <a:bodyPr/>
                    <a:lstStyle/>
                    <a:p>
                      <a:pPr algn="ctr">
                        <a:defRPr sz="1200" b="1">
                          <a:solidFill>
                            <a:srgbClr val="FFFFFF"/>
                          </a:solidFill>
                          <a:latin typeface="Calibri"/>
                        </a:defRPr>
                      </a:pPr>
                      <a:r>
                        <a:t>Mô tả</a:t>
                      </a:r>
                    </a:p>
                  </a:txBody>
                  <a:tcPr>
                    <a:solidFill>
                      <a:srgbClr val="0A2E5C"/>
                    </a:solidFill>
                  </a:tcPr>
                </a:tc>
                <a:tc>
                  <a:txBody>
                    <a:bodyPr/>
                    <a:lstStyle/>
                    <a:p>
                      <a:pPr algn="ctr">
                        <a:defRPr sz="1200" b="1">
                          <a:solidFill>
                            <a:srgbClr val="FFFFFF"/>
                          </a:solidFill>
                          <a:latin typeface="Calibri"/>
                        </a:defRPr>
                      </a:pPr>
                      <a:r>
                        <a:t>Loại</a:t>
                      </a:r>
                    </a:p>
                  </a:txBody>
                  <a:tcPr>
                    <a:solidFill>
                      <a:srgbClr val="0A2E5C"/>
                    </a:solidFill>
                  </a:tcPr>
                </a:tc>
                <a:extLst>
                  <a:ext uri="{0D108BD9-81ED-4DB2-BD59-A6C34878D82A}">
                    <a16:rowId xmlns:a16="http://schemas.microsoft.com/office/drawing/2014/main" val="10000"/>
                  </a:ext>
                </a:extLst>
              </a:tr>
              <a:tr h="381000">
                <a:tc>
                  <a:txBody>
                    <a:bodyPr/>
                    <a:lstStyle/>
                    <a:p>
                      <a:pPr algn="ctr">
                        <a:defRPr sz="1200">
                          <a:solidFill>
                            <a:srgbClr val="424242"/>
                          </a:solidFill>
                          <a:latin typeface="Calibri"/>
                        </a:defRPr>
                      </a:pPr>
                      <a:r>
                        <a:t>id</a:t>
                      </a:r>
                    </a:p>
                  </a:txBody>
                  <a:tcPr>
                    <a:solidFill>
                      <a:srgbClr val="FFFFFF"/>
                    </a:solidFill>
                  </a:tcPr>
                </a:tc>
                <a:tc>
                  <a:txBody>
                    <a:bodyPr/>
                    <a:lstStyle/>
                    <a:p>
                      <a:pPr algn="ctr">
                        <a:defRPr sz="1200">
                          <a:solidFill>
                            <a:srgbClr val="424242"/>
                          </a:solidFill>
                          <a:latin typeface="Calibri"/>
                        </a:defRPr>
                      </a:pPr>
                      <a:r>
                        <a:t>Khóa chính (auto-increment)</a:t>
                      </a:r>
                    </a:p>
                  </a:txBody>
                  <a:tcPr>
                    <a:solidFill>
                      <a:srgbClr val="FFFFFF"/>
                    </a:solidFill>
                  </a:tcPr>
                </a:tc>
                <a:tc>
                  <a:txBody>
                    <a:bodyPr/>
                    <a:lstStyle/>
                    <a:p>
                      <a:pPr algn="ctr">
                        <a:defRPr sz="1200">
                          <a:solidFill>
                            <a:srgbClr val="424242"/>
                          </a:solidFill>
                          <a:latin typeface="Calibri"/>
                        </a:defRPr>
                      </a:pPr>
                      <a:r>
                        <a:t>Integer PK</a:t>
                      </a:r>
                    </a:p>
                  </a:txBody>
                  <a:tcPr>
                    <a:solidFill>
                      <a:srgbClr val="FFFFFF"/>
                    </a:solidFill>
                  </a:tcPr>
                </a:tc>
                <a:extLst>
                  <a:ext uri="{0D108BD9-81ED-4DB2-BD59-A6C34878D82A}">
                    <a16:rowId xmlns:a16="http://schemas.microsoft.com/office/drawing/2014/main" val="10001"/>
                  </a:ext>
                </a:extLst>
              </a:tr>
              <a:tr h="381000">
                <a:tc>
                  <a:txBody>
                    <a:bodyPr/>
                    <a:lstStyle/>
                    <a:p>
                      <a:pPr algn="ctr">
                        <a:defRPr sz="1200">
                          <a:solidFill>
                            <a:srgbClr val="424242"/>
                          </a:solidFill>
                          <a:latin typeface="Calibri"/>
                        </a:defRPr>
                      </a:pPr>
                      <a:r>
                        <a:t>event_type</a:t>
                      </a:r>
                    </a:p>
                  </a:txBody>
                  <a:tcPr>
                    <a:solidFill>
                      <a:srgbClr val="E3F2FD"/>
                    </a:solidFill>
                  </a:tcPr>
                </a:tc>
                <a:tc>
                  <a:txBody>
                    <a:bodyPr/>
                    <a:lstStyle/>
                    <a:p>
                      <a:pPr algn="ctr">
                        <a:defRPr sz="1200">
                          <a:solidFill>
                            <a:srgbClr val="424242"/>
                          </a:solidFill>
                          <a:latin typeface="Calibri"/>
                        </a:defRPr>
                      </a:pPr>
                      <a:r>
                        <a:t>Loại vi phạm</a:t>
                      </a:r>
                    </a:p>
                  </a:txBody>
                  <a:tcPr>
                    <a:solidFill>
                      <a:srgbClr val="E3F2FD"/>
                    </a:solidFill>
                  </a:tcPr>
                </a:tc>
                <a:tc>
                  <a:txBody>
                    <a:bodyPr/>
                    <a:lstStyle/>
                    <a:p>
                      <a:pPr algn="ctr">
                        <a:defRPr sz="1200">
                          <a:solidFill>
                            <a:srgbClr val="424242"/>
                          </a:solidFill>
                          <a:latin typeface="Calibri"/>
                        </a:defRPr>
                      </a:pPr>
                      <a:r>
                        <a:t>String</a:t>
                      </a:r>
                    </a:p>
                  </a:txBody>
                  <a:tcPr>
                    <a:solidFill>
                      <a:srgbClr val="E3F2FD"/>
                    </a:solidFill>
                  </a:tcPr>
                </a:tc>
                <a:extLst>
                  <a:ext uri="{0D108BD9-81ED-4DB2-BD59-A6C34878D82A}">
                    <a16:rowId xmlns:a16="http://schemas.microsoft.com/office/drawing/2014/main" val="10002"/>
                  </a:ext>
                </a:extLst>
              </a:tr>
              <a:tr h="381000">
                <a:tc>
                  <a:txBody>
                    <a:bodyPr/>
                    <a:lstStyle/>
                    <a:p>
                      <a:pPr algn="ctr">
                        <a:defRPr sz="1200">
                          <a:solidFill>
                            <a:srgbClr val="424242"/>
                          </a:solidFill>
                          <a:latin typeface="Calibri"/>
                        </a:defRPr>
                      </a:pPr>
                      <a:r>
                        <a:t>timestamp</a:t>
                      </a:r>
                    </a:p>
                  </a:txBody>
                  <a:tcPr>
                    <a:solidFill>
                      <a:srgbClr val="FFFFFF"/>
                    </a:solidFill>
                  </a:tcPr>
                </a:tc>
                <a:tc>
                  <a:txBody>
                    <a:bodyPr/>
                    <a:lstStyle/>
                    <a:p>
                      <a:pPr algn="ctr">
                        <a:defRPr sz="1200">
                          <a:solidFill>
                            <a:srgbClr val="424242"/>
                          </a:solidFill>
                          <a:latin typeface="Calibri"/>
                        </a:defRPr>
                      </a:pPr>
                      <a:r>
                        <a:t>Thời gian (ISO string)</a:t>
                      </a:r>
                    </a:p>
                  </a:txBody>
                  <a:tcPr>
                    <a:solidFill>
                      <a:srgbClr val="FFFFFF"/>
                    </a:solidFill>
                  </a:tcPr>
                </a:tc>
                <a:tc>
                  <a:txBody>
                    <a:bodyPr/>
                    <a:lstStyle/>
                    <a:p>
                      <a:pPr algn="ctr">
                        <a:defRPr sz="1200">
                          <a:solidFill>
                            <a:srgbClr val="424242"/>
                          </a:solidFill>
                          <a:latin typeface="Calibri"/>
                        </a:defRPr>
                      </a:pPr>
                      <a:r>
                        <a:t>String</a:t>
                      </a:r>
                    </a:p>
                  </a:txBody>
                  <a:tcPr>
                    <a:solidFill>
                      <a:srgbClr val="FFFFFF"/>
                    </a:solidFill>
                  </a:tcPr>
                </a:tc>
                <a:extLst>
                  <a:ext uri="{0D108BD9-81ED-4DB2-BD59-A6C34878D82A}">
                    <a16:rowId xmlns:a16="http://schemas.microsoft.com/office/drawing/2014/main" val="10003"/>
                  </a:ext>
                </a:extLst>
              </a:tr>
              <a:tr h="381000">
                <a:tc>
                  <a:txBody>
                    <a:bodyPr/>
                    <a:lstStyle/>
                    <a:p>
                      <a:pPr algn="ctr">
                        <a:defRPr sz="1200">
                          <a:solidFill>
                            <a:srgbClr val="424242"/>
                          </a:solidFill>
                          <a:latin typeface="Calibri"/>
                        </a:defRPr>
                      </a:pPr>
                      <a:r>
                        <a:t>confidence</a:t>
                      </a:r>
                    </a:p>
                  </a:txBody>
                  <a:tcPr>
                    <a:solidFill>
                      <a:srgbClr val="E3F2FD"/>
                    </a:solidFill>
                  </a:tcPr>
                </a:tc>
                <a:tc>
                  <a:txBody>
                    <a:bodyPr/>
                    <a:lstStyle/>
                    <a:p>
                      <a:pPr algn="ctr">
                        <a:defRPr sz="1200">
                          <a:solidFill>
                            <a:srgbClr val="424242"/>
                          </a:solidFill>
                          <a:latin typeface="Calibri"/>
                        </a:defRPr>
                      </a:pPr>
                      <a:r>
                        <a:t>Độ tin cậy</a:t>
                      </a:r>
                    </a:p>
                  </a:txBody>
                  <a:tcPr>
                    <a:solidFill>
                      <a:srgbClr val="E3F2FD"/>
                    </a:solidFill>
                  </a:tcPr>
                </a:tc>
                <a:tc>
                  <a:txBody>
                    <a:bodyPr/>
                    <a:lstStyle/>
                    <a:p>
                      <a:pPr algn="ctr">
                        <a:defRPr sz="1200">
                          <a:solidFill>
                            <a:srgbClr val="424242"/>
                          </a:solidFill>
                          <a:latin typeface="Calibri"/>
                        </a:defRPr>
                      </a:pPr>
                      <a:r>
                        <a:t>Float</a:t>
                      </a:r>
                    </a:p>
                  </a:txBody>
                  <a:tcPr>
                    <a:solidFill>
                      <a:srgbClr val="E3F2FD"/>
                    </a:solidFill>
                  </a:tcPr>
                </a:tc>
                <a:extLst>
                  <a:ext uri="{0D108BD9-81ED-4DB2-BD59-A6C34878D82A}">
                    <a16:rowId xmlns:a16="http://schemas.microsoft.com/office/drawing/2014/main" val="10004"/>
                  </a:ext>
                </a:extLst>
              </a:tr>
              <a:tr h="381000">
                <a:tc>
                  <a:txBody>
                    <a:bodyPr/>
                    <a:lstStyle/>
                    <a:p>
                      <a:pPr algn="ctr">
                        <a:defRPr sz="1200">
                          <a:solidFill>
                            <a:srgbClr val="424242"/>
                          </a:solidFill>
                          <a:latin typeface="Calibri"/>
                        </a:defRPr>
                      </a:pPr>
                      <a:r>
                        <a:t>frame_index</a:t>
                      </a:r>
                    </a:p>
                  </a:txBody>
                  <a:tcPr>
                    <a:solidFill>
                      <a:srgbClr val="FFFFFF"/>
                    </a:solidFill>
                  </a:tcPr>
                </a:tc>
                <a:tc>
                  <a:txBody>
                    <a:bodyPr/>
                    <a:lstStyle/>
                    <a:p>
                      <a:pPr algn="ctr">
                        <a:defRPr sz="1200">
                          <a:solidFill>
                            <a:srgbClr val="424242"/>
                          </a:solidFill>
                          <a:latin typeface="Calibri"/>
                        </a:defRPr>
                      </a:pPr>
                      <a:r>
                        <a:t>Chỉ số frame</a:t>
                      </a:r>
                    </a:p>
                  </a:txBody>
                  <a:tcPr>
                    <a:solidFill>
                      <a:srgbClr val="FFFFFF"/>
                    </a:solidFill>
                  </a:tcPr>
                </a:tc>
                <a:tc>
                  <a:txBody>
                    <a:bodyPr/>
                    <a:lstStyle/>
                    <a:p>
                      <a:pPr algn="ctr">
                        <a:defRPr sz="1200">
                          <a:solidFill>
                            <a:srgbClr val="424242"/>
                          </a:solidFill>
                          <a:latin typeface="Calibri"/>
                        </a:defRPr>
                      </a:pPr>
                      <a:r>
                        <a:t>Integer</a:t>
                      </a:r>
                    </a:p>
                  </a:txBody>
                  <a:tcPr>
                    <a:solidFill>
                      <a:srgbClr val="FFFFFF"/>
                    </a:solidFill>
                  </a:tcPr>
                </a:tc>
                <a:extLst>
                  <a:ext uri="{0D108BD9-81ED-4DB2-BD59-A6C34878D82A}">
                    <a16:rowId xmlns:a16="http://schemas.microsoft.com/office/drawing/2014/main" val="10005"/>
                  </a:ext>
                </a:extLst>
              </a:tr>
              <a:tr h="381000">
                <a:tc>
                  <a:txBody>
                    <a:bodyPr/>
                    <a:lstStyle/>
                    <a:p>
                      <a:pPr algn="ctr">
                        <a:defRPr sz="1200">
                          <a:solidFill>
                            <a:srgbClr val="424242"/>
                          </a:solidFill>
                          <a:latin typeface="Calibri"/>
                        </a:defRPr>
                      </a:pPr>
                      <a:r>
                        <a:t>source_device</a:t>
                      </a:r>
                    </a:p>
                  </a:txBody>
                  <a:tcPr>
                    <a:solidFill>
                      <a:srgbClr val="E3F2FD"/>
                    </a:solidFill>
                  </a:tcPr>
                </a:tc>
                <a:tc>
                  <a:txBody>
                    <a:bodyPr/>
                    <a:lstStyle/>
                    <a:p>
                      <a:pPr algn="ctr">
                        <a:defRPr sz="1200">
                          <a:solidFill>
                            <a:srgbClr val="424242"/>
                          </a:solidFill>
                          <a:latin typeface="Calibri"/>
                        </a:defRPr>
                      </a:pPr>
                      <a:r>
                        <a:t>Mã thiết bị</a:t>
                      </a:r>
                    </a:p>
                  </a:txBody>
                  <a:tcPr>
                    <a:solidFill>
                      <a:srgbClr val="E3F2FD"/>
                    </a:solidFill>
                  </a:tcPr>
                </a:tc>
                <a:tc>
                  <a:txBody>
                    <a:bodyPr/>
                    <a:lstStyle/>
                    <a:p>
                      <a:pPr algn="ctr">
                        <a:defRPr sz="1200">
                          <a:solidFill>
                            <a:srgbClr val="424242"/>
                          </a:solidFill>
                          <a:latin typeface="Calibri"/>
                        </a:defRPr>
                      </a:pPr>
                      <a:r>
                        <a:t>String</a:t>
                      </a:r>
                    </a:p>
                  </a:txBody>
                  <a:tcPr>
                    <a:solidFill>
                      <a:srgbClr val="E3F2FD"/>
                    </a:solidFill>
                  </a:tcPr>
                </a:tc>
                <a:extLst>
                  <a:ext uri="{0D108BD9-81ED-4DB2-BD59-A6C34878D82A}">
                    <a16:rowId xmlns:a16="http://schemas.microsoft.com/office/drawing/2014/main" val="10006"/>
                  </a:ext>
                </a:extLst>
              </a:tr>
              <a:tr h="381000">
                <a:tc>
                  <a:txBody>
                    <a:bodyPr/>
                    <a:lstStyle/>
                    <a:p>
                      <a:pPr algn="ctr">
                        <a:defRPr sz="1200">
                          <a:solidFill>
                            <a:srgbClr val="424242"/>
                          </a:solidFill>
                          <a:latin typeface="Calibri"/>
                        </a:defRPr>
                      </a:pPr>
                      <a:r>
                        <a:t>frame_path</a:t>
                      </a:r>
                    </a:p>
                  </a:txBody>
                  <a:tcPr>
                    <a:solidFill>
                      <a:srgbClr val="FFFFFF"/>
                    </a:solidFill>
                  </a:tcPr>
                </a:tc>
                <a:tc>
                  <a:txBody>
                    <a:bodyPr/>
                    <a:lstStyle/>
                    <a:p>
                      <a:pPr algn="ctr">
                        <a:defRPr sz="1200">
                          <a:solidFill>
                            <a:srgbClr val="424242"/>
                          </a:solidFill>
                          <a:latin typeface="Calibri"/>
                        </a:defRPr>
                      </a:pPr>
                      <a:r>
                        <a:t>Đường dẫn ảnh bằng chứng</a:t>
                      </a:r>
                    </a:p>
                  </a:txBody>
                  <a:tcPr>
                    <a:solidFill>
                      <a:srgbClr val="FFFFFF"/>
                    </a:solidFill>
                  </a:tcPr>
                </a:tc>
                <a:tc>
                  <a:txBody>
                    <a:bodyPr/>
                    <a:lstStyle/>
                    <a:p>
                      <a:pPr algn="ctr">
                        <a:defRPr sz="1200">
                          <a:solidFill>
                            <a:srgbClr val="424242"/>
                          </a:solidFill>
                          <a:latin typeface="Calibri"/>
                        </a:defRPr>
                      </a:pPr>
                      <a:r>
                        <a:t>String</a:t>
                      </a:r>
                    </a:p>
                  </a:txBody>
                  <a:tcPr>
                    <a:solidFill>
                      <a:srgbClr val="FFFFFF"/>
                    </a:solidFill>
                  </a:tcPr>
                </a:tc>
                <a:extLst>
                  <a:ext uri="{0D108BD9-81ED-4DB2-BD59-A6C34878D82A}">
                    <a16:rowId xmlns:a16="http://schemas.microsoft.com/office/drawing/2014/main" val="10007"/>
                  </a:ext>
                </a:extLst>
              </a:tr>
              <a:tr h="381000">
                <a:tc>
                  <a:txBody>
                    <a:bodyPr/>
                    <a:lstStyle/>
                    <a:p>
                      <a:pPr algn="ctr">
                        <a:defRPr sz="1200">
                          <a:solidFill>
                            <a:srgbClr val="424242"/>
                          </a:solidFill>
                          <a:latin typeface="Calibri"/>
                        </a:defRPr>
                      </a:pPr>
                      <a:r>
                        <a:t>clip_path</a:t>
                      </a:r>
                    </a:p>
                  </a:txBody>
                  <a:tcPr>
                    <a:solidFill>
                      <a:srgbClr val="E3F2FD"/>
                    </a:solidFill>
                  </a:tcPr>
                </a:tc>
                <a:tc>
                  <a:txBody>
                    <a:bodyPr/>
                    <a:lstStyle/>
                    <a:p>
                      <a:pPr algn="ctr">
                        <a:defRPr sz="1200">
                          <a:solidFill>
                            <a:srgbClr val="424242"/>
                          </a:solidFill>
                          <a:latin typeface="Calibri"/>
                        </a:defRPr>
                      </a:pPr>
                      <a:r>
                        <a:t>Đường dẫn video clip</a:t>
                      </a:r>
                    </a:p>
                  </a:txBody>
                  <a:tcPr>
                    <a:solidFill>
                      <a:srgbClr val="E3F2FD"/>
                    </a:solidFill>
                  </a:tcPr>
                </a:tc>
                <a:tc>
                  <a:txBody>
                    <a:bodyPr/>
                    <a:lstStyle/>
                    <a:p>
                      <a:pPr algn="ctr">
                        <a:defRPr sz="1200">
                          <a:solidFill>
                            <a:srgbClr val="424242"/>
                          </a:solidFill>
                          <a:latin typeface="Calibri"/>
                        </a:defRPr>
                      </a:pPr>
                      <a:r>
                        <a:t>String</a:t>
                      </a:r>
                    </a:p>
                  </a:txBody>
                  <a:tcPr>
                    <a:solidFill>
                      <a:srgbClr val="E3F2FD"/>
                    </a:solidFill>
                  </a:tcPr>
                </a:tc>
                <a:extLst>
                  <a:ext uri="{0D108BD9-81ED-4DB2-BD59-A6C34878D82A}">
                    <a16:rowId xmlns:a16="http://schemas.microsoft.com/office/drawing/2014/main" val="10008"/>
                  </a:ext>
                </a:extLst>
              </a:tr>
              <a:tr h="381000">
                <a:tc>
                  <a:txBody>
                    <a:bodyPr/>
                    <a:lstStyle/>
                    <a:p>
                      <a:pPr algn="ctr">
                        <a:defRPr sz="1200">
                          <a:solidFill>
                            <a:srgbClr val="424242"/>
                          </a:solidFill>
                          <a:latin typeface="Calibri"/>
                        </a:defRPr>
                      </a:pPr>
                      <a:r>
                        <a:t>verified</a:t>
                      </a:r>
                    </a:p>
                  </a:txBody>
                  <a:tcPr>
                    <a:solidFill>
                      <a:srgbClr val="FFFFFF"/>
                    </a:solidFill>
                  </a:tcPr>
                </a:tc>
                <a:tc>
                  <a:txBody>
                    <a:bodyPr/>
                    <a:lstStyle/>
                    <a:p>
                      <a:pPr algn="ctr">
                        <a:defRPr sz="1200">
                          <a:solidFill>
                            <a:srgbClr val="424242"/>
                          </a:solidFill>
                          <a:latin typeface="Calibri"/>
                        </a:defRPr>
                      </a:pPr>
                      <a:r>
                        <a:t>Trạng thái xác thực</a:t>
                      </a:r>
                    </a:p>
                  </a:txBody>
                  <a:tcPr>
                    <a:solidFill>
                      <a:srgbClr val="FFFFFF"/>
                    </a:solidFill>
                  </a:tcPr>
                </a:tc>
                <a:tc>
                  <a:txBody>
                    <a:bodyPr/>
                    <a:lstStyle/>
                    <a:p>
                      <a:pPr algn="ctr">
                        <a:defRPr sz="1200">
                          <a:solidFill>
                            <a:srgbClr val="424242"/>
                          </a:solidFill>
                          <a:latin typeface="Calibri"/>
                        </a:defRPr>
                      </a:pPr>
                      <a:r>
                        <a:t>Boolean</a:t>
                      </a:r>
                    </a:p>
                  </a:txBody>
                  <a:tcPr>
                    <a:solidFill>
                      <a:srgbClr val="FFFFFF"/>
                    </a:solidFill>
                  </a:tcPr>
                </a:tc>
                <a:extLst>
                  <a:ext uri="{0D108BD9-81ED-4DB2-BD59-A6C34878D82A}">
                    <a16:rowId xmlns:a16="http://schemas.microsoft.com/office/drawing/2014/main" val="10009"/>
                  </a:ext>
                </a:extLst>
              </a:tr>
              <a:tr h="381000">
                <a:tc>
                  <a:txBody>
                    <a:bodyPr/>
                    <a:lstStyle/>
                    <a:p>
                      <a:pPr algn="ctr">
                        <a:defRPr sz="1200">
                          <a:solidFill>
                            <a:srgbClr val="424242"/>
                          </a:solidFill>
                          <a:latin typeface="Calibri"/>
                        </a:defRPr>
                      </a:pPr>
                      <a:r>
                        <a:t>review_status</a:t>
                      </a:r>
                    </a:p>
                  </a:txBody>
                  <a:tcPr>
                    <a:solidFill>
                      <a:srgbClr val="E3F2FD"/>
                    </a:solidFill>
                  </a:tcPr>
                </a:tc>
                <a:tc>
                  <a:txBody>
                    <a:bodyPr/>
                    <a:lstStyle/>
                    <a:p>
                      <a:pPr algn="ctr">
                        <a:defRPr sz="1200">
                          <a:solidFill>
                            <a:srgbClr val="424242"/>
                          </a:solidFill>
                          <a:latin typeface="Calibri"/>
                        </a:defRPr>
                      </a:pPr>
                      <a:r>
                        <a:t>Trạng thái kiểm duyệt</a:t>
                      </a:r>
                    </a:p>
                  </a:txBody>
                  <a:tcPr>
                    <a:solidFill>
                      <a:srgbClr val="E3F2FD"/>
                    </a:solidFill>
                  </a:tcPr>
                </a:tc>
                <a:tc>
                  <a:txBody>
                    <a:bodyPr/>
                    <a:lstStyle/>
                    <a:p>
                      <a:pPr algn="ctr">
                        <a:defRPr sz="1200">
                          <a:solidFill>
                            <a:srgbClr val="424242"/>
                          </a:solidFill>
                          <a:latin typeface="Calibri"/>
                        </a:defRPr>
                      </a:pPr>
                      <a:r>
                        <a:t>String</a:t>
                      </a:r>
                    </a:p>
                  </a:txBody>
                  <a:tcPr>
                    <a:solidFill>
                      <a:srgbClr val="E3F2FD"/>
                    </a:solidFill>
                  </a:tcPr>
                </a:tc>
                <a:extLst>
                  <a:ext uri="{0D108BD9-81ED-4DB2-BD59-A6C34878D82A}">
                    <a16:rowId xmlns:a16="http://schemas.microsoft.com/office/drawing/2014/main" val="10010"/>
                  </a:ext>
                </a:extLst>
              </a:tr>
              <a:tr h="381000">
                <a:tc>
                  <a:txBody>
                    <a:bodyPr/>
                    <a:lstStyle/>
                    <a:p>
                      <a:pPr algn="ctr">
                        <a:defRPr sz="1200">
                          <a:solidFill>
                            <a:srgbClr val="424242"/>
                          </a:solidFill>
                          <a:latin typeface="Calibri"/>
                        </a:defRPr>
                      </a:pPr>
                      <a:r>
                        <a:t>created_at</a:t>
                      </a:r>
                    </a:p>
                  </a:txBody>
                  <a:tcPr>
                    <a:solidFill>
                      <a:srgbClr val="FFFFFF"/>
                    </a:solidFill>
                  </a:tcPr>
                </a:tc>
                <a:tc>
                  <a:txBody>
                    <a:bodyPr/>
                    <a:lstStyle/>
                    <a:p>
                      <a:pPr algn="ctr">
                        <a:defRPr sz="1200">
                          <a:solidFill>
                            <a:srgbClr val="424242"/>
                          </a:solidFill>
                          <a:latin typeface="Calibri"/>
                        </a:defRPr>
                      </a:pPr>
                      <a:r>
                        <a:t>Thời điểm tạo</a:t>
                      </a:r>
                    </a:p>
                  </a:txBody>
                  <a:tcPr>
                    <a:solidFill>
                      <a:srgbClr val="FFFFFF"/>
                    </a:solidFill>
                  </a:tcPr>
                </a:tc>
                <a:tc>
                  <a:txBody>
                    <a:bodyPr/>
                    <a:lstStyle/>
                    <a:p>
                      <a:pPr algn="ctr">
                        <a:defRPr sz="1200">
                          <a:solidFill>
                            <a:srgbClr val="424242"/>
                          </a:solidFill>
                          <a:latin typeface="Calibri"/>
                        </a:defRPr>
                      </a:pPr>
                      <a:r>
                        <a:t>DateTime</a:t>
                      </a:r>
                    </a:p>
                  </a:txBody>
                  <a:tcPr>
                    <a:solidFill>
                      <a:srgbClr val="FFFFFF"/>
                    </a:solidFill>
                  </a:tcPr>
                </a:tc>
                <a:extLst>
                  <a:ext uri="{0D108BD9-81ED-4DB2-BD59-A6C34878D82A}">
                    <a16:rowId xmlns:a16="http://schemas.microsoft.com/office/drawing/2014/main" val="10011"/>
                  </a:ext>
                </a:extLst>
              </a:tr>
            </a:tbl>
          </a:graphicData>
        </a:graphic>
      </p:graphicFrame>
      <p:sp>
        <p:nvSpPr>
          <p:cNvPr id="9" name="TextBox 8"/>
          <p:cNvSpPr txBox="1"/>
          <p:nvPr/>
        </p:nvSpPr>
        <p:spPr>
          <a:xfrm>
            <a:off x="7772400" y="1463040"/>
            <a:ext cx="3931920" cy="365760"/>
          </a:xfrm>
          <a:prstGeom prst="rect">
            <a:avLst/>
          </a:prstGeom>
          <a:noFill/>
        </p:spPr>
        <p:txBody>
          <a:bodyPr wrap="square">
            <a:spAutoFit/>
          </a:bodyPr>
          <a:lstStyle/>
          <a:p>
            <a:pPr algn="l">
              <a:lnSpc>
                <a:spcPts val="1920"/>
              </a:lnSpc>
              <a:spcAft>
                <a:spcPts val="0"/>
              </a:spcAft>
              <a:defRPr sz="1600" b="1">
                <a:solidFill>
                  <a:srgbClr val="0A2E5C"/>
                </a:solidFill>
                <a:latin typeface="Calibri"/>
              </a:defRPr>
            </a:pPr>
            <a:r>
              <a:t>Luồng dữ liệu tại Cloud</a:t>
            </a:r>
          </a:p>
        </p:txBody>
      </p:sp>
      <p:sp>
        <p:nvSpPr>
          <p:cNvPr id="10" name="TextBox 9"/>
          <p:cNvSpPr txBox="1"/>
          <p:nvPr/>
        </p:nvSpPr>
        <p:spPr>
          <a:xfrm>
            <a:off x="7772400" y="2011680"/>
            <a:ext cx="3931920" cy="3200400"/>
          </a:xfrm>
          <a:prstGeom prst="rect">
            <a:avLst/>
          </a:prstGeom>
          <a:noFill/>
        </p:spPr>
        <p:txBody>
          <a:bodyPr wrap="square">
            <a:spAutoFit/>
          </a:bodyPr>
          <a:lstStyle/>
          <a:p>
            <a:pPr algn="l">
              <a:lnSpc>
                <a:spcPts val="1820"/>
              </a:lnSpc>
              <a:spcAft>
                <a:spcPts val="600"/>
              </a:spcAft>
              <a:defRPr sz="1300">
                <a:solidFill>
                  <a:srgbClr val="424242"/>
                </a:solidFill>
                <a:latin typeface="Calibri"/>
              </a:defRPr>
            </a:pPr>
            <a:r>
              <a:t>▸ Edge gửi multipart/form-data</a:t>
            </a:r>
          </a:p>
          <a:p>
            <a:pPr algn="l">
              <a:lnSpc>
                <a:spcPts val="1820"/>
              </a:lnSpc>
              <a:spcAft>
                <a:spcPts val="600"/>
              </a:spcAft>
              <a:defRPr sz="1300">
                <a:solidFill>
                  <a:srgbClr val="424242"/>
                </a:solidFill>
                <a:latin typeface="Calibri"/>
              </a:defRPr>
            </a:pPr>
            <a:r>
              <a:t>▸ POST /alerts endpoint tiếp nhận</a:t>
            </a:r>
          </a:p>
          <a:p>
            <a:pPr algn="l">
              <a:lnSpc>
                <a:spcPts val="1820"/>
              </a:lnSpc>
              <a:spcAft>
                <a:spcPts val="600"/>
              </a:spcAft>
              <a:defRPr sz="1300">
                <a:solidFill>
                  <a:srgbClr val="424242"/>
                </a:solidFill>
                <a:latin typeface="Calibri"/>
              </a:defRPr>
            </a:pPr>
            <a:r>
              <a:t>▸ Kiểm tra tính hợp lệ (Pydantic)</a:t>
            </a:r>
          </a:p>
          <a:p>
            <a:pPr algn="l">
              <a:lnSpc>
                <a:spcPts val="1820"/>
              </a:lnSpc>
              <a:spcAft>
                <a:spcPts val="600"/>
              </a:spcAft>
              <a:defRPr sz="1300">
                <a:solidFill>
                  <a:srgbClr val="424242"/>
                </a:solidFill>
                <a:latin typeface="Calibri"/>
              </a:defRPr>
            </a:pPr>
            <a:r>
              <a:t>▸ Lưu file vào File System</a:t>
            </a:r>
          </a:p>
          <a:p>
            <a:pPr algn="l">
              <a:lnSpc>
                <a:spcPts val="1820"/>
              </a:lnSpc>
              <a:spcAft>
                <a:spcPts val="600"/>
              </a:spcAft>
              <a:defRPr sz="1300">
                <a:solidFill>
                  <a:srgbClr val="424242"/>
                </a:solidFill>
                <a:latin typeface="Calibri"/>
              </a:defRPr>
            </a:pPr>
            <a:r>
              <a:t>▸ Ghi metadata vào SQLite</a:t>
            </a:r>
          </a:p>
          <a:p>
            <a:pPr algn="l">
              <a:lnSpc>
                <a:spcPts val="1820"/>
              </a:lnSpc>
              <a:spcAft>
                <a:spcPts val="600"/>
              </a:spcAft>
              <a:defRPr sz="1300">
                <a:solidFill>
                  <a:srgbClr val="424242"/>
                </a:solidFill>
                <a:latin typeface="Calibri"/>
              </a:defRPr>
            </a:pPr>
            <a:r>
              <a:t>▸ Trả HTTP 200 OK cho Edge</a:t>
            </a:r>
          </a:p>
        </p:txBody>
      </p:sp>
      <p:sp>
        <p:nvSpPr>
          <p:cNvPr id="11" name="Rounded Rectangle 10"/>
          <p:cNvSpPr/>
          <p:nvPr/>
        </p:nvSpPr>
        <p:spPr>
          <a:xfrm>
            <a:off x="7772400" y="4572000"/>
            <a:ext cx="3931920" cy="1371600"/>
          </a:xfrm>
          <a:prstGeom prst="roundRect">
            <a:avLst/>
          </a:prstGeom>
          <a:solidFill>
            <a:srgbClr val="F5F5F5"/>
          </a:solidFill>
          <a:ln>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955279" y="4663440"/>
            <a:ext cx="3657600" cy="274320"/>
          </a:xfrm>
          <a:prstGeom prst="rect">
            <a:avLst/>
          </a:prstGeom>
          <a:noFill/>
        </p:spPr>
        <p:txBody>
          <a:bodyPr wrap="square">
            <a:spAutoFit/>
          </a:bodyPr>
          <a:lstStyle/>
          <a:p>
            <a:pPr algn="l">
              <a:lnSpc>
                <a:spcPts val="1560"/>
              </a:lnSpc>
              <a:spcAft>
                <a:spcPts val="0"/>
              </a:spcAft>
              <a:defRPr sz="1300" b="1">
                <a:solidFill>
                  <a:srgbClr val="0A2E5C"/>
                </a:solidFill>
                <a:latin typeface="Calibri"/>
              </a:defRPr>
            </a:pPr>
            <a:r>
              <a:t>Cấu trúc lưu trữ:</a:t>
            </a:r>
          </a:p>
        </p:txBody>
      </p:sp>
      <p:sp>
        <p:nvSpPr>
          <p:cNvPr id="13" name="TextBox 12"/>
          <p:cNvSpPr txBox="1"/>
          <p:nvPr/>
        </p:nvSpPr>
        <p:spPr>
          <a:xfrm>
            <a:off x="7955279" y="4937760"/>
            <a:ext cx="3657600" cy="914400"/>
          </a:xfrm>
          <a:prstGeom prst="rect">
            <a:avLst/>
          </a:prstGeom>
          <a:noFill/>
        </p:spPr>
        <p:txBody>
          <a:bodyPr wrap="square">
            <a:spAutoFit/>
          </a:bodyPr>
          <a:lstStyle/>
          <a:p>
            <a:pPr algn="l">
              <a:lnSpc>
                <a:spcPts val="1560"/>
              </a:lnSpc>
              <a:spcAft>
                <a:spcPts val="0"/>
              </a:spcAft>
              <a:defRPr sz="1200" b="0">
                <a:solidFill>
                  <a:srgbClr val="424242"/>
                </a:solidFill>
                <a:latin typeface="Consolas"/>
              </a:defRPr>
            </a:pPr>
            <a:r>
              <a:t>outputs/cloud_uploads/</a:t>
            </a:r>
            <a:br/>
            <a:r>
              <a:t>  frames/{filename}</a:t>
            </a:r>
            <a:br/>
            <a:r>
              <a:t>  clips/{filename}</a:t>
            </a:r>
            <a:br/>
            <a:r>
              <a:t>  events/{filename}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0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37160"/>
            <a:ext cx="10058400" cy="640080"/>
          </a:xfrm>
          <a:prstGeom prst="rect">
            <a:avLst/>
          </a:prstGeom>
          <a:noFill/>
        </p:spPr>
        <p:txBody>
          <a:bodyPr wrap="square">
            <a:spAutoFit/>
          </a:bodyPr>
          <a:lstStyle/>
          <a:p>
            <a:pPr algn="l">
              <a:lnSpc>
                <a:spcPts val="3840"/>
              </a:lnSpc>
              <a:spcAft>
                <a:spcPts val="0"/>
              </a:spcAft>
              <a:defRPr sz="3200" b="1">
                <a:solidFill>
                  <a:srgbClr val="FFFFFF"/>
                </a:solidFill>
                <a:latin typeface="Calibri"/>
              </a:defRPr>
            </a:pPr>
            <a:r>
              <a:t>DASHBOARD GIÁM SÁT</a:t>
            </a:r>
          </a:p>
        </p:txBody>
      </p:sp>
      <p:sp>
        <p:nvSpPr>
          <p:cNvPr id="4" name="TextBox 3"/>
          <p:cNvSpPr txBox="1"/>
          <p:nvPr/>
        </p:nvSpPr>
        <p:spPr>
          <a:xfrm>
            <a:off x="731520" y="685800"/>
            <a:ext cx="10058400" cy="365760"/>
          </a:xfrm>
          <a:prstGeom prst="rect">
            <a:avLst/>
          </a:prstGeom>
          <a:noFill/>
        </p:spPr>
        <p:txBody>
          <a:bodyPr wrap="square">
            <a:spAutoFit/>
          </a:bodyPr>
          <a:lstStyle/>
          <a:p>
            <a:pPr algn="l">
              <a:lnSpc>
                <a:spcPts val="1920"/>
              </a:lnSpc>
              <a:spcAft>
                <a:spcPts val="0"/>
              </a:spcAft>
              <a:defRPr sz="1600" b="0">
                <a:solidFill>
                  <a:srgbClr val="42A5F5"/>
                </a:solidFill>
                <a:latin typeface="Calibri"/>
              </a:defRPr>
            </a:pPr>
            <a:r>
              <a:t>Chương 3.4.2: Giao diện giám sát</a:t>
            </a:r>
          </a:p>
        </p:txBody>
      </p:sp>
      <p:sp>
        <p:nvSpPr>
          <p:cNvPr id="5" name="Rectangle 4"/>
          <p:cNvSpPr/>
          <p:nvPr/>
        </p:nvSpPr>
        <p:spPr>
          <a:xfrm>
            <a:off x="0" y="1097280"/>
            <a:ext cx="12191695" cy="4572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492240"/>
            <a:ext cx="12191695" cy="365760"/>
          </a:xfrm>
          <a:prstGeom prst="rect">
            <a:avLst/>
          </a:prstGeom>
          <a:solidFill>
            <a:srgbClr val="0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10528"/>
            <a:ext cx="10972800" cy="320040"/>
          </a:xfrm>
          <a:prstGeom prst="rect">
            <a:avLst/>
          </a:prstGeom>
          <a:noFill/>
        </p:spPr>
        <p:txBody>
          <a:bodyPr wrap="square">
            <a:spAutoFit/>
          </a:bodyPr>
          <a:lstStyle/>
          <a:p>
            <a:pPr algn="ctr">
              <a:lnSpc>
                <a:spcPts val="1200"/>
              </a:lnSpc>
              <a:spcAft>
                <a:spcPts val="0"/>
              </a:spcAft>
              <a:defRPr sz="1000" b="0">
                <a:solidFill>
                  <a:srgbClr val="BBDEFB"/>
                </a:solidFill>
                <a:latin typeface="Calibri"/>
              </a:defRPr>
            </a:pPr>
            <a:r>
              <a:t>La Đại Lộc | MSSV: 4551050116 | GVHD: TS. Nguyễn Thanh Bình | Trường Đại học Quy Nhơn</a:t>
            </a:r>
          </a:p>
        </p:txBody>
      </p:sp>
      <p:sp>
        <p:nvSpPr>
          <p:cNvPr id="8" name="Rounded Rectangle 7"/>
          <p:cNvSpPr/>
          <p:nvPr/>
        </p:nvSpPr>
        <p:spPr>
          <a:xfrm>
            <a:off x="731520" y="1645920"/>
            <a:ext cx="2560320" cy="2560320"/>
          </a:xfrm>
          <a:prstGeom prst="roundRect">
            <a:avLst/>
          </a:prstGeom>
          <a:solidFill>
            <a:srgbClr val="FFFFFF"/>
          </a:solidFill>
          <a:ln>
            <a:solidFill>
              <a:srgbClr val="144D8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31520" y="1645920"/>
            <a:ext cx="2560320" cy="548640"/>
          </a:xfrm>
          <a:prstGeom prst="rect">
            <a:avLst/>
          </a:prstGeom>
          <a:solidFill>
            <a:srgbClr val="144D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1737360"/>
            <a:ext cx="2560320" cy="365760"/>
          </a:xfrm>
          <a:prstGeom prst="rect">
            <a:avLst/>
          </a:prstGeom>
          <a:noFill/>
        </p:spPr>
        <p:txBody>
          <a:bodyPr wrap="square">
            <a:spAutoFit/>
          </a:bodyPr>
          <a:lstStyle/>
          <a:p>
            <a:pPr algn="ctr">
              <a:lnSpc>
                <a:spcPts val="1680"/>
              </a:lnSpc>
              <a:spcAft>
                <a:spcPts val="0"/>
              </a:spcAft>
              <a:defRPr sz="1400" b="1">
                <a:solidFill>
                  <a:srgbClr val="FFFFFF"/>
                </a:solidFill>
                <a:latin typeface="Calibri"/>
              </a:defRPr>
            </a:pPr>
            <a:r>
              <a:t>📊 Dashboard Tổng Quan</a:t>
            </a:r>
          </a:p>
        </p:txBody>
      </p:sp>
      <p:sp>
        <p:nvSpPr>
          <p:cNvPr id="11" name="TextBox 10"/>
          <p:cNvSpPr txBox="1"/>
          <p:nvPr/>
        </p:nvSpPr>
        <p:spPr>
          <a:xfrm>
            <a:off x="914400" y="2377440"/>
            <a:ext cx="2194560" cy="1645920"/>
          </a:xfrm>
          <a:prstGeom prst="rect">
            <a:avLst/>
          </a:prstGeom>
          <a:noFill/>
        </p:spPr>
        <p:txBody>
          <a:bodyPr wrap="square">
            <a:spAutoFit/>
          </a:bodyPr>
          <a:lstStyle/>
          <a:p>
            <a:pPr algn="ctr">
              <a:lnSpc>
                <a:spcPts val="1820"/>
              </a:lnSpc>
              <a:spcAft>
                <a:spcPts val="0"/>
              </a:spcAft>
              <a:defRPr sz="1300" b="0">
                <a:solidFill>
                  <a:srgbClr val="424242"/>
                </a:solidFill>
                <a:latin typeface="Calibri"/>
              </a:defRPr>
            </a:pPr>
            <a:r>
              <a:t>Biểu đồ xu hướng cảnh báo 24h</a:t>
            </a:r>
            <a:br/>
            <a:r>
              <a:t>Phân bố sự kiện theo loại</a:t>
            </a:r>
            <a:br/>
            <a:r>
              <a:t>Tự động làm mới mỗi 5 giây</a:t>
            </a:r>
          </a:p>
        </p:txBody>
      </p:sp>
      <p:sp>
        <p:nvSpPr>
          <p:cNvPr id="12" name="Rounded Rectangle 11"/>
          <p:cNvSpPr/>
          <p:nvPr/>
        </p:nvSpPr>
        <p:spPr>
          <a:xfrm>
            <a:off x="3520440" y="1645920"/>
            <a:ext cx="2560320" cy="2560320"/>
          </a:xfrm>
          <a:prstGeom prst="roundRect">
            <a:avLst/>
          </a:prstGeom>
          <a:solidFill>
            <a:srgbClr val="FFFFFF"/>
          </a:solidFill>
          <a:ln>
            <a:solidFill>
              <a:srgbClr val="0069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520440" y="1645920"/>
            <a:ext cx="2560320" cy="548640"/>
          </a:xfrm>
          <a:prstGeom prst="rect">
            <a:avLst/>
          </a:prstGeom>
          <a:solidFill>
            <a:srgbClr val="006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520440" y="1737360"/>
            <a:ext cx="2560320" cy="365760"/>
          </a:xfrm>
          <a:prstGeom prst="rect">
            <a:avLst/>
          </a:prstGeom>
          <a:noFill/>
        </p:spPr>
        <p:txBody>
          <a:bodyPr wrap="square">
            <a:spAutoFit/>
          </a:bodyPr>
          <a:lstStyle/>
          <a:p>
            <a:pPr algn="ctr">
              <a:lnSpc>
                <a:spcPts val="1680"/>
              </a:lnSpc>
              <a:spcAft>
                <a:spcPts val="0"/>
              </a:spcAft>
              <a:defRPr sz="1400" b="1">
                <a:solidFill>
                  <a:srgbClr val="FFFFFF"/>
                </a:solidFill>
                <a:latin typeface="Calibri"/>
              </a:defRPr>
            </a:pPr>
            <a:r>
              <a:t>🔔 Alerts Center</a:t>
            </a:r>
          </a:p>
        </p:txBody>
      </p:sp>
      <p:sp>
        <p:nvSpPr>
          <p:cNvPr id="15" name="TextBox 14"/>
          <p:cNvSpPr txBox="1"/>
          <p:nvPr/>
        </p:nvSpPr>
        <p:spPr>
          <a:xfrm>
            <a:off x="3703320" y="2377440"/>
            <a:ext cx="2194560" cy="1645920"/>
          </a:xfrm>
          <a:prstGeom prst="rect">
            <a:avLst/>
          </a:prstGeom>
          <a:noFill/>
        </p:spPr>
        <p:txBody>
          <a:bodyPr wrap="square">
            <a:spAutoFit/>
          </a:bodyPr>
          <a:lstStyle/>
          <a:p>
            <a:pPr algn="ctr">
              <a:lnSpc>
                <a:spcPts val="1820"/>
              </a:lnSpc>
              <a:spcAft>
                <a:spcPts val="0"/>
              </a:spcAft>
              <a:defRPr sz="1300" b="0">
                <a:solidFill>
                  <a:srgbClr val="424242"/>
                </a:solidFill>
                <a:latin typeface="Calibri"/>
              </a:defRPr>
            </a:pPr>
            <a:r>
              <a:t>Quản lý danh sách cảnh báo</a:t>
            </a:r>
            <a:br/>
            <a:r>
              <a:t>Bộ lọc đa tiêu chí, phân trang</a:t>
            </a:r>
            <a:br/>
            <a:r>
              <a:t>Xác thực hàng loạt</a:t>
            </a:r>
          </a:p>
        </p:txBody>
      </p:sp>
      <p:sp>
        <p:nvSpPr>
          <p:cNvPr id="16" name="Rounded Rectangle 15"/>
          <p:cNvSpPr/>
          <p:nvPr/>
        </p:nvSpPr>
        <p:spPr>
          <a:xfrm>
            <a:off x="6309360" y="1645920"/>
            <a:ext cx="2560320" cy="2560320"/>
          </a:xfrm>
          <a:prstGeom prst="roundRect">
            <a:avLst/>
          </a:prstGeom>
          <a:solidFill>
            <a:srgbClr val="FFFFFF"/>
          </a:solidFill>
          <a:ln>
            <a:solidFill>
              <a:srgbClr val="FF6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309360" y="1645920"/>
            <a:ext cx="2560320" cy="548640"/>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09360" y="1737360"/>
            <a:ext cx="2560320" cy="365760"/>
          </a:xfrm>
          <a:prstGeom prst="rect">
            <a:avLst/>
          </a:prstGeom>
          <a:noFill/>
        </p:spPr>
        <p:txBody>
          <a:bodyPr wrap="square">
            <a:spAutoFit/>
          </a:bodyPr>
          <a:lstStyle/>
          <a:p>
            <a:pPr algn="ctr">
              <a:lnSpc>
                <a:spcPts val="1680"/>
              </a:lnSpc>
              <a:spcAft>
                <a:spcPts val="0"/>
              </a:spcAft>
              <a:defRPr sz="1400" b="1">
                <a:solidFill>
                  <a:srgbClr val="FFFFFF"/>
                </a:solidFill>
                <a:latin typeface="Calibri"/>
              </a:defRPr>
            </a:pPr>
            <a:r>
              <a:t>📸 Evidence Modal</a:t>
            </a:r>
          </a:p>
        </p:txBody>
      </p:sp>
      <p:sp>
        <p:nvSpPr>
          <p:cNvPr id="19" name="TextBox 18"/>
          <p:cNvSpPr txBox="1"/>
          <p:nvPr/>
        </p:nvSpPr>
        <p:spPr>
          <a:xfrm>
            <a:off x="6492240" y="2377440"/>
            <a:ext cx="2194560" cy="1645920"/>
          </a:xfrm>
          <a:prstGeom prst="rect">
            <a:avLst/>
          </a:prstGeom>
          <a:noFill/>
        </p:spPr>
        <p:txBody>
          <a:bodyPr wrap="square">
            <a:spAutoFit/>
          </a:bodyPr>
          <a:lstStyle/>
          <a:p>
            <a:pPr algn="ctr">
              <a:lnSpc>
                <a:spcPts val="1820"/>
              </a:lnSpc>
              <a:spcAft>
                <a:spcPts val="0"/>
              </a:spcAft>
              <a:defRPr sz="1300" b="0">
                <a:solidFill>
                  <a:srgbClr val="424242"/>
                </a:solidFill>
                <a:latin typeface="Calibri"/>
              </a:defRPr>
            </a:pPr>
            <a:r>
              <a:t>Xem bằng chứng ảnh/clip</a:t>
            </a:r>
            <a:br/>
            <a:r>
              <a:t>Đánh giá thủ công (manual review)</a:t>
            </a:r>
            <a:br/>
            <a:r>
              <a:t>Kích hoạt xác thực SlowFast</a:t>
            </a:r>
          </a:p>
        </p:txBody>
      </p:sp>
      <p:sp>
        <p:nvSpPr>
          <p:cNvPr id="20" name="Rounded Rectangle 19"/>
          <p:cNvSpPr/>
          <p:nvPr/>
        </p:nvSpPr>
        <p:spPr>
          <a:xfrm>
            <a:off x="9098279" y="1645920"/>
            <a:ext cx="2560320" cy="2560320"/>
          </a:xfrm>
          <a:prstGeom prst="roundRect">
            <a:avLst/>
          </a:prstGeom>
          <a:solidFill>
            <a:srgbClr val="FFFFFF"/>
          </a:solidFill>
          <a:ln>
            <a:solidFill>
              <a:srgbClr val="6A1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9098279" y="1645920"/>
            <a:ext cx="2560320" cy="548640"/>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098279" y="1737360"/>
            <a:ext cx="2560320" cy="365760"/>
          </a:xfrm>
          <a:prstGeom prst="rect">
            <a:avLst/>
          </a:prstGeom>
          <a:noFill/>
        </p:spPr>
        <p:txBody>
          <a:bodyPr wrap="square">
            <a:spAutoFit/>
          </a:bodyPr>
          <a:lstStyle/>
          <a:p>
            <a:pPr algn="ctr">
              <a:lnSpc>
                <a:spcPts val="1680"/>
              </a:lnSpc>
              <a:spcAft>
                <a:spcPts val="0"/>
              </a:spcAft>
              <a:defRPr sz="1400" b="1">
                <a:solidFill>
                  <a:srgbClr val="FFFFFF"/>
                </a:solidFill>
                <a:latin typeface="Calibri"/>
              </a:defRPr>
            </a:pPr>
            <a:r>
              <a:t>📱 Devices &amp; Settings</a:t>
            </a:r>
          </a:p>
        </p:txBody>
      </p:sp>
      <p:sp>
        <p:nvSpPr>
          <p:cNvPr id="23" name="TextBox 22"/>
          <p:cNvSpPr txBox="1"/>
          <p:nvPr/>
        </p:nvSpPr>
        <p:spPr>
          <a:xfrm>
            <a:off x="9281159" y="2377440"/>
            <a:ext cx="2194560" cy="1645920"/>
          </a:xfrm>
          <a:prstGeom prst="rect">
            <a:avLst/>
          </a:prstGeom>
          <a:noFill/>
        </p:spPr>
        <p:txBody>
          <a:bodyPr wrap="square">
            <a:spAutoFit/>
          </a:bodyPr>
          <a:lstStyle/>
          <a:p>
            <a:pPr algn="ctr">
              <a:lnSpc>
                <a:spcPts val="1820"/>
              </a:lnSpc>
              <a:spcAft>
                <a:spcPts val="0"/>
              </a:spcAft>
              <a:defRPr sz="1300" b="0">
                <a:solidFill>
                  <a:srgbClr val="424242"/>
                </a:solidFill>
                <a:latin typeface="Calibri"/>
              </a:defRPr>
            </a:pPr>
            <a:r>
              <a:t>Quản lý thiết bị Edge</a:t>
            </a:r>
            <a:br/>
            <a:r>
              <a:t>Cấu hình hệ thống</a:t>
            </a:r>
            <a:br/>
            <a:r>
              <a:t>Xuất báo cáo</a:t>
            </a:r>
          </a:p>
        </p:txBody>
      </p:sp>
      <p:sp>
        <p:nvSpPr>
          <p:cNvPr id="24" name="TextBox 23"/>
          <p:cNvSpPr txBox="1"/>
          <p:nvPr/>
        </p:nvSpPr>
        <p:spPr>
          <a:xfrm>
            <a:off x="731520" y="4572000"/>
            <a:ext cx="10972800" cy="365760"/>
          </a:xfrm>
          <a:prstGeom prst="rect">
            <a:avLst/>
          </a:prstGeom>
          <a:noFill/>
        </p:spPr>
        <p:txBody>
          <a:bodyPr wrap="square">
            <a:spAutoFit/>
          </a:bodyPr>
          <a:lstStyle/>
          <a:p>
            <a:pPr algn="l">
              <a:lnSpc>
                <a:spcPts val="1920"/>
              </a:lnSpc>
              <a:spcAft>
                <a:spcPts val="0"/>
              </a:spcAft>
              <a:defRPr sz="1600" b="1">
                <a:solidFill>
                  <a:srgbClr val="0A2E5C"/>
                </a:solidFill>
                <a:latin typeface="Calibri"/>
              </a:defRPr>
            </a:pPr>
            <a:r>
              <a:t>Công nghệ frontend:</a:t>
            </a:r>
          </a:p>
        </p:txBody>
      </p:sp>
      <p:sp>
        <p:nvSpPr>
          <p:cNvPr id="25" name="Rounded Rectangle 24"/>
          <p:cNvSpPr/>
          <p:nvPr/>
        </p:nvSpPr>
        <p:spPr>
          <a:xfrm>
            <a:off x="731520" y="5029200"/>
            <a:ext cx="2560320" cy="731520"/>
          </a:xfrm>
          <a:prstGeom prst="roundRect">
            <a:avLst/>
          </a:prstGeom>
          <a:solidFill>
            <a:srgbClr val="F5F5F5"/>
          </a:solidFill>
          <a:ln>
            <a:solidFill>
              <a:srgbClr val="144D8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22960" y="5074920"/>
            <a:ext cx="2377440" cy="320040"/>
          </a:xfrm>
          <a:prstGeom prst="rect">
            <a:avLst/>
          </a:prstGeom>
          <a:noFill/>
        </p:spPr>
        <p:txBody>
          <a:bodyPr wrap="square">
            <a:spAutoFit/>
          </a:bodyPr>
          <a:lstStyle/>
          <a:p>
            <a:pPr algn="ctr">
              <a:lnSpc>
                <a:spcPts val="1680"/>
              </a:lnSpc>
              <a:spcAft>
                <a:spcPts val="0"/>
              </a:spcAft>
              <a:defRPr sz="1400" b="1">
                <a:solidFill>
                  <a:srgbClr val="144D8D"/>
                </a:solidFill>
                <a:latin typeface="Calibri"/>
              </a:defRPr>
            </a:pPr>
            <a:r>
              <a:t>React 19</a:t>
            </a:r>
          </a:p>
        </p:txBody>
      </p:sp>
      <p:sp>
        <p:nvSpPr>
          <p:cNvPr id="27" name="TextBox 26"/>
          <p:cNvSpPr txBox="1"/>
          <p:nvPr/>
        </p:nvSpPr>
        <p:spPr>
          <a:xfrm>
            <a:off x="822960" y="5394960"/>
            <a:ext cx="2377440" cy="274320"/>
          </a:xfrm>
          <a:prstGeom prst="rect">
            <a:avLst/>
          </a:prstGeom>
          <a:noFill/>
        </p:spPr>
        <p:txBody>
          <a:bodyPr wrap="square">
            <a:spAutoFit/>
          </a:bodyPr>
          <a:lstStyle/>
          <a:p>
            <a:pPr algn="ctr">
              <a:lnSpc>
                <a:spcPts val="1320"/>
              </a:lnSpc>
              <a:spcAft>
                <a:spcPts val="0"/>
              </a:spcAft>
              <a:defRPr sz="1100" b="0">
                <a:solidFill>
                  <a:srgbClr val="424242"/>
                </a:solidFill>
                <a:latin typeface="Calibri"/>
              </a:defRPr>
            </a:pPr>
            <a:r>
              <a:t>SPA Framework</a:t>
            </a:r>
          </a:p>
        </p:txBody>
      </p:sp>
      <p:sp>
        <p:nvSpPr>
          <p:cNvPr id="28" name="Rounded Rectangle 27"/>
          <p:cNvSpPr/>
          <p:nvPr/>
        </p:nvSpPr>
        <p:spPr>
          <a:xfrm>
            <a:off x="3520440" y="5029200"/>
            <a:ext cx="2560320" cy="731520"/>
          </a:xfrm>
          <a:prstGeom prst="roundRect">
            <a:avLst/>
          </a:prstGeom>
          <a:solidFill>
            <a:srgbClr val="F5F5F5"/>
          </a:solidFill>
          <a:ln>
            <a:solidFill>
              <a:srgbClr val="0069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611880" y="5074920"/>
            <a:ext cx="2377440" cy="320040"/>
          </a:xfrm>
          <a:prstGeom prst="rect">
            <a:avLst/>
          </a:prstGeom>
          <a:noFill/>
        </p:spPr>
        <p:txBody>
          <a:bodyPr wrap="square">
            <a:spAutoFit/>
          </a:bodyPr>
          <a:lstStyle/>
          <a:p>
            <a:pPr algn="ctr">
              <a:lnSpc>
                <a:spcPts val="1680"/>
              </a:lnSpc>
              <a:spcAft>
                <a:spcPts val="0"/>
              </a:spcAft>
              <a:defRPr sz="1400" b="1">
                <a:solidFill>
                  <a:srgbClr val="00695C"/>
                </a:solidFill>
                <a:latin typeface="Calibri"/>
              </a:defRPr>
            </a:pPr>
            <a:r>
              <a:t>Vite 7</a:t>
            </a:r>
          </a:p>
        </p:txBody>
      </p:sp>
      <p:sp>
        <p:nvSpPr>
          <p:cNvPr id="30" name="TextBox 29"/>
          <p:cNvSpPr txBox="1"/>
          <p:nvPr/>
        </p:nvSpPr>
        <p:spPr>
          <a:xfrm>
            <a:off x="3611880" y="5394960"/>
            <a:ext cx="2377440" cy="274320"/>
          </a:xfrm>
          <a:prstGeom prst="rect">
            <a:avLst/>
          </a:prstGeom>
          <a:noFill/>
        </p:spPr>
        <p:txBody>
          <a:bodyPr wrap="square">
            <a:spAutoFit/>
          </a:bodyPr>
          <a:lstStyle/>
          <a:p>
            <a:pPr algn="ctr">
              <a:lnSpc>
                <a:spcPts val="1320"/>
              </a:lnSpc>
              <a:spcAft>
                <a:spcPts val="0"/>
              </a:spcAft>
              <a:defRPr sz="1100" b="0">
                <a:solidFill>
                  <a:srgbClr val="424242"/>
                </a:solidFill>
                <a:latin typeface="Calibri"/>
              </a:defRPr>
            </a:pPr>
            <a:r>
              <a:t>Build Tool</a:t>
            </a:r>
          </a:p>
        </p:txBody>
      </p:sp>
      <p:sp>
        <p:nvSpPr>
          <p:cNvPr id="31" name="Rounded Rectangle 30"/>
          <p:cNvSpPr/>
          <p:nvPr/>
        </p:nvSpPr>
        <p:spPr>
          <a:xfrm>
            <a:off x="6309360" y="5029200"/>
            <a:ext cx="2560320" cy="731520"/>
          </a:xfrm>
          <a:prstGeom prst="roundRect">
            <a:avLst/>
          </a:prstGeom>
          <a:solidFill>
            <a:srgbClr val="F5F5F5"/>
          </a:solidFill>
          <a:ln>
            <a:solidFill>
              <a:srgbClr val="FF6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00800" y="5074920"/>
            <a:ext cx="2377440" cy="320040"/>
          </a:xfrm>
          <a:prstGeom prst="rect">
            <a:avLst/>
          </a:prstGeom>
          <a:noFill/>
        </p:spPr>
        <p:txBody>
          <a:bodyPr wrap="square">
            <a:spAutoFit/>
          </a:bodyPr>
          <a:lstStyle/>
          <a:p>
            <a:pPr algn="ctr">
              <a:lnSpc>
                <a:spcPts val="1680"/>
              </a:lnSpc>
              <a:spcAft>
                <a:spcPts val="0"/>
              </a:spcAft>
              <a:defRPr sz="1400" b="1">
                <a:solidFill>
                  <a:srgbClr val="FF6F00"/>
                </a:solidFill>
                <a:latin typeface="Calibri"/>
              </a:defRPr>
            </a:pPr>
            <a:r>
              <a:t>Recharts</a:t>
            </a:r>
          </a:p>
        </p:txBody>
      </p:sp>
      <p:sp>
        <p:nvSpPr>
          <p:cNvPr id="33" name="TextBox 32"/>
          <p:cNvSpPr txBox="1"/>
          <p:nvPr/>
        </p:nvSpPr>
        <p:spPr>
          <a:xfrm>
            <a:off x="6400800" y="5394960"/>
            <a:ext cx="2377440" cy="274320"/>
          </a:xfrm>
          <a:prstGeom prst="rect">
            <a:avLst/>
          </a:prstGeom>
          <a:noFill/>
        </p:spPr>
        <p:txBody>
          <a:bodyPr wrap="square">
            <a:spAutoFit/>
          </a:bodyPr>
          <a:lstStyle/>
          <a:p>
            <a:pPr algn="ctr">
              <a:lnSpc>
                <a:spcPts val="1320"/>
              </a:lnSpc>
              <a:spcAft>
                <a:spcPts val="0"/>
              </a:spcAft>
              <a:defRPr sz="1100" b="0">
                <a:solidFill>
                  <a:srgbClr val="424242"/>
                </a:solidFill>
                <a:latin typeface="Calibri"/>
              </a:defRPr>
            </a:pPr>
            <a:r>
              <a:t>Biểu đồ Bar/Pie</a:t>
            </a:r>
          </a:p>
        </p:txBody>
      </p:sp>
      <p:sp>
        <p:nvSpPr>
          <p:cNvPr id="34" name="Rounded Rectangle 33"/>
          <p:cNvSpPr/>
          <p:nvPr/>
        </p:nvSpPr>
        <p:spPr>
          <a:xfrm>
            <a:off x="9098279" y="5029200"/>
            <a:ext cx="2560320" cy="731520"/>
          </a:xfrm>
          <a:prstGeom prst="roundRect">
            <a:avLst/>
          </a:prstGeom>
          <a:solidFill>
            <a:srgbClr val="F5F5F5"/>
          </a:solidFill>
          <a:ln>
            <a:solidFill>
              <a:srgbClr val="6A1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189719" y="5074920"/>
            <a:ext cx="2377440" cy="320040"/>
          </a:xfrm>
          <a:prstGeom prst="rect">
            <a:avLst/>
          </a:prstGeom>
          <a:noFill/>
        </p:spPr>
        <p:txBody>
          <a:bodyPr wrap="square">
            <a:spAutoFit/>
          </a:bodyPr>
          <a:lstStyle/>
          <a:p>
            <a:pPr algn="ctr">
              <a:lnSpc>
                <a:spcPts val="1680"/>
              </a:lnSpc>
              <a:spcAft>
                <a:spcPts val="0"/>
              </a:spcAft>
              <a:defRPr sz="1400" b="1">
                <a:solidFill>
                  <a:srgbClr val="6A1B9A"/>
                </a:solidFill>
                <a:latin typeface="Calibri"/>
              </a:defRPr>
            </a:pPr>
            <a:r>
              <a:t>Lucide React</a:t>
            </a:r>
          </a:p>
        </p:txBody>
      </p:sp>
      <p:sp>
        <p:nvSpPr>
          <p:cNvPr id="36" name="TextBox 35"/>
          <p:cNvSpPr txBox="1"/>
          <p:nvPr/>
        </p:nvSpPr>
        <p:spPr>
          <a:xfrm>
            <a:off x="9189719" y="5394960"/>
            <a:ext cx="2377440" cy="274320"/>
          </a:xfrm>
          <a:prstGeom prst="rect">
            <a:avLst/>
          </a:prstGeom>
          <a:noFill/>
        </p:spPr>
        <p:txBody>
          <a:bodyPr wrap="square">
            <a:spAutoFit/>
          </a:bodyPr>
          <a:lstStyle/>
          <a:p>
            <a:pPr algn="ctr">
              <a:lnSpc>
                <a:spcPts val="1320"/>
              </a:lnSpc>
              <a:spcAft>
                <a:spcPts val="0"/>
              </a:spcAft>
              <a:defRPr sz="1100" b="0">
                <a:solidFill>
                  <a:srgbClr val="424242"/>
                </a:solidFill>
                <a:latin typeface="Calibri"/>
              </a:defRPr>
            </a:pPr>
            <a:r>
              <a:t>Icon system</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0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37160"/>
            <a:ext cx="10058400" cy="640080"/>
          </a:xfrm>
          <a:prstGeom prst="rect">
            <a:avLst/>
          </a:prstGeom>
          <a:noFill/>
        </p:spPr>
        <p:txBody>
          <a:bodyPr wrap="square">
            <a:spAutoFit/>
          </a:bodyPr>
          <a:lstStyle/>
          <a:p>
            <a:pPr algn="l">
              <a:lnSpc>
                <a:spcPts val="3840"/>
              </a:lnSpc>
              <a:spcAft>
                <a:spcPts val="0"/>
              </a:spcAft>
              <a:defRPr sz="3200" b="1">
                <a:solidFill>
                  <a:srgbClr val="FFFFFF"/>
                </a:solidFill>
                <a:latin typeface="Calibri"/>
              </a:defRPr>
            </a:pPr>
            <a:r>
              <a:t>MÔI TRƯỜNG TRIỂN KHAI VÀ THỰC NGHIỆM</a:t>
            </a:r>
          </a:p>
        </p:txBody>
      </p:sp>
      <p:sp>
        <p:nvSpPr>
          <p:cNvPr id="4" name="TextBox 3"/>
          <p:cNvSpPr txBox="1"/>
          <p:nvPr/>
        </p:nvSpPr>
        <p:spPr>
          <a:xfrm>
            <a:off x="731520" y="685800"/>
            <a:ext cx="10058400" cy="365760"/>
          </a:xfrm>
          <a:prstGeom prst="rect">
            <a:avLst/>
          </a:prstGeom>
          <a:noFill/>
        </p:spPr>
        <p:txBody>
          <a:bodyPr wrap="square">
            <a:spAutoFit/>
          </a:bodyPr>
          <a:lstStyle/>
          <a:p>
            <a:pPr algn="l">
              <a:lnSpc>
                <a:spcPts val="1920"/>
              </a:lnSpc>
              <a:spcAft>
                <a:spcPts val="0"/>
              </a:spcAft>
              <a:defRPr sz="1600" b="0">
                <a:solidFill>
                  <a:srgbClr val="42A5F5"/>
                </a:solidFill>
                <a:latin typeface="Calibri"/>
              </a:defRPr>
            </a:pPr>
            <a:r>
              <a:t>Chương 4: Xây dựng và thực nghiệm</a:t>
            </a:r>
          </a:p>
        </p:txBody>
      </p:sp>
      <p:sp>
        <p:nvSpPr>
          <p:cNvPr id="5" name="Rectangle 4"/>
          <p:cNvSpPr/>
          <p:nvPr/>
        </p:nvSpPr>
        <p:spPr>
          <a:xfrm>
            <a:off x="0" y="1097280"/>
            <a:ext cx="12191695" cy="4572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492240"/>
            <a:ext cx="12191695" cy="365760"/>
          </a:xfrm>
          <a:prstGeom prst="rect">
            <a:avLst/>
          </a:prstGeom>
          <a:solidFill>
            <a:srgbClr val="0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10528"/>
            <a:ext cx="10972800" cy="320040"/>
          </a:xfrm>
          <a:prstGeom prst="rect">
            <a:avLst/>
          </a:prstGeom>
          <a:noFill/>
        </p:spPr>
        <p:txBody>
          <a:bodyPr wrap="square">
            <a:spAutoFit/>
          </a:bodyPr>
          <a:lstStyle/>
          <a:p>
            <a:pPr algn="ctr">
              <a:lnSpc>
                <a:spcPts val="1200"/>
              </a:lnSpc>
              <a:spcAft>
                <a:spcPts val="0"/>
              </a:spcAft>
              <a:defRPr sz="1000" b="0">
                <a:solidFill>
                  <a:srgbClr val="BBDEFB"/>
                </a:solidFill>
                <a:latin typeface="Calibri"/>
              </a:defRPr>
            </a:pPr>
            <a:r>
              <a:t>La Đại Lộc | MSSV: 4551050116 | GVHD: TS. Nguyễn Thanh Bình | Trường Đại học Quy Nhơn</a:t>
            </a:r>
          </a:p>
        </p:txBody>
      </p:sp>
      <p:sp>
        <p:nvSpPr>
          <p:cNvPr id="8" name="TextBox 7"/>
          <p:cNvSpPr txBox="1"/>
          <p:nvPr/>
        </p:nvSpPr>
        <p:spPr>
          <a:xfrm>
            <a:off x="731520" y="1463040"/>
            <a:ext cx="5029200" cy="365760"/>
          </a:xfrm>
          <a:prstGeom prst="rect">
            <a:avLst/>
          </a:prstGeom>
          <a:noFill/>
        </p:spPr>
        <p:txBody>
          <a:bodyPr wrap="square">
            <a:spAutoFit/>
          </a:bodyPr>
          <a:lstStyle/>
          <a:p>
            <a:pPr algn="l">
              <a:lnSpc>
                <a:spcPts val="1920"/>
              </a:lnSpc>
              <a:spcAft>
                <a:spcPts val="0"/>
              </a:spcAft>
              <a:defRPr sz="1600" b="1">
                <a:solidFill>
                  <a:srgbClr val="144D8D"/>
                </a:solidFill>
                <a:latin typeface="Calibri"/>
              </a:defRPr>
            </a:pPr>
            <a:r>
              <a:t>⚙️ Triển khai phân hệ Edge</a:t>
            </a:r>
          </a:p>
        </p:txBody>
      </p:sp>
      <p:sp>
        <p:nvSpPr>
          <p:cNvPr id="9" name="TextBox 8"/>
          <p:cNvSpPr txBox="1"/>
          <p:nvPr/>
        </p:nvSpPr>
        <p:spPr>
          <a:xfrm>
            <a:off x="731520" y="2011680"/>
            <a:ext cx="5029200" cy="3200400"/>
          </a:xfrm>
          <a:prstGeom prst="rect">
            <a:avLst/>
          </a:prstGeom>
          <a:noFill/>
        </p:spPr>
        <p:txBody>
          <a:bodyPr wrap="square">
            <a:spAutoFit/>
          </a:bodyPr>
          <a:lstStyle/>
          <a:p>
            <a:pPr algn="l">
              <a:lnSpc>
                <a:spcPts val="1690"/>
              </a:lnSpc>
              <a:spcAft>
                <a:spcPts val="600"/>
              </a:spcAft>
              <a:defRPr sz="1300">
                <a:solidFill>
                  <a:srgbClr val="424242"/>
                </a:solidFill>
                <a:latin typeface="Calibri"/>
              </a:defRPr>
            </a:pPr>
            <a:r>
              <a:t>▸ Ngôn ngữ: Python, môi trường venv</a:t>
            </a:r>
          </a:p>
          <a:p>
            <a:pPr algn="l">
              <a:lnSpc>
                <a:spcPts val="1690"/>
              </a:lnSpc>
              <a:spcAft>
                <a:spcPts val="600"/>
              </a:spcAft>
              <a:defRPr sz="1300">
                <a:solidFill>
                  <a:srgbClr val="424242"/>
                </a:solidFill>
                <a:latin typeface="Calibri"/>
              </a:defRPr>
            </a:pPr>
            <a:r>
              <a:t>▸ YOLO: Ultralytics YOLO11m (best.pt)</a:t>
            </a:r>
          </a:p>
          <a:p>
            <a:pPr algn="l">
              <a:lnSpc>
                <a:spcPts val="1690"/>
              </a:lnSpc>
              <a:spcAft>
                <a:spcPts val="600"/>
              </a:spcAft>
              <a:defRPr sz="1300">
                <a:solidFill>
                  <a:srgbClr val="424242"/>
                </a:solidFill>
                <a:latin typeface="Calibri"/>
              </a:defRPr>
            </a:pPr>
            <a:r>
              <a:t>▸ MediaPipe Pose: 13 landmarks</a:t>
            </a:r>
          </a:p>
          <a:p>
            <a:pPr algn="l">
              <a:lnSpc>
                <a:spcPts val="1690"/>
              </a:lnSpc>
              <a:spcAft>
                <a:spcPts val="600"/>
              </a:spcAft>
              <a:defRPr sz="1300">
                <a:solidFill>
                  <a:srgbClr val="424242"/>
                </a:solidFill>
                <a:latin typeface="Calibri"/>
              </a:defRPr>
            </a:pPr>
            <a:r>
              <a:t>▸ OpenCV: Xử lý video I/O</a:t>
            </a:r>
          </a:p>
          <a:p>
            <a:pPr algn="l">
              <a:lnSpc>
                <a:spcPts val="1690"/>
              </a:lnSpc>
              <a:spcAft>
                <a:spcPts val="600"/>
              </a:spcAft>
              <a:defRPr sz="1300">
                <a:solidFill>
                  <a:srgbClr val="424242"/>
                </a:solidFill>
                <a:latin typeface="Calibri"/>
              </a:defRPr>
            </a:pPr>
            <a:r>
              <a:t>▸ CUDA: Tăng tốc GPU (nếu có)</a:t>
            </a:r>
          </a:p>
          <a:p>
            <a:pPr algn="l">
              <a:lnSpc>
                <a:spcPts val="1690"/>
              </a:lnSpc>
              <a:spcAft>
                <a:spcPts val="600"/>
              </a:spcAft>
              <a:defRPr sz="1300">
                <a:solidFill>
                  <a:srgbClr val="424242"/>
                </a:solidFill>
                <a:latin typeface="Calibri"/>
              </a:defRPr>
            </a:pPr>
            <a:r>
              <a:t>▸ CLI: python -m app.edge.main_edge --source</a:t>
            </a:r>
          </a:p>
          <a:p>
            <a:pPr algn="l">
              <a:lnSpc>
                <a:spcPts val="1690"/>
              </a:lnSpc>
              <a:spcAft>
                <a:spcPts val="600"/>
              </a:spcAft>
              <a:defRPr sz="1300">
                <a:solidFill>
                  <a:srgbClr val="424242"/>
                </a:solidFill>
                <a:latin typeface="Calibri"/>
              </a:defRPr>
            </a:pPr>
            <a:r>
              <a:t>▸ Chạy headless mode (show_window=false)</a:t>
            </a:r>
          </a:p>
        </p:txBody>
      </p:sp>
      <p:sp>
        <p:nvSpPr>
          <p:cNvPr id="10" name="TextBox 9"/>
          <p:cNvSpPr txBox="1"/>
          <p:nvPr/>
        </p:nvSpPr>
        <p:spPr>
          <a:xfrm>
            <a:off x="6400800" y="1463040"/>
            <a:ext cx="5029200" cy="365760"/>
          </a:xfrm>
          <a:prstGeom prst="rect">
            <a:avLst/>
          </a:prstGeom>
          <a:noFill/>
        </p:spPr>
        <p:txBody>
          <a:bodyPr wrap="square">
            <a:spAutoFit/>
          </a:bodyPr>
          <a:lstStyle/>
          <a:p>
            <a:pPr algn="l">
              <a:lnSpc>
                <a:spcPts val="1920"/>
              </a:lnSpc>
              <a:spcAft>
                <a:spcPts val="0"/>
              </a:spcAft>
              <a:defRPr sz="1600" b="1">
                <a:solidFill>
                  <a:srgbClr val="2E7D32"/>
                </a:solidFill>
                <a:latin typeface="Calibri"/>
              </a:defRPr>
            </a:pPr>
            <a:r>
              <a:t>☁️ Triển khai phân hệ Cloud</a:t>
            </a:r>
          </a:p>
        </p:txBody>
      </p:sp>
      <p:sp>
        <p:nvSpPr>
          <p:cNvPr id="11" name="TextBox 10"/>
          <p:cNvSpPr txBox="1"/>
          <p:nvPr/>
        </p:nvSpPr>
        <p:spPr>
          <a:xfrm>
            <a:off x="6400800" y="2011680"/>
            <a:ext cx="5029200" cy="3200400"/>
          </a:xfrm>
          <a:prstGeom prst="rect">
            <a:avLst/>
          </a:prstGeom>
          <a:noFill/>
        </p:spPr>
        <p:txBody>
          <a:bodyPr wrap="square">
            <a:spAutoFit/>
          </a:bodyPr>
          <a:lstStyle/>
          <a:p>
            <a:pPr algn="l">
              <a:lnSpc>
                <a:spcPts val="1690"/>
              </a:lnSpc>
              <a:spcAft>
                <a:spcPts val="600"/>
              </a:spcAft>
              <a:defRPr sz="1300">
                <a:solidFill>
                  <a:srgbClr val="424242"/>
                </a:solidFill>
                <a:latin typeface="Calibri"/>
              </a:defRPr>
            </a:pPr>
            <a:r>
              <a:t>▸ FastAPI: Backend REST API</a:t>
            </a:r>
          </a:p>
          <a:p>
            <a:pPr algn="l">
              <a:lnSpc>
                <a:spcPts val="1690"/>
              </a:lnSpc>
              <a:spcAft>
                <a:spcPts val="600"/>
              </a:spcAft>
              <a:defRPr sz="1300">
                <a:solidFill>
                  <a:srgbClr val="424242"/>
                </a:solidFill>
                <a:latin typeface="Calibri"/>
              </a:defRPr>
            </a:pPr>
            <a:r>
              <a:t>▸ SQLite + SQLAlchemy: ORM</a:t>
            </a:r>
          </a:p>
          <a:p>
            <a:pPr algn="l">
              <a:lnSpc>
                <a:spcPts val="1690"/>
              </a:lnSpc>
              <a:spcAft>
                <a:spcPts val="600"/>
              </a:spcAft>
              <a:defRPr sz="1300">
                <a:solidFill>
                  <a:srgbClr val="424242"/>
                </a:solidFill>
                <a:latin typeface="Calibri"/>
              </a:defRPr>
            </a:pPr>
            <a:r>
              <a:t>▸ Pydantic: Schema validation</a:t>
            </a:r>
          </a:p>
          <a:p>
            <a:pPr algn="l">
              <a:lnSpc>
                <a:spcPts val="1690"/>
              </a:lnSpc>
              <a:spcAft>
                <a:spcPts val="600"/>
              </a:spcAft>
              <a:defRPr sz="1300">
                <a:solidFill>
                  <a:srgbClr val="424242"/>
                </a:solidFill>
                <a:latin typeface="Calibri"/>
              </a:defRPr>
            </a:pPr>
            <a:r>
              <a:t>▸ File System: Lưu bằng chứng</a:t>
            </a:r>
          </a:p>
          <a:p>
            <a:pPr algn="l">
              <a:lnSpc>
                <a:spcPts val="1690"/>
              </a:lnSpc>
              <a:spcAft>
                <a:spcPts val="600"/>
              </a:spcAft>
              <a:defRPr sz="1300">
                <a:solidFill>
                  <a:srgbClr val="424242"/>
                </a:solidFill>
                <a:latin typeface="Calibri"/>
              </a:defRPr>
            </a:pPr>
            <a:r>
              <a:t>▸ React 19 + Vite 7: Dashboard</a:t>
            </a:r>
          </a:p>
          <a:p>
            <a:pPr algn="l">
              <a:lnSpc>
                <a:spcPts val="1690"/>
              </a:lnSpc>
              <a:spcAft>
                <a:spcPts val="600"/>
              </a:spcAft>
              <a:defRPr sz="1300">
                <a:solidFill>
                  <a:srgbClr val="424242"/>
                </a:solidFill>
                <a:latin typeface="Calibri"/>
              </a:defRPr>
            </a:pPr>
            <a:r>
              <a:t>▸ config.yaml: Cấu hình runtime</a:t>
            </a:r>
          </a:p>
          <a:p>
            <a:pPr algn="l">
              <a:lnSpc>
                <a:spcPts val="1690"/>
              </a:lnSpc>
              <a:spcAft>
                <a:spcPts val="600"/>
              </a:spcAft>
              <a:defRPr sz="1300">
                <a:solidFill>
                  <a:srgbClr val="424242"/>
                </a:solidFill>
                <a:latin typeface="Calibri"/>
              </a:defRPr>
            </a:pPr>
            <a:r>
              <a:t>▸ Chạy trên Windows (phát triển)</a:t>
            </a:r>
          </a:p>
        </p:txBody>
      </p:sp>
      <p:sp>
        <p:nvSpPr>
          <p:cNvPr id="12" name="TextBox 11"/>
          <p:cNvSpPr txBox="1"/>
          <p:nvPr/>
        </p:nvSpPr>
        <p:spPr>
          <a:xfrm>
            <a:off x="731520" y="4572000"/>
            <a:ext cx="10972800" cy="365760"/>
          </a:xfrm>
          <a:prstGeom prst="rect">
            <a:avLst/>
          </a:prstGeom>
          <a:noFill/>
        </p:spPr>
        <p:txBody>
          <a:bodyPr wrap="square">
            <a:spAutoFit/>
          </a:bodyPr>
          <a:lstStyle/>
          <a:p>
            <a:pPr algn="l">
              <a:lnSpc>
                <a:spcPts val="1920"/>
              </a:lnSpc>
              <a:spcAft>
                <a:spcPts val="0"/>
              </a:spcAft>
              <a:defRPr sz="1600" b="1">
                <a:solidFill>
                  <a:srgbClr val="0A2E5C"/>
                </a:solidFill>
                <a:latin typeface="Calibri"/>
              </a:defRPr>
            </a:pPr>
            <a:r>
              <a:t>Dữ liệu huấn luyện:</a:t>
            </a:r>
          </a:p>
        </p:txBody>
      </p:sp>
      <p:sp>
        <p:nvSpPr>
          <p:cNvPr id="13" name="Rounded Rectangle 12"/>
          <p:cNvSpPr/>
          <p:nvPr/>
        </p:nvSpPr>
        <p:spPr>
          <a:xfrm>
            <a:off x="731520" y="5029200"/>
            <a:ext cx="3474720" cy="731520"/>
          </a:xfrm>
          <a:prstGeom prst="roundRect">
            <a:avLst/>
          </a:prstGeom>
          <a:solidFill>
            <a:srgbClr val="F5F5F5"/>
          </a:solidFill>
          <a:ln>
            <a:solidFill>
              <a:srgbClr val="144D8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2960" y="5074920"/>
            <a:ext cx="3291840" cy="320040"/>
          </a:xfrm>
          <a:prstGeom prst="rect">
            <a:avLst/>
          </a:prstGeom>
          <a:noFill/>
        </p:spPr>
        <p:txBody>
          <a:bodyPr wrap="square">
            <a:spAutoFit/>
          </a:bodyPr>
          <a:lstStyle/>
          <a:p>
            <a:pPr algn="ctr">
              <a:lnSpc>
                <a:spcPts val="1680"/>
              </a:lnSpc>
              <a:spcAft>
                <a:spcPts val="0"/>
              </a:spcAft>
              <a:defRPr sz="1400" b="1">
                <a:solidFill>
                  <a:srgbClr val="144D8D"/>
                </a:solidFill>
                <a:latin typeface="Calibri"/>
              </a:defRPr>
            </a:pPr>
            <a:r>
              <a:t>Kaggle State Farm</a:t>
            </a:r>
          </a:p>
        </p:txBody>
      </p:sp>
      <p:sp>
        <p:nvSpPr>
          <p:cNvPr id="15" name="TextBox 14"/>
          <p:cNvSpPr txBox="1"/>
          <p:nvPr/>
        </p:nvSpPr>
        <p:spPr>
          <a:xfrm>
            <a:off x="822960" y="5394960"/>
            <a:ext cx="3291840" cy="274320"/>
          </a:xfrm>
          <a:prstGeom prst="rect">
            <a:avLst/>
          </a:prstGeom>
          <a:noFill/>
        </p:spPr>
        <p:txBody>
          <a:bodyPr wrap="square">
            <a:spAutoFit/>
          </a:bodyPr>
          <a:lstStyle/>
          <a:p>
            <a:pPr algn="ctr">
              <a:lnSpc>
                <a:spcPts val="1439"/>
              </a:lnSpc>
              <a:spcAft>
                <a:spcPts val="0"/>
              </a:spcAft>
              <a:defRPr sz="1200" b="0">
                <a:solidFill>
                  <a:srgbClr val="424242"/>
                </a:solidFill>
                <a:latin typeface="Calibri"/>
              </a:defRPr>
            </a:pPr>
            <a:r>
              <a:t>~102K frames</a:t>
            </a:r>
          </a:p>
        </p:txBody>
      </p:sp>
      <p:sp>
        <p:nvSpPr>
          <p:cNvPr id="16" name="Rounded Rectangle 15"/>
          <p:cNvSpPr/>
          <p:nvPr/>
        </p:nvSpPr>
        <p:spPr>
          <a:xfrm>
            <a:off x="4480559" y="5029200"/>
            <a:ext cx="3474720" cy="731520"/>
          </a:xfrm>
          <a:prstGeom prst="roundRect">
            <a:avLst/>
          </a:prstGeom>
          <a:solidFill>
            <a:srgbClr val="F5F5F5"/>
          </a:solidFill>
          <a:ln>
            <a:solidFill>
              <a:srgbClr val="0069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1999" y="5074920"/>
            <a:ext cx="3291840" cy="320040"/>
          </a:xfrm>
          <a:prstGeom prst="rect">
            <a:avLst/>
          </a:prstGeom>
          <a:noFill/>
        </p:spPr>
        <p:txBody>
          <a:bodyPr wrap="square">
            <a:spAutoFit/>
          </a:bodyPr>
          <a:lstStyle/>
          <a:p>
            <a:pPr algn="ctr">
              <a:lnSpc>
                <a:spcPts val="1680"/>
              </a:lnSpc>
              <a:spcAft>
                <a:spcPts val="0"/>
              </a:spcAft>
              <a:defRPr sz="1400" b="1">
                <a:solidFill>
                  <a:srgbClr val="00695C"/>
                </a:solidFill>
                <a:latin typeface="Calibri"/>
              </a:defRPr>
            </a:pPr>
            <a:r>
              <a:t>Roboflow Universe</a:t>
            </a:r>
          </a:p>
        </p:txBody>
      </p:sp>
      <p:sp>
        <p:nvSpPr>
          <p:cNvPr id="18" name="TextBox 17"/>
          <p:cNvSpPr txBox="1"/>
          <p:nvPr/>
        </p:nvSpPr>
        <p:spPr>
          <a:xfrm>
            <a:off x="4571999" y="5394960"/>
            <a:ext cx="3291840" cy="274320"/>
          </a:xfrm>
          <a:prstGeom prst="rect">
            <a:avLst/>
          </a:prstGeom>
          <a:noFill/>
        </p:spPr>
        <p:txBody>
          <a:bodyPr wrap="square">
            <a:spAutoFit/>
          </a:bodyPr>
          <a:lstStyle/>
          <a:p>
            <a:pPr algn="ctr">
              <a:lnSpc>
                <a:spcPts val="1439"/>
              </a:lnSpc>
              <a:spcAft>
                <a:spcPts val="0"/>
              </a:spcAft>
              <a:defRPr sz="1200" b="0">
                <a:solidFill>
                  <a:srgbClr val="424242"/>
                </a:solidFill>
                <a:latin typeface="Calibri"/>
              </a:defRPr>
            </a:pPr>
            <a:r>
              <a:t>Multi-source</a:t>
            </a:r>
          </a:p>
        </p:txBody>
      </p:sp>
      <p:sp>
        <p:nvSpPr>
          <p:cNvPr id="19" name="Rounded Rectangle 18"/>
          <p:cNvSpPr/>
          <p:nvPr/>
        </p:nvSpPr>
        <p:spPr>
          <a:xfrm>
            <a:off x="8229599" y="5029200"/>
            <a:ext cx="3474720" cy="731520"/>
          </a:xfrm>
          <a:prstGeom prst="roundRect">
            <a:avLst/>
          </a:prstGeom>
          <a:solidFill>
            <a:srgbClr val="F5F5F5"/>
          </a:solidFill>
          <a:ln>
            <a:solidFill>
              <a:srgbClr val="FF6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21039" y="5074920"/>
            <a:ext cx="3291840" cy="320040"/>
          </a:xfrm>
          <a:prstGeom prst="rect">
            <a:avLst/>
          </a:prstGeom>
          <a:noFill/>
        </p:spPr>
        <p:txBody>
          <a:bodyPr wrap="square">
            <a:spAutoFit/>
          </a:bodyPr>
          <a:lstStyle/>
          <a:p>
            <a:pPr algn="ctr">
              <a:lnSpc>
                <a:spcPts val="1680"/>
              </a:lnSpc>
              <a:spcAft>
                <a:spcPts val="0"/>
              </a:spcAft>
              <a:defRPr sz="1400" b="1">
                <a:solidFill>
                  <a:srgbClr val="FF6F00"/>
                </a:solidFill>
                <a:latin typeface="Calibri"/>
              </a:defRPr>
            </a:pPr>
            <a:r>
              <a:t>Custom Local Data</a:t>
            </a:r>
          </a:p>
        </p:txBody>
      </p:sp>
      <p:sp>
        <p:nvSpPr>
          <p:cNvPr id="21" name="TextBox 20"/>
          <p:cNvSpPr txBox="1"/>
          <p:nvPr/>
        </p:nvSpPr>
        <p:spPr>
          <a:xfrm>
            <a:off x="8321039" y="5394960"/>
            <a:ext cx="3291840" cy="274320"/>
          </a:xfrm>
          <a:prstGeom prst="rect">
            <a:avLst/>
          </a:prstGeom>
          <a:noFill/>
        </p:spPr>
        <p:txBody>
          <a:bodyPr wrap="square">
            <a:spAutoFit/>
          </a:bodyPr>
          <a:lstStyle/>
          <a:p>
            <a:pPr algn="ctr">
              <a:lnSpc>
                <a:spcPts val="1439"/>
              </a:lnSpc>
              <a:spcAft>
                <a:spcPts val="0"/>
              </a:spcAft>
              <a:defRPr sz="1200" b="0">
                <a:solidFill>
                  <a:srgbClr val="424242"/>
                </a:solidFill>
                <a:latin typeface="Calibri"/>
              </a:defRPr>
            </a:pPr>
            <a:r>
              <a:t>Bổ sung đặc thù</a:t>
            </a:r>
          </a:p>
        </p:txBody>
      </p:sp>
      <p:sp>
        <p:nvSpPr>
          <p:cNvPr id="22" name="TextBox 21"/>
          <p:cNvSpPr txBox="1"/>
          <p:nvPr/>
        </p:nvSpPr>
        <p:spPr>
          <a:xfrm>
            <a:off x="731520" y="5943600"/>
            <a:ext cx="10972800" cy="365760"/>
          </a:xfrm>
          <a:prstGeom prst="rect">
            <a:avLst/>
          </a:prstGeom>
          <a:noFill/>
        </p:spPr>
        <p:txBody>
          <a:bodyPr wrap="square">
            <a:spAutoFit/>
          </a:bodyPr>
          <a:lstStyle/>
          <a:p>
            <a:pPr algn="ctr">
              <a:lnSpc>
                <a:spcPts val="1680"/>
              </a:lnSpc>
              <a:spcAft>
                <a:spcPts val="0"/>
              </a:spcAft>
              <a:defRPr sz="1400" b="1">
                <a:solidFill>
                  <a:srgbClr val="0A2E5C"/>
                </a:solidFill>
                <a:latin typeface="Calibri"/>
              </a:defRPr>
            </a:pPr>
            <a:r>
              <a:t>4 lớp đối tượng: phone  |  smoking  |  seatbelt  |  no-seatbelt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0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37160"/>
            <a:ext cx="10058400" cy="640080"/>
          </a:xfrm>
          <a:prstGeom prst="rect">
            <a:avLst/>
          </a:prstGeom>
          <a:noFill/>
        </p:spPr>
        <p:txBody>
          <a:bodyPr wrap="square">
            <a:spAutoFit/>
          </a:bodyPr>
          <a:lstStyle/>
          <a:p>
            <a:pPr algn="l">
              <a:lnSpc>
                <a:spcPts val="3840"/>
              </a:lnSpc>
              <a:spcAft>
                <a:spcPts val="0"/>
              </a:spcAft>
              <a:defRPr sz="3200" b="1">
                <a:solidFill>
                  <a:srgbClr val="FFFFFF"/>
                </a:solidFill>
                <a:latin typeface="Calibri"/>
              </a:defRPr>
            </a:pPr>
            <a:r>
              <a:t>KẾT QUẢ ĐÁNH GIÁ HIỆU NĂNG FPS</a:t>
            </a:r>
          </a:p>
        </p:txBody>
      </p:sp>
      <p:sp>
        <p:nvSpPr>
          <p:cNvPr id="4" name="TextBox 3"/>
          <p:cNvSpPr txBox="1"/>
          <p:nvPr/>
        </p:nvSpPr>
        <p:spPr>
          <a:xfrm>
            <a:off x="731520" y="685800"/>
            <a:ext cx="10058400" cy="365760"/>
          </a:xfrm>
          <a:prstGeom prst="rect">
            <a:avLst/>
          </a:prstGeom>
          <a:noFill/>
        </p:spPr>
        <p:txBody>
          <a:bodyPr wrap="square">
            <a:spAutoFit/>
          </a:bodyPr>
          <a:lstStyle/>
          <a:p>
            <a:pPr algn="l">
              <a:lnSpc>
                <a:spcPts val="1920"/>
              </a:lnSpc>
              <a:spcAft>
                <a:spcPts val="0"/>
              </a:spcAft>
              <a:defRPr sz="1600" b="0">
                <a:solidFill>
                  <a:srgbClr val="42A5F5"/>
                </a:solidFill>
                <a:latin typeface="Calibri"/>
              </a:defRPr>
            </a:pPr>
            <a:r>
              <a:t>Chương 4.5.1: Bảng 4.1</a:t>
            </a:r>
          </a:p>
        </p:txBody>
      </p:sp>
      <p:sp>
        <p:nvSpPr>
          <p:cNvPr id="5" name="Rectangle 4"/>
          <p:cNvSpPr/>
          <p:nvPr/>
        </p:nvSpPr>
        <p:spPr>
          <a:xfrm>
            <a:off x="0" y="1097280"/>
            <a:ext cx="12191695" cy="4572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492240"/>
            <a:ext cx="12191695" cy="365760"/>
          </a:xfrm>
          <a:prstGeom prst="rect">
            <a:avLst/>
          </a:prstGeom>
          <a:solidFill>
            <a:srgbClr val="0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10528"/>
            <a:ext cx="10972800" cy="320040"/>
          </a:xfrm>
          <a:prstGeom prst="rect">
            <a:avLst/>
          </a:prstGeom>
          <a:noFill/>
        </p:spPr>
        <p:txBody>
          <a:bodyPr wrap="square">
            <a:spAutoFit/>
          </a:bodyPr>
          <a:lstStyle/>
          <a:p>
            <a:pPr algn="ctr">
              <a:lnSpc>
                <a:spcPts val="1200"/>
              </a:lnSpc>
              <a:spcAft>
                <a:spcPts val="0"/>
              </a:spcAft>
              <a:defRPr sz="1000" b="0">
                <a:solidFill>
                  <a:srgbClr val="BBDEFB"/>
                </a:solidFill>
                <a:latin typeface="Calibri"/>
              </a:defRPr>
            </a:pPr>
            <a:r>
              <a:t>La Đại Lộc | MSSV: 4551050116 | GVHD: TS. Nguyễn Thanh Bình | Trường Đại học Quy Nhơn</a:t>
            </a:r>
          </a:p>
        </p:txBody>
      </p:sp>
      <p:graphicFrame>
        <p:nvGraphicFramePr>
          <p:cNvPr id="8" name="Table 7"/>
          <p:cNvGraphicFramePr>
            <a:graphicFrameLocks noGrp="1"/>
          </p:cNvGraphicFramePr>
          <p:nvPr/>
        </p:nvGraphicFramePr>
        <p:xfrm>
          <a:off x="457200" y="1463040"/>
          <a:ext cx="10058400" cy="2743200"/>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548640">
                <a:tc>
                  <a:txBody>
                    <a:bodyPr/>
                    <a:lstStyle/>
                    <a:p>
                      <a:pPr algn="ctr">
                        <a:defRPr sz="1200" b="1">
                          <a:solidFill>
                            <a:srgbClr val="FFFFFF"/>
                          </a:solidFill>
                          <a:latin typeface="Calibri"/>
                        </a:defRPr>
                      </a:pPr>
                      <a:r>
                        <a:t>Kịch bản</a:t>
                      </a:r>
                    </a:p>
                  </a:txBody>
                  <a:tcPr>
                    <a:solidFill>
                      <a:srgbClr val="0A2E5C"/>
                    </a:solidFill>
                  </a:tcPr>
                </a:tc>
                <a:tc>
                  <a:txBody>
                    <a:bodyPr/>
                    <a:lstStyle/>
                    <a:p>
                      <a:pPr algn="ctr">
                        <a:defRPr sz="1200" b="1">
                          <a:solidFill>
                            <a:srgbClr val="FFFFFF"/>
                          </a:solidFill>
                          <a:latin typeface="Calibri"/>
                        </a:defRPr>
                      </a:pPr>
                      <a:r>
                        <a:t>YOLO</a:t>
                      </a:r>
                    </a:p>
                  </a:txBody>
                  <a:tcPr>
                    <a:solidFill>
                      <a:srgbClr val="0A2E5C"/>
                    </a:solidFill>
                  </a:tcPr>
                </a:tc>
                <a:tc>
                  <a:txBody>
                    <a:bodyPr/>
                    <a:lstStyle/>
                    <a:p>
                      <a:pPr algn="ctr">
                        <a:defRPr sz="1200" b="1">
                          <a:solidFill>
                            <a:srgbClr val="FFFFFF"/>
                          </a:solidFill>
                          <a:latin typeface="Calibri"/>
                        </a:defRPr>
                      </a:pPr>
                      <a:r>
                        <a:t>Pose</a:t>
                      </a:r>
                    </a:p>
                  </a:txBody>
                  <a:tcPr>
                    <a:solidFill>
                      <a:srgbClr val="0A2E5C"/>
                    </a:solidFill>
                  </a:tcPr>
                </a:tc>
                <a:tc>
                  <a:txBody>
                    <a:bodyPr/>
                    <a:lstStyle/>
                    <a:p>
                      <a:pPr algn="ctr">
                        <a:defRPr sz="1200" b="1">
                          <a:solidFill>
                            <a:srgbClr val="FFFFFF"/>
                          </a:solidFill>
                          <a:latin typeface="Calibri"/>
                        </a:defRPr>
                      </a:pPr>
                      <a:r>
                        <a:t>Frame</a:t>
                      </a:r>
                    </a:p>
                    <a:p>
                      <a:pPr algn="ctr">
                        <a:defRPr sz="1200" b="1">
                          <a:solidFill>
                            <a:srgbClr val="FFFFFF"/>
                          </a:solidFill>
                          <a:latin typeface="Calibri"/>
                        </a:defRPr>
                      </a:pPr>
                      <a:r>
                        <a:t>Skipping</a:t>
                      </a:r>
                    </a:p>
                  </a:txBody>
                  <a:tcPr>
                    <a:solidFill>
                      <a:srgbClr val="0A2E5C"/>
                    </a:solidFill>
                  </a:tcPr>
                </a:tc>
                <a:tc>
                  <a:txBody>
                    <a:bodyPr/>
                    <a:lstStyle/>
                    <a:p>
                      <a:pPr algn="ctr">
                        <a:defRPr sz="1200" b="1">
                          <a:solidFill>
                            <a:srgbClr val="FFFFFF"/>
                          </a:solidFill>
                          <a:latin typeface="Calibri"/>
                        </a:defRPr>
                      </a:pPr>
                      <a:r>
                        <a:t>Kích thước</a:t>
                      </a:r>
                    </a:p>
                  </a:txBody>
                  <a:tcPr>
                    <a:solidFill>
                      <a:srgbClr val="0A2E5C"/>
                    </a:solidFill>
                  </a:tcPr>
                </a:tc>
                <a:tc>
                  <a:txBody>
                    <a:bodyPr/>
                    <a:lstStyle/>
                    <a:p>
                      <a:pPr algn="ctr">
                        <a:defRPr sz="1200" b="1">
                          <a:solidFill>
                            <a:srgbClr val="FFFFFF"/>
                          </a:solidFill>
                          <a:latin typeface="Calibri"/>
                        </a:defRPr>
                      </a:pPr>
                      <a:r>
                        <a:t>FPS</a:t>
                      </a:r>
                    </a:p>
                  </a:txBody>
                  <a:tcPr>
                    <a:solidFill>
                      <a:srgbClr val="0A2E5C"/>
                    </a:solidFill>
                  </a:tcPr>
                </a:tc>
                <a:extLst>
                  <a:ext uri="{0D108BD9-81ED-4DB2-BD59-A6C34878D82A}">
                    <a16:rowId xmlns:a16="http://schemas.microsoft.com/office/drawing/2014/main" val="10000"/>
                  </a:ext>
                </a:extLst>
              </a:tr>
              <a:tr h="548640">
                <a:tc>
                  <a:txBody>
                    <a:bodyPr/>
                    <a:lstStyle/>
                    <a:p>
                      <a:pPr algn="ctr">
                        <a:defRPr sz="1200">
                          <a:solidFill>
                            <a:srgbClr val="424242"/>
                          </a:solidFill>
                          <a:latin typeface="Calibri"/>
                        </a:defRPr>
                      </a:pPr>
                      <a:r>
                        <a:t>Cấu hình 1 (Cơ sở)</a:t>
                      </a:r>
                    </a:p>
                  </a:txBody>
                  <a:tcPr>
                    <a:solidFill>
                      <a:srgbClr val="FFFFFF"/>
                    </a:solidFill>
                  </a:tcPr>
                </a:tc>
                <a:tc>
                  <a:txBody>
                    <a:bodyPr/>
                    <a:lstStyle/>
                    <a:p>
                      <a:pPr algn="ctr">
                        <a:defRPr sz="1200">
                          <a:solidFill>
                            <a:srgbClr val="424242"/>
                          </a:solidFill>
                          <a:latin typeface="Calibri"/>
                        </a:defRPr>
                      </a:pPr>
                      <a:r>
                        <a:t>Bật</a:t>
                      </a:r>
                    </a:p>
                  </a:txBody>
                  <a:tcPr>
                    <a:solidFill>
                      <a:srgbClr val="FFFFFF"/>
                    </a:solidFill>
                  </a:tcPr>
                </a:tc>
                <a:tc>
                  <a:txBody>
                    <a:bodyPr/>
                    <a:lstStyle/>
                    <a:p>
                      <a:pPr algn="ctr">
                        <a:defRPr sz="1200">
                          <a:solidFill>
                            <a:srgbClr val="424242"/>
                          </a:solidFill>
                          <a:latin typeface="Calibri"/>
                        </a:defRPr>
                      </a:pPr>
                      <a:r>
                        <a:t>Tắt</a:t>
                      </a:r>
                    </a:p>
                  </a:txBody>
                  <a:tcPr>
                    <a:solidFill>
                      <a:srgbClr val="FFFFFF"/>
                    </a:solidFill>
                  </a:tcPr>
                </a:tc>
                <a:tc>
                  <a:txBody>
                    <a:bodyPr/>
                    <a:lstStyle/>
                    <a:p>
                      <a:pPr algn="ctr">
                        <a:defRPr sz="1200">
                          <a:solidFill>
                            <a:srgbClr val="424242"/>
                          </a:solidFill>
                          <a:latin typeface="Calibri"/>
                        </a:defRPr>
                      </a:pPr>
                      <a:r>
                        <a:t>Không</a:t>
                      </a:r>
                    </a:p>
                  </a:txBody>
                  <a:tcPr>
                    <a:solidFill>
                      <a:srgbClr val="FFFFFF"/>
                    </a:solidFill>
                  </a:tcPr>
                </a:tc>
                <a:tc>
                  <a:txBody>
                    <a:bodyPr/>
                    <a:lstStyle/>
                    <a:p>
                      <a:pPr algn="ctr">
                        <a:defRPr sz="1200">
                          <a:solidFill>
                            <a:srgbClr val="424242"/>
                          </a:solidFill>
                          <a:latin typeface="Calibri"/>
                        </a:defRPr>
                      </a:pPr>
                      <a:r>
                        <a:t>Gốc (848×480)</a:t>
                      </a:r>
                    </a:p>
                  </a:txBody>
                  <a:tcPr>
                    <a:solidFill>
                      <a:srgbClr val="FFFFFF"/>
                    </a:solidFill>
                  </a:tcPr>
                </a:tc>
                <a:tc>
                  <a:txBody>
                    <a:bodyPr/>
                    <a:lstStyle/>
                    <a:p>
                      <a:pPr algn="ctr">
                        <a:defRPr sz="1200">
                          <a:solidFill>
                            <a:srgbClr val="424242"/>
                          </a:solidFill>
                          <a:latin typeface="Calibri"/>
                        </a:defRPr>
                      </a:pPr>
                      <a:r>
                        <a:t>2.34</a:t>
                      </a:r>
                    </a:p>
                  </a:txBody>
                  <a:tcPr>
                    <a:solidFill>
                      <a:srgbClr val="FFFFFF"/>
                    </a:solidFill>
                  </a:tcPr>
                </a:tc>
                <a:extLst>
                  <a:ext uri="{0D108BD9-81ED-4DB2-BD59-A6C34878D82A}">
                    <a16:rowId xmlns:a16="http://schemas.microsoft.com/office/drawing/2014/main" val="10001"/>
                  </a:ext>
                </a:extLst>
              </a:tr>
              <a:tr h="548640">
                <a:tc>
                  <a:txBody>
                    <a:bodyPr/>
                    <a:lstStyle/>
                    <a:p>
                      <a:pPr algn="ctr">
                        <a:defRPr sz="1200">
                          <a:solidFill>
                            <a:srgbClr val="424242"/>
                          </a:solidFill>
                          <a:latin typeface="Calibri"/>
                        </a:defRPr>
                      </a:pPr>
                      <a:r>
                        <a:t>Cấu hình 2 (Toàn tải)</a:t>
                      </a:r>
                    </a:p>
                  </a:txBody>
                  <a:tcPr>
                    <a:solidFill>
                      <a:srgbClr val="E3F2FD"/>
                    </a:solidFill>
                  </a:tcPr>
                </a:tc>
                <a:tc>
                  <a:txBody>
                    <a:bodyPr/>
                    <a:lstStyle/>
                    <a:p>
                      <a:pPr algn="ctr">
                        <a:defRPr sz="1200">
                          <a:solidFill>
                            <a:srgbClr val="424242"/>
                          </a:solidFill>
                          <a:latin typeface="Calibri"/>
                        </a:defRPr>
                      </a:pPr>
                      <a:r>
                        <a:t>Bật</a:t>
                      </a:r>
                    </a:p>
                  </a:txBody>
                  <a:tcPr>
                    <a:solidFill>
                      <a:srgbClr val="E3F2FD"/>
                    </a:solidFill>
                  </a:tcPr>
                </a:tc>
                <a:tc>
                  <a:txBody>
                    <a:bodyPr/>
                    <a:lstStyle/>
                    <a:p>
                      <a:pPr algn="ctr">
                        <a:defRPr sz="1200">
                          <a:solidFill>
                            <a:srgbClr val="424242"/>
                          </a:solidFill>
                          <a:latin typeface="Calibri"/>
                        </a:defRPr>
                      </a:pPr>
                      <a:r>
                        <a:t>Bật</a:t>
                      </a:r>
                    </a:p>
                  </a:txBody>
                  <a:tcPr>
                    <a:solidFill>
                      <a:srgbClr val="E3F2FD"/>
                    </a:solidFill>
                  </a:tcPr>
                </a:tc>
                <a:tc>
                  <a:txBody>
                    <a:bodyPr/>
                    <a:lstStyle/>
                    <a:p>
                      <a:pPr algn="ctr">
                        <a:defRPr sz="1200">
                          <a:solidFill>
                            <a:srgbClr val="424242"/>
                          </a:solidFill>
                          <a:latin typeface="Calibri"/>
                        </a:defRPr>
                      </a:pPr>
                      <a:r>
                        <a:t>Không</a:t>
                      </a:r>
                    </a:p>
                  </a:txBody>
                  <a:tcPr>
                    <a:solidFill>
                      <a:srgbClr val="E3F2FD"/>
                    </a:solidFill>
                  </a:tcPr>
                </a:tc>
                <a:tc>
                  <a:txBody>
                    <a:bodyPr/>
                    <a:lstStyle/>
                    <a:p>
                      <a:pPr algn="ctr">
                        <a:defRPr sz="1200">
                          <a:solidFill>
                            <a:srgbClr val="424242"/>
                          </a:solidFill>
                          <a:latin typeface="Calibri"/>
                        </a:defRPr>
                      </a:pPr>
                      <a:r>
                        <a:t>Gốc (848×480)</a:t>
                      </a:r>
                    </a:p>
                  </a:txBody>
                  <a:tcPr>
                    <a:solidFill>
                      <a:srgbClr val="E3F2FD"/>
                    </a:solidFill>
                  </a:tcPr>
                </a:tc>
                <a:tc>
                  <a:txBody>
                    <a:bodyPr/>
                    <a:lstStyle/>
                    <a:p>
                      <a:pPr algn="ctr">
                        <a:defRPr sz="1200">
                          <a:solidFill>
                            <a:srgbClr val="424242"/>
                          </a:solidFill>
                          <a:latin typeface="Calibri"/>
                        </a:defRPr>
                      </a:pPr>
                      <a:r>
                        <a:t>2.20</a:t>
                      </a:r>
                    </a:p>
                  </a:txBody>
                  <a:tcPr>
                    <a:solidFill>
                      <a:srgbClr val="E3F2FD"/>
                    </a:solidFill>
                  </a:tcPr>
                </a:tc>
                <a:extLst>
                  <a:ext uri="{0D108BD9-81ED-4DB2-BD59-A6C34878D82A}">
                    <a16:rowId xmlns:a16="http://schemas.microsoft.com/office/drawing/2014/main" val="10002"/>
                  </a:ext>
                </a:extLst>
              </a:tr>
              <a:tr h="548640">
                <a:tc>
                  <a:txBody>
                    <a:bodyPr/>
                    <a:lstStyle/>
                    <a:p>
                      <a:pPr algn="ctr">
                        <a:defRPr sz="1200">
                          <a:solidFill>
                            <a:srgbClr val="424242"/>
                          </a:solidFill>
                          <a:latin typeface="Calibri"/>
                        </a:defRPr>
                      </a:pPr>
                      <a:r>
                        <a:t>Cấu hình 3 (Tối ưu chu kỳ)</a:t>
                      </a:r>
                    </a:p>
                  </a:txBody>
                  <a:tcPr>
                    <a:solidFill>
                      <a:srgbClr val="FFFFFF"/>
                    </a:solidFill>
                  </a:tcPr>
                </a:tc>
                <a:tc>
                  <a:txBody>
                    <a:bodyPr/>
                    <a:lstStyle/>
                    <a:p>
                      <a:pPr algn="ctr">
                        <a:defRPr sz="1200">
                          <a:solidFill>
                            <a:srgbClr val="424242"/>
                          </a:solidFill>
                          <a:latin typeface="Calibri"/>
                        </a:defRPr>
                      </a:pPr>
                      <a:r>
                        <a:t>Bật</a:t>
                      </a:r>
                    </a:p>
                  </a:txBody>
                  <a:tcPr>
                    <a:solidFill>
                      <a:srgbClr val="FFFFFF"/>
                    </a:solidFill>
                  </a:tcPr>
                </a:tc>
                <a:tc>
                  <a:txBody>
                    <a:bodyPr/>
                    <a:lstStyle/>
                    <a:p>
                      <a:pPr algn="ctr">
                        <a:defRPr sz="1200">
                          <a:solidFill>
                            <a:srgbClr val="424242"/>
                          </a:solidFill>
                          <a:latin typeface="Calibri"/>
                        </a:defRPr>
                      </a:pPr>
                      <a:r>
                        <a:t>Bật</a:t>
                      </a:r>
                    </a:p>
                  </a:txBody>
                  <a:tcPr>
                    <a:solidFill>
                      <a:srgbClr val="FFFFFF"/>
                    </a:solidFill>
                  </a:tcPr>
                </a:tc>
                <a:tc>
                  <a:txBody>
                    <a:bodyPr/>
                    <a:lstStyle/>
                    <a:p>
                      <a:pPr algn="ctr">
                        <a:defRPr sz="1200">
                          <a:solidFill>
                            <a:srgbClr val="424242"/>
                          </a:solidFill>
                          <a:latin typeface="Calibri"/>
                        </a:defRPr>
                      </a:pPr>
                      <a:r>
                        <a:t>Có (N=3)</a:t>
                      </a:r>
                    </a:p>
                  </a:txBody>
                  <a:tcPr>
                    <a:solidFill>
                      <a:srgbClr val="FFFFFF"/>
                    </a:solidFill>
                  </a:tcPr>
                </a:tc>
                <a:tc>
                  <a:txBody>
                    <a:bodyPr/>
                    <a:lstStyle/>
                    <a:p>
                      <a:pPr algn="ctr">
                        <a:defRPr sz="1200">
                          <a:solidFill>
                            <a:srgbClr val="424242"/>
                          </a:solidFill>
                          <a:latin typeface="Calibri"/>
                        </a:defRPr>
                      </a:pPr>
                      <a:r>
                        <a:t>Gốc (848×480)</a:t>
                      </a:r>
                    </a:p>
                  </a:txBody>
                  <a:tcPr>
                    <a:solidFill>
                      <a:srgbClr val="FFFFFF"/>
                    </a:solidFill>
                  </a:tcPr>
                </a:tc>
                <a:tc>
                  <a:txBody>
                    <a:bodyPr/>
                    <a:lstStyle/>
                    <a:p>
                      <a:pPr algn="ctr">
                        <a:defRPr sz="1200">
                          <a:solidFill>
                            <a:srgbClr val="424242"/>
                          </a:solidFill>
                          <a:latin typeface="Calibri"/>
                        </a:defRPr>
                      </a:pPr>
                      <a:r>
                        <a:t>3.04</a:t>
                      </a:r>
                    </a:p>
                  </a:txBody>
                  <a:tcPr>
                    <a:solidFill>
                      <a:srgbClr val="FFFFFF"/>
                    </a:solidFill>
                  </a:tcPr>
                </a:tc>
                <a:extLst>
                  <a:ext uri="{0D108BD9-81ED-4DB2-BD59-A6C34878D82A}">
                    <a16:rowId xmlns:a16="http://schemas.microsoft.com/office/drawing/2014/main" val="10003"/>
                  </a:ext>
                </a:extLst>
              </a:tr>
              <a:tr h="548640">
                <a:tc>
                  <a:txBody>
                    <a:bodyPr/>
                    <a:lstStyle/>
                    <a:p>
                      <a:pPr algn="ctr">
                        <a:defRPr sz="1200">
                          <a:solidFill>
                            <a:srgbClr val="424242"/>
                          </a:solidFill>
                          <a:latin typeface="Calibri"/>
                        </a:defRPr>
                      </a:pPr>
                      <a:r>
                        <a:t>Cấu hình 4 (Tối ưu toàn diện)</a:t>
                      </a:r>
                    </a:p>
                  </a:txBody>
                  <a:tcPr>
                    <a:solidFill>
                      <a:srgbClr val="E3F2FD"/>
                    </a:solidFill>
                  </a:tcPr>
                </a:tc>
                <a:tc>
                  <a:txBody>
                    <a:bodyPr/>
                    <a:lstStyle/>
                    <a:p>
                      <a:pPr algn="ctr">
                        <a:defRPr sz="1200">
                          <a:solidFill>
                            <a:srgbClr val="424242"/>
                          </a:solidFill>
                          <a:latin typeface="Calibri"/>
                        </a:defRPr>
                      </a:pPr>
                      <a:r>
                        <a:t>Bật</a:t>
                      </a:r>
                    </a:p>
                  </a:txBody>
                  <a:tcPr>
                    <a:solidFill>
                      <a:srgbClr val="E3F2FD"/>
                    </a:solidFill>
                  </a:tcPr>
                </a:tc>
                <a:tc>
                  <a:txBody>
                    <a:bodyPr/>
                    <a:lstStyle/>
                    <a:p>
                      <a:pPr algn="ctr">
                        <a:defRPr sz="1200">
                          <a:solidFill>
                            <a:srgbClr val="424242"/>
                          </a:solidFill>
                          <a:latin typeface="Calibri"/>
                        </a:defRPr>
                      </a:pPr>
                      <a:r>
                        <a:t>Bật</a:t>
                      </a:r>
                    </a:p>
                  </a:txBody>
                  <a:tcPr>
                    <a:solidFill>
                      <a:srgbClr val="E3F2FD"/>
                    </a:solidFill>
                  </a:tcPr>
                </a:tc>
                <a:tc>
                  <a:txBody>
                    <a:bodyPr/>
                    <a:lstStyle/>
                    <a:p>
                      <a:pPr algn="ctr">
                        <a:defRPr sz="1200">
                          <a:solidFill>
                            <a:srgbClr val="424242"/>
                          </a:solidFill>
                          <a:latin typeface="Calibri"/>
                        </a:defRPr>
                      </a:pPr>
                      <a:r>
                        <a:t>Có (N=3)</a:t>
                      </a:r>
                    </a:p>
                  </a:txBody>
                  <a:tcPr>
                    <a:solidFill>
                      <a:srgbClr val="E3F2FD"/>
                    </a:solidFill>
                  </a:tcPr>
                </a:tc>
                <a:tc>
                  <a:txBody>
                    <a:bodyPr/>
                    <a:lstStyle/>
                    <a:p>
                      <a:pPr algn="ctr">
                        <a:defRPr sz="1200">
                          <a:solidFill>
                            <a:srgbClr val="424242"/>
                          </a:solidFill>
                          <a:latin typeface="Calibri"/>
                        </a:defRPr>
                      </a:pPr>
                      <a:r>
                        <a:t>Resize (640)</a:t>
                      </a:r>
                    </a:p>
                  </a:txBody>
                  <a:tcPr>
                    <a:solidFill>
                      <a:srgbClr val="E3F2FD"/>
                    </a:solidFill>
                  </a:tcPr>
                </a:tc>
                <a:tc>
                  <a:txBody>
                    <a:bodyPr/>
                    <a:lstStyle/>
                    <a:p>
                      <a:pPr algn="ctr">
                        <a:defRPr sz="1200">
                          <a:solidFill>
                            <a:srgbClr val="424242"/>
                          </a:solidFill>
                          <a:latin typeface="Calibri"/>
                        </a:defRPr>
                      </a:pPr>
                      <a:r>
                        <a:t>4.75</a:t>
                      </a:r>
                    </a:p>
                  </a:txBody>
                  <a:tcPr>
                    <a:solidFill>
                      <a:srgbClr val="E3F2FD"/>
                    </a:solidFill>
                  </a:tcPr>
                </a:tc>
                <a:extLst>
                  <a:ext uri="{0D108BD9-81ED-4DB2-BD59-A6C34878D82A}">
                    <a16:rowId xmlns:a16="http://schemas.microsoft.com/office/drawing/2014/main" val="10004"/>
                  </a:ext>
                </a:extLst>
              </a:tr>
            </a:tbl>
          </a:graphicData>
        </a:graphic>
      </p:graphicFrame>
      <p:sp>
        <p:nvSpPr>
          <p:cNvPr id="9" name="TextBox 8"/>
          <p:cNvSpPr txBox="1"/>
          <p:nvPr/>
        </p:nvSpPr>
        <p:spPr>
          <a:xfrm>
            <a:off x="731520" y="4572000"/>
            <a:ext cx="4572000" cy="365760"/>
          </a:xfrm>
          <a:prstGeom prst="rect">
            <a:avLst/>
          </a:prstGeom>
          <a:noFill/>
        </p:spPr>
        <p:txBody>
          <a:bodyPr wrap="square">
            <a:spAutoFit/>
          </a:bodyPr>
          <a:lstStyle/>
          <a:p>
            <a:pPr algn="l">
              <a:lnSpc>
                <a:spcPts val="1920"/>
              </a:lnSpc>
              <a:spcAft>
                <a:spcPts val="0"/>
              </a:spcAft>
              <a:defRPr sz="1600" b="1">
                <a:solidFill>
                  <a:srgbClr val="0A2E5C"/>
                </a:solidFill>
                <a:latin typeface="Calibri"/>
              </a:defRPr>
            </a:pPr>
            <a:r>
              <a:t>Biểu đồ FPS theo cấu hình:</a:t>
            </a:r>
          </a:p>
        </p:txBody>
      </p:sp>
      <p:sp>
        <p:nvSpPr>
          <p:cNvPr id="10" name="Rectangle 9"/>
          <p:cNvSpPr/>
          <p:nvPr/>
        </p:nvSpPr>
        <p:spPr>
          <a:xfrm>
            <a:off x="914400" y="5393131"/>
            <a:ext cx="914400" cy="641908"/>
          </a:xfrm>
          <a:prstGeom prst="rect">
            <a:avLst/>
          </a:prstGeom>
          <a:solidFill>
            <a:srgbClr val="9E9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5118811"/>
            <a:ext cx="914400" cy="274320"/>
          </a:xfrm>
          <a:prstGeom prst="rect">
            <a:avLst/>
          </a:prstGeom>
          <a:noFill/>
        </p:spPr>
        <p:txBody>
          <a:bodyPr wrap="square">
            <a:spAutoFit/>
          </a:bodyPr>
          <a:lstStyle/>
          <a:p>
            <a:pPr algn="ctr">
              <a:lnSpc>
                <a:spcPts val="1439"/>
              </a:lnSpc>
              <a:spcAft>
                <a:spcPts val="0"/>
              </a:spcAft>
              <a:defRPr sz="1200" b="1">
                <a:solidFill>
                  <a:srgbClr val="9E9E9E"/>
                </a:solidFill>
                <a:latin typeface="Calibri"/>
              </a:defRPr>
            </a:pPr>
            <a:r>
              <a:t>2.34 FPS</a:t>
            </a:r>
          </a:p>
        </p:txBody>
      </p:sp>
      <p:sp>
        <p:nvSpPr>
          <p:cNvPr id="12" name="TextBox 11"/>
          <p:cNvSpPr txBox="1"/>
          <p:nvPr/>
        </p:nvSpPr>
        <p:spPr>
          <a:xfrm>
            <a:off x="731520" y="6080760"/>
            <a:ext cx="1280160" cy="457200"/>
          </a:xfrm>
          <a:prstGeom prst="rect">
            <a:avLst/>
          </a:prstGeom>
          <a:noFill/>
        </p:spPr>
        <p:txBody>
          <a:bodyPr wrap="square">
            <a:spAutoFit/>
          </a:bodyPr>
          <a:lstStyle/>
          <a:p>
            <a:pPr algn="ctr">
              <a:lnSpc>
                <a:spcPts val="1200"/>
              </a:lnSpc>
              <a:spcAft>
                <a:spcPts val="0"/>
              </a:spcAft>
              <a:defRPr sz="1000" b="0">
                <a:solidFill>
                  <a:srgbClr val="424242"/>
                </a:solidFill>
                <a:latin typeface="Calibri"/>
              </a:defRPr>
            </a:pPr>
            <a:r>
              <a:t>C1</a:t>
            </a:r>
            <a:br/>
            <a:r>
              <a:t>Cơ sở</a:t>
            </a:r>
          </a:p>
        </p:txBody>
      </p:sp>
      <p:sp>
        <p:nvSpPr>
          <p:cNvPr id="13" name="Rectangle 12"/>
          <p:cNvSpPr/>
          <p:nvPr/>
        </p:nvSpPr>
        <p:spPr>
          <a:xfrm>
            <a:off x="2286000" y="5431536"/>
            <a:ext cx="914400" cy="603504"/>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286000" y="5157216"/>
            <a:ext cx="914400" cy="274320"/>
          </a:xfrm>
          <a:prstGeom prst="rect">
            <a:avLst/>
          </a:prstGeom>
          <a:noFill/>
        </p:spPr>
        <p:txBody>
          <a:bodyPr wrap="square">
            <a:spAutoFit/>
          </a:bodyPr>
          <a:lstStyle/>
          <a:p>
            <a:pPr algn="ctr">
              <a:lnSpc>
                <a:spcPts val="1439"/>
              </a:lnSpc>
              <a:spcAft>
                <a:spcPts val="0"/>
              </a:spcAft>
              <a:defRPr sz="1200" b="1">
                <a:solidFill>
                  <a:srgbClr val="C62828"/>
                </a:solidFill>
                <a:latin typeface="Calibri"/>
              </a:defRPr>
            </a:pPr>
            <a:r>
              <a:t>2.2 FPS</a:t>
            </a:r>
          </a:p>
        </p:txBody>
      </p:sp>
      <p:sp>
        <p:nvSpPr>
          <p:cNvPr id="15" name="TextBox 14"/>
          <p:cNvSpPr txBox="1"/>
          <p:nvPr/>
        </p:nvSpPr>
        <p:spPr>
          <a:xfrm>
            <a:off x="2103120" y="6080760"/>
            <a:ext cx="1280160" cy="457200"/>
          </a:xfrm>
          <a:prstGeom prst="rect">
            <a:avLst/>
          </a:prstGeom>
          <a:noFill/>
        </p:spPr>
        <p:txBody>
          <a:bodyPr wrap="square">
            <a:spAutoFit/>
          </a:bodyPr>
          <a:lstStyle/>
          <a:p>
            <a:pPr algn="ctr">
              <a:lnSpc>
                <a:spcPts val="1200"/>
              </a:lnSpc>
              <a:spcAft>
                <a:spcPts val="0"/>
              </a:spcAft>
              <a:defRPr sz="1000" b="0">
                <a:solidFill>
                  <a:srgbClr val="424242"/>
                </a:solidFill>
                <a:latin typeface="Calibri"/>
              </a:defRPr>
            </a:pPr>
            <a:r>
              <a:t>C2</a:t>
            </a:r>
            <a:br/>
            <a:r>
              <a:t>Toàn tải</a:t>
            </a:r>
          </a:p>
        </p:txBody>
      </p:sp>
      <p:sp>
        <p:nvSpPr>
          <p:cNvPr id="16" name="Rectangle 15"/>
          <p:cNvSpPr/>
          <p:nvPr/>
        </p:nvSpPr>
        <p:spPr>
          <a:xfrm>
            <a:off x="3657600" y="5201107"/>
            <a:ext cx="914400" cy="833932"/>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657600" y="4926787"/>
            <a:ext cx="914400" cy="274320"/>
          </a:xfrm>
          <a:prstGeom prst="rect">
            <a:avLst/>
          </a:prstGeom>
          <a:noFill/>
        </p:spPr>
        <p:txBody>
          <a:bodyPr wrap="square">
            <a:spAutoFit/>
          </a:bodyPr>
          <a:lstStyle/>
          <a:p>
            <a:pPr algn="ctr">
              <a:lnSpc>
                <a:spcPts val="1439"/>
              </a:lnSpc>
              <a:spcAft>
                <a:spcPts val="0"/>
              </a:spcAft>
              <a:defRPr sz="1200" b="1">
                <a:solidFill>
                  <a:srgbClr val="FF6F00"/>
                </a:solidFill>
                <a:latin typeface="Calibri"/>
              </a:defRPr>
            </a:pPr>
            <a:r>
              <a:t>3.04 FPS</a:t>
            </a:r>
          </a:p>
        </p:txBody>
      </p:sp>
      <p:sp>
        <p:nvSpPr>
          <p:cNvPr id="18" name="TextBox 17"/>
          <p:cNvSpPr txBox="1"/>
          <p:nvPr/>
        </p:nvSpPr>
        <p:spPr>
          <a:xfrm>
            <a:off x="3474720" y="6080760"/>
            <a:ext cx="1280160" cy="457200"/>
          </a:xfrm>
          <a:prstGeom prst="rect">
            <a:avLst/>
          </a:prstGeom>
          <a:noFill/>
        </p:spPr>
        <p:txBody>
          <a:bodyPr wrap="square">
            <a:spAutoFit/>
          </a:bodyPr>
          <a:lstStyle/>
          <a:p>
            <a:pPr algn="ctr">
              <a:lnSpc>
                <a:spcPts val="1200"/>
              </a:lnSpc>
              <a:spcAft>
                <a:spcPts val="0"/>
              </a:spcAft>
              <a:defRPr sz="1000" b="0">
                <a:solidFill>
                  <a:srgbClr val="424242"/>
                </a:solidFill>
                <a:latin typeface="Calibri"/>
              </a:defRPr>
            </a:pPr>
            <a:r>
              <a:t>C3</a:t>
            </a:r>
            <a:br/>
            <a:r>
              <a:t>Tối ưu\chu kỳ</a:t>
            </a:r>
          </a:p>
        </p:txBody>
      </p:sp>
      <p:sp>
        <p:nvSpPr>
          <p:cNvPr id="19" name="Rectangle 18"/>
          <p:cNvSpPr/>
          <p:nvPr/>
        </p:nvSpPr>
        <p:spPr>
          <a:xfrm>
            <a:off x="5029200" y="4732020"/>
            <a:ext cx="914400" cy="130302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029200" y="4457700"/>
            <a:ext cx="914400" cy="274320"/>
          </a:xfrm>
          <a:prstGeom prst="rect">
            <a:avLst/>
          </a:prstGeom>
          <a:noFill/>
        </p:spPr>
        <p:txBody>
          <a:bodyPr wrap="square">
            <a:spAutoFit/>
          </a:bodyPr>
          <a:lstStyle/>
          <a:p>
            <a:pPr algn="ctr">
              <a:lnSpc>
                <a:spcPts val="1439"/>
              </a:lnSpc>
              <a:spcAft>
                <a:spcPts val="0"/>
              </a:spcAft>
              <a:defRPr sz="1200" b="1">
                <a:solidFill>
                  <a:srgbClr val="2E7D32"/>
                </a:solidFill>
                <a:latin typeface="Calibri"/>
              </a:defRPr>
            </a:pPr>
            <a:r>
              <a:t>4.75 FPS</a:t>
            </a:r>
          </a:p>
        </p:txBody>
      </p:sp>
      <p:sp>
        <p:nvSpPr>
          <p:cNvPr id="21" name="TextBox 20"/>
          <p:cNvSpPr txBox="1"/>
          <p:nvPr/>
        </p:nvSpPr>
        <p:spPr>
          <a:xfrm>
            <a:off x="4846320" y="6080760"/>
            <a:ext cx="1280160" cy="457200"/>
          </a:xfrm>
          <a:prstGeom prst="rect">
            <a:avLst/>
          </a:prstGeom>
          <a:noFill/>
        </p:spPr>
        <p:txBody>
          <a:bodyPr wrap="square">
            <a:spAutoFit/>
          </a:bodyPr>
          <a:lstStyle/>
          <a:p>
            <a:pPr algn="ctr">
              <a:lnSpc>
                <a:spcPts val="1200"/>
              </a:lnSpc>
              <a:spcAft>
                <a:spcPts val="0"/>
              </a:spcAft>
              <a:defRPr sz="1000" b="0">
                <a:solidFill>
                  <a:srgbClr val="424242"/>
                </a:solidFill>
                <a:latin typeface="Calibri"/>
              </a:defRPr>
            </a:pPr>
            <a:r>
              <a:t>C4</a:t>
            </a:r>
            <a:br/>
            <a:r>
              <a:t>Tối ưu</a:t>
            </a:r>
            <a:br/>
            <a:r>
              <a:t>toàn diện</a:t>
            </a:r>
          </a:p>
        </p:txBody>
      </p:sp>
      <p:sp>
        <p:nvSpPr>
          <p:cNvPr id="22" name="Rounded Rectangle 21"/>
          <p:cNvSpPr/>
          <p:nvPr/>
        </p:nvSpPr>
        <p:spPr>
          <a:xfrm>
            <a:off x="6400800" y="4572000"/>
            <a:ext cx="5029200" cy="1371600"/>
          </a:xfrm>
          <a:prstGeom prst="roundRect">
            <a:avLst/>
          </a:prstGeom>
          <a:solidFill>
            <a:srgbClr val="E8F5E9"/>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675120" y="4663440"/>
            <a:ext cx="4572000" cy="365760"/>
          </a:xfrm>
          <a:prstGeom prst="rect">
            <a:avLst/>
          </a:prstGeom>
          <a:noFill/>
        </p:spPr>
        <p:txBody>
          <a:bodyPr wrap="square">
            <a:spAutoFit/>
          </a:bodyPr>
          <a:lstStyle/>
          <a:p>
            <a:pPr algn="l">
              <a:lnSpc>
                <a:spcPts val="1920"/>
              </a:lnSpc>
              <a:spcAft>
                <a:spcPts val="0"/>
              </a:spcAft>
              <a:defRPr sz="1600" b="1">
                <a:solidFill>
                  <a:srgbClr val="2E7D32"/>
                </a:solidFill>
                <a:latin typeface="Calibri"/>
              </a:defRPr>
            </a:pPr>
            <a:r>
              <a:t>📈 Kết quả chính:</a:t>
            </a:r>
          </a:p>
        </p:txBody>
      </p:sp>
      <p:sp>
        <p:nvSpPr>
          <p:cNvPr id="24" name="TextBox 23"/>
          <p:cNvSpPr txBox="1"/>
          <p:nvPr/>
        </p:nvSpPr>
        <p:spPr>
          <a:xfrm>
            <a:off x="6675120" y="5029200"/>
            <a:ext cx="4572000" cy="822960"/>
          </a:xfrm>
          <a:prstGeom prst="rect">
            <a:avLst/>
          </a:prstGeom>
          <a:noFill/>
        </p:spPr>
        <p:txBody>
          <a:bodyPr wrap="square">
            <a:spAutoFit/>
          </a:bodyPr>
          <a:lstStyle/>
          <a:p>
            <a:pPr algn="l">
              <a:lnSpc>
                <a:spcPts val="1820"/>
              </a:lnSpc>
              <a:spcAft>
                <a:spcPts val="0"/>
              </a:spcAft>
              <a:defRPr sz="1300" b="0">
                <a:solidFill>
                  <a:srgbClr val="424242"/>
                </a:solidFill>
                <a:latin typeface="Calibri"/>
              </a:defRPr>
            </a:pPr>
            <a:r>
              <a:t>• FPS tăng hơn 2 lần nhờ tổ hợp frame skipping + resize</a:t>
            </a:r>
            <a:br/>
            <a:r>
              <a:t>• Từ 2.34 FPS (cơ sở) lên 4.75 FPS (tối ưu toàn diện)</a:t>
            </a:r>
            <a:br/>
            <a:r>
              <a:t>• Benchmark chạy trên CPU, trên Edge (Jetson) dự kiến cao hơn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0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37160"/>
            <a:ext cx="10058400" cy="640080"/>
          </a:xfrm>
          <a:prstGeom prst="rect">
            <a:avLst/>
          </a:prstGeom>
          <a:noFill/>
        </p:spPr>
        <p:txBody>
          <a:bodyPr wrap="square">
            <a:spAutoFit/>
          </a:bodyPr>
          <a:lstStyle/>
          <a:p>
            <a:pPr algn="l">
              <a:lnSpc>
                <a:spcPts val="3840"/>
              </a:lnSpc>
              <a:spcAft>
                <a:spcPts val="0"/>
              </a:spcAft>
              <a:defRPr sz="3200" b="1">
                <a:solidFill>
                  <a:srgbClr val="FFFFFF"/>
                </a:solidFill>
                <a:latin typeface="Calibri"/>
              </a:defRPr>
            </a:pPr>
            <a:r>
              <a:t>KẾT QUẢ ĐÁNH GIÁ ĐỘ CHÍNH XÁC</a:t>
            </a:r>
          </a:p>
        </p:txBody>
      </p:sp>
      <p:sp>
        <p:nvSpPr>
          <p:cNvPr id="4" name="TextBox 3"/>
          <p:cNvSpPr txBox="1"/>
          <p:nvPr/>
        </p:nvSpPr>
        <p:spPr>
          <a:xfrm>
            <a:off x="731520" y="685800"/>
            <a:ext cx="10058400" cy="365760"/>
          </a:xfrm>
          <a:prstGeom prst="rect">
            <a:avLst/>
          </a:prstGeom>
          <a:noFill/>
        </p:spPr>
        <p:txBody>
          <a:bodyPr wrap="square">
            <a:spAutoFit/>
          </a:bodyPr>
          <a:lstStyle/>
          <a:p>
            <a:pPr algn="l">
              <a:lnSpc>
                <a:spcPts val="1920"/>
              </a:lnSpc>
              <a:spcAft>
                <a:spcPts val="0"/>
              </a:spcAft>
              <a:defRPr sz="1600" b="0">
                <a:solidFill>
                  <a:srgbClr val="42A5F5"/>
                </a:solidFill>
                <a:latin typeface="Calibri"/>
              </a:defRPr>
            </a:pPr>
            <a:r>
              <a:t>Chương 4.5.2: Bảng 4.2 &amp; 4.3</a:t>
            </a:r>
          </a:p>
        </p:txBody>
      </p:sp>
      <p:sp>
        <p:nvSpPr>
          <p:cNvPr id="5" name="Rectangle 4"/>
          <p:cNvSpPr/>
          <p:nvPr/>
        </p:nvSpPr>
        <p:spPr>
          <a:xfrm>
            <a:off x="0" y="1097280"/>
            <a:ext cx="12191695" cy="4572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492240"/>
            <a:ext cx="12191695" cy="365760"/>
          </a:xfrm>
          <a:prstGeom prst="rect">
            <a:avLst/>
          </a:prstGeom>
          <a:solidFill>
            <a:srgbClr val="0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10528"/>
            <a:ext cx="10972800" cy="320040"/>
          </a:xfrm>
          <a:prstGeom prst="rect">
            <a:avLst/>
          </a:prstGeom>
          <a:noFill/>
        </p:spPr>
        <p:txBody>
          <a:bodyPr wrap="square">
            <a:spAutoFit/>
          </a:bodyPr>
          <a:lstStyle/>
          <a:p>
            <a:pPr algn="ctr">
              <a:lnSpc>
                <a:spcPts val="1200"/>
              </a:lnSpc>
              <a:spcAft>
                <a:spcPts val="0"/>
              </a:spcAft>
              <a:defRPr sz="1000" b="0">
                <a:solidFill>
                  <a:srgbClr val="BBDEFB"/>
                </a:solidFill>
                <a:latin typeface="Calibri"/>
              </a:defRPr>
            </a:pPr>
            <a:r>
              <a:t>La Đại Lộc | MSSV: 4551050116 | GVHD: TS. Nguyễn Thanh Bình | Trường Đại học Quy Nhơn</a:t>
            </a:r>
          </a:p>
        </p:txBody>
      </p:sp>
      <p:sp>
        <p:nvSpPr>
          <p:cNvPr id="8" name="TextBox 7"/>
          <p:cNvSpPr txBox="1"/>
          <p:nvPr/>
        </p:nvSpPr>
        <p:spPr>
          <a:xfrm>
            <a:off x="731520" y="1463040"/>
            <a:ext cx="5029200" cy="365760"/>
          </a:xfrm>
          <a:prstGeom prst="rect">
            <a:avLst/>
          </a:prstGeom>
          <a:noFill/>
        </p:spPr>
        <p:txBody>
          <a:bodyPr wrap="square">
            <a:spAutoFit/>
          </a:bodyPr>
          <a:lstStyle/>
          <a:p>
            <a:pPr algn="l">
              <a:lnSpc>
                <a:spcPts val="1920"/>
              </a:lnSpc>
              <a:spcAft>
                <a:spcPts val="0"/>
              </a:spcAft>
              <a:defRPr sz="1600" b="1">
                <a:solidFill>
                  <a:srgbClr val="0A2E5C"/>
                </a:solidFill>
                <a:latin typeface="Calibri"/>
              </a:defRPr>
            </a:pPr>
            <a:r>
              <a:t>Đánh giá mô hình YOLO (Bảng 4.2)</a:t>
            </a:r>
          </a:p>
        </p:txBody>
      </p:sp>
      <p:graphicFrame>
        <p:nvGraphicFramePr>
          <p:cNvPr id="9" name="Table 8"/>
          <p:cNvGraphicFramePr>
            <a:graphicFrameLocks noGrp="1"/>
          </p:cNvGraphicFramePr>
          <p:nvPr/>
        </p:nvGraphicFramePr>
        <p:xfrm>
          <a:off x="457200" y="1920240"/>
          <a:ext cx="5029200" cy="228600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tblGrid>
              <a:tr h="457200">
                <a:tc>
                  <a:txBody>
                    <a:bodyPr/>
                    <a:lstStyle/>
                    <a:p>
                      <a:pPr algn="ctr">
                        <a:defRPr sz="1200" b="1">
                          <a:solidFill>
                            <a:srgbClr val="FFFFFF"/>
                          </a:solidFill>
                          <a:latin typeface="Calibri"/>
                        </a:defRPr>
                      </a:pPr>
                      <a:r>
                        <a:t>Chỉ số</a:t>
                      </a:r>
                    </a:p>
                  </a:txBody>
                  <a:tcPr>
                    <a:solidFill>
                      <a:srgbClr val="0A2E5C"/>
                    </a:solidFill>
                  </a:tcPr>
                </a:tc>
                <a:tc>
                  <a:txBody>
                    <a:bodyPr/>
                    <a:lstStyle/>
                    <a:p>
                      <a:pPr algn="ctr">
                        <a:defRPr sz="1200" b="1">
                          <a:solidFill>
                            <a:srgbClr val="FFFFFF"/>
                          </a:solidFill>
                          <a:latin typeface="Calibri"/>
                        </a:defRPr>
                      </a:pPr>
                      <a:r>
                        <a:t>Giá trị</a:t>
                      </a:r>
                    </a:p>
                  </a:txBody>
                  <a:tcPr>
                    <a:solidFill>
                      <a:srgbClr val="0A2E5C"/>
                    </a:solidFill>
                  </a:tcPr>
                </a:tc>
                <a:tc>
                  <a:txBody>
                    <a:bodyPr/>
                    <a:lstStyle/>
                    <a:p>
                      <a:pPr algn="ctr">
                        <a:defRPr sz="1200" b="1">
                          <a:solidFill>
                            <a:srgbClr val="FFFFFF"/>
                          </a:solidFill>
                          <a:latin typeface="Calibri"/>
                        </a:defRPr>
                      </a:pPr>
                      <a:r>
                        <a:t>Epoch</a:t>
                      </a:r>
                    </a:p>
                  </a:txBody>
                  <a:tcPr>
                    <a:solidFill>
                      <a:srgbClr val="0A2E5C"/>
                    </a:solidFill>
                  </a:tcPr>
                </a:tc>
                <a:extLst>
                  <a:ext uri="{0D108BD9-81ED-4DB2-BD59-A6C34878D82A}">
                    <a16:rowId xmlns:a16="http://schemas.microsoft.com/office/drawing/2014/main" val="10000"/>
                  </a:ext>
                </a:extLst>
              </a:tr>
              <a:tr h="457200">
                <a:tc>
                  <a:txBody>
                    <a:bodyPr/>
                    <a:lstStyle/>
                    <a:p>
                      <a:pPr algn="ctr">
                        <a:defRPr sz="1200">
                          <a:solidFill>
                            <a:srgbClr val="424242"/>
                          </a:solidFill>
                          <a:latin typeface="Calibri"/>
                        </a:defRPr>
                      </a:pPr>
                      <a:r>
                        <a:t>Precision</a:t>
                      </a:r>
                    </a:p>
                  </a:txBody>
                  <a:tcPr>
                    <a:solidFill>
                      <a:srgbClr val="FFFFFF"/>
                    </a:solidFill>
                  </a:tcPr>
                </a:tc>
                <a:tc>
                  <a:txBody>
                    <a:bodyPr/>
                    <a:lstStyle/>
                    <a:p>
                      <a:pPr algn="ctr">
                        <a:defRPr sz="1200">
                          <a:solidFill>
                            <a:srgbClr val="424242"/>
                          </a:solidFill>
                          <a:latin typeface="Calibri"/>
                        </a:defRPr>
                      </a:pPr>
                      <a:r>
                        <a:t>87.89%</a:t>
                      </a:r>
                    </a:p>
                  </a:txBody>
                  <a:tcPr>
                    <a:solidFill>
                      <a:srgbClr val="FFFFFF"/>
                    </a:solidFill>
                  </a:tcPr>
                </a:tc>
                <a:tc>
                  <a:txBody>
                    <a:bodyPr/>
                    <a:lstStyle/>
                    <a:p>
                      <a:pPr algn="ctr">
                        <a:defRPr sz="1200">
                          <a:solidFill>
                            <a:srgbClr val="424242"/>
                          </a:solidFill>
                          <a:latin typeface="Calibri"/>
                        </a:defRPr>
                      </a:pPr>
                      <a:r>
                        <a:t>99</a:t>
                      </a:r>
                    </a:p>
                  </a:txBody>
                  <a:tcPr>
                    <a:solidFill>
                      <a:srgbClr val="FFFFFF"/>
                    </a:solidFill>
                  </a:tcPr>
                </a:tc>
                <a:extLst>
                  <a:ext uri="{0D108BD9-81ED-4DB2-BD59-A6C34878D82A}">
                    <a16:rowId xmlns:a16="http://schemas.microsoft.com/office/drawing/2014/main" val="10001"/>
                  </a:ext>
                </a:extLst>
              </a:tr>
              <a:tr h="457200">
                <a:tc>
                  <a:txBody>
                    <a:bodyPr/>
                    <a:lstStyle/>
                    <a:p>
                      <a:pPr algn="ctr">
                        <a:defRPr sz="1200">
                          <a:solidFill>
                            <a:srgbClr val="424242"/>
                          </a:solidFill>
                          <a:latin typeface="Calibri"/>
                        </a:defRPr>
                      </a:pPr>
                      <a:r>
                        <a:t>Recall</a:t>
                      </a:r>
                    </a:p>
                  </a:txBody>
                  <a:tcPr>
                    <a:solidFill>
                      <a:srgbClr val="E3F2FD"/>
                    </a:solidFill>
                  </a:tcPr>
                </a:tc>
                <a:tc>
                  <a:txBody>
                    <a:bodyPr/>
                    <a:lstStyle/>
                    <a:p>
                      <a:pPr algn="ctr">
                        <a:defRPr sz="1200">
                          <a:solidFill>
                            <a:srgbClr val="424242"/>
                          </a:solidFill>
                          <a:latin typeface="Calibri"/>
                        </a:defRPr>
                      </a:pPr>
                      <a:r>
                        <a:t>82.90%</a:t>
                      </a:r>
                    </a:p>
                  </a:txBody>
                  <a:tcPr>
                    <a:solidFill>
                      <a:srgbClr val="E3F2FD"/>
                    </a:solidFill>
                  </a:tcPr>
                </a:tc>
                <a:tc>
                  <a:txBody>
                    <a:bodyPr/>
                    <a:lstStyle/>
                    <a:p>
                      <a:pPr algn="ctr">
                        <a:defRPr sz="1200">
                          <a:solidFill>
                            <a:srgbClr val="424242"/>
                          </a:solidFill>
                          <a:latin typeface="Calibri"/>
                        </a:defRPr>
                      </a:pPr>
                      <a:r>
                        <a:t>55</a:t>
                      </a:r>
                    </a:p>
                  </a:txBody>
                  <a:tcPr>
                    <a:solidFill>
                      <a:srgbClr val="E3F2FD"/>
                    </a:solidFill>
                  </a:tcPr>
                </a:tc>
                <a:extLst>
                  <a:ext uri="{0D108BD9-81ED-4DB2-BD59-A6C34878D82A}">
                    <a16:rowId xmlns:a16="http://schemas.microsoft.com/office/drawing/2014/main" val="10002"/>
                  </a:ext>
                </a:extLst>
              </a:tr>
              <a:tr h="457200">
                <a:tc>
                  <a:txBody>
                    <a:bodyPr/>
                    <a:lstStyle/>
                    <a:p>
                      <a:pPr algn="ctr">
                        <a:defRPr sz="1200">
                          <a:solidFill>
                            <a:srgbClr val="424242"/>
                          </a:solidFill>
                          <a:latin typeface="Calibri"/>
                        </a:defRPr>
                      </a:pPr>
                      <a:r>
                        <a:t>mAP50</a:t>
                      </a:r>
                    </a:p>
                  </a:txBody>
                  <a:tcPr>
                    <a:solidFill>
                      <a:srgbClr val="FFFFFF"/>
                    </a:solidFill>
                  </a:tcPr>
                </a:tc>
                <a:tc>
                  <a:txBody>
                    <a:bodyPr/>
                    <a:lstStyle/>
                    <a:p>
                      <a:pPr algn="ctr">
                        <a:defRPr sz="1200">
                          <a:solidFill>
                            <a:srgbClr val="424242"/>
                          </a:solidFill>
                          <a:latin typeface="Calibri"/>
                        </a:defRPr>
                      </a:pPr>
                      <a:r>
                        <a:t>88.93%</a:t>
                      </a:r>
                    </a:p>
                  </a:txBody>
                  <a:tcPr>
                    <a:solidFill>
                      <a:srgbClr val="FFFFFF"/>
                    </a:solidFill>
                  </a:tcPr>
                </a:tc>
                <a:tc>
                  <a:txBody>
                    <a:bodyPr/>
                    <a:lstStyle/>
                    <a:p>
                      <a:pPr algn="ctr">
                        <a:defRPr sz="1200">
                          <a:solidFill>
                            <a:srgbClr val="424242"/>
                          </a:solidFill>
                          <a:latin typeface="Calibri"/>
                        </a:defRPr>
                      </a:pPr>
                      <a:r>
                        <a:t>100</a:t>
                      </a:r>
                    </a:p>
                  </a:txBody>
                  <a:tcPr>
                    <a:solidFill>
                      <a:srgbClr val="FFFFFF"/>
                    </a:solidFill>
                  </a:tcPr>
                </a:tc>
                <a:extLst>
                  <a:ext uri="{0D108BD9-81ED-4DB2-BD59-A6C34878D82A}">
                    <a16:rowId xmlns:a16="http://schemas.microsoft.com/office/drawing/2014/main" val="10003"/>
                  </a:ext>
                </a:extLst>
              </a:tr>
              <a:tr h="457200">
                <a:tc>
                  <a:txBody>
                    <a:bodyPr/>
                    <a:lstStyle/>
                    <a:p>
                      <a:pPr algn="ctr">
                        <a:defRPr sz="1200">
                          <a:solidFill>
                            <a:srgbClr val="424242"/>
                          </a:solidFill>
                          <a:latin typeface="Calibri"/>
                        </a:defRPr>
                      </a:pPr>
                      <a:r>
                        <a:t>mAP50-95</a:t>
                      </a:r>
                    </a:p>
                  </a:txBody>
                  <a:tcPr>
                    <a:solidFill>
                      <a:srgbClr val="E3F2FD"/>
                    </a:solidFill>
                  </a:tcPr>
                </a:tc>
                <a:tc>
                  <a:txBody>
                    <a:bodyPr/>
                    <a:lstStyle/>
                    <a:p>
                      <a:pPr algn="ctr">
                        <a:defRPr sz="1200">
                          <a:solidFill>
                            <a:srgbClr val="424242"/>
                          </a:solidFill>
                          <a:latin typeface="Calibri"/>
                        </a:defRPr>
                      </a:pPr>
                      <a:r>
                        <a:t>59.81%</a:t>
                      </a:r>
                    </a:p>
                  </a:txBody>
                  <a:tcPr>
                    <a:solidFill>
                      <a:srgbClr val="E3F2FD"/>
                    </a:solidFill>
                  </a:tcPr>
                </a:tc>
                <a:tc>
                  <a:txBody>
                    <a:bodyPr/>
                    <a:lstStyle/>
                    <a:p>
                      <a:pPr algn="ctr">
                        <a:defRPr sz="1200">
                          <a:solidFill>
                            <a:srgbClr val="424242"/>
                          </a:solidFill>
                          <a:latin typeface="Calibri"/>
                        </a:defRPr>
                      </a:pPr>
                      <a:r>
                        <a:t>100</a:t>
                      </a:r>
                    </a:p>
                  </a:txBody>
                  <a:tcPr>
                    <a:solidFill>
                      <a:srgbClr val="E3F2FD"/>
                    </a:solidFill>
                  </a:tcPr>
                </a:tc>
                <a:extLst>
                  <a:ext uri="{0D108BD9-81ED-4DB2-BD59-A6C34878D82A}">
                    <a16:rowId xmlns:a16="http://schemas.microsoft.com/office/drawing/2014/main" val="10004"/>
                  </a:ext>
                </a:extLst>
              </a:tr>
            </a:tbl>
          </a:graphicData>
        </a:graphic>
      </p:graphicFrame>
      <p:sp>
        <p:nvSpPr>
          <p:cNvPr id="10" name="TextBox 9"/>
          <p:cNvSpPr txBox="1"/>
          <p:nvPr/>
        </p:nvSpPr>
        <p:spPr>
          <a:xfrm>
            <a:off x="6400800" y="1463040"/>
            <a:ext cx="5029200" cy="365760"/>
          </a:xfrm>
          <a:prstGeom prst="rect">
            <a:avLst/>
          </a:prstGeom>
          <a:noFill/>
        </p:spPr>
        <p:txBody>
          <a:bodyPr wrap="square">
            <a:spAutoFit/>
          </a:bodyPr>
          <a:lstStyle/>
          <a:p>
            <a:pPr algn="l">
              <a:lnSpc>
                <a:spcPts val="1920"/>
              </a:lnSpc>
              <a:spcAft>
                <a:spcPts val="0"/>
              </a:spcAft>
              <a:defRPr sz="1600" b="1">
                <a:solidFill>
                  <a:srgbClr val="0A2E5C"/>
                </a:solidFill>
                <a:latin typeface="Calibri"/>
              </a:defRPr>
            </a:pPr>
            <a:r>
              <a:t>Hiệu suất nhận diện hành vi (Bảng 4.3)</a:t>
            </a:r>
          </a:p>
        </p:txBody>
      </p:sp>
      <p:graphicFrame>
        <p:nvGraphicFramePr>
          <p:cNvPr id="11" name="Table 10"/>
          <p:cNvGraphicFramePr>
            <a:graphicFrameLocks noGrp="1"/>
          </p:cNvGraphicFramePr>
          <p:nvPr/>
        </p:nvGraphicFramePr>
        <p:xfrm>
          <a:off x="5943600" y="1920240"/>
          <a:ext cx="5760720" cy="2286000"/>
        </p:xfrm>
        <a:graphic>
          <a:graphicData uri="http://schemas.openxmlformats.org/drawingml/2006/table">
            <a:tbl>
              <a:tblPr firstRow="1" bandRow="1">
                <a:tableStyleId>{5C22544A-7EE6-4342-B048-85BDC9FD1C3A}</a:tableStyleId>
              </a:tblPr>
              <a:tblGrid>
                <a:gridCol w="109728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gridCol w="822960">
                  <a:extLst>
                    <a:ext uri="{9D8B030D-6E8A-4147-A177-3AD203B41FA5}">
                      <a16:colId xmlns:a16="http://schemas.microsoft.com/office/drawing/2014/main" val="20006"/>
                    </a:ext>
                  </a:extLst>
                </a:gridCol>
              </a:tblGrid>
              <a:tr h="571500">
                <a:tc>
                  <a:txBody>
                    <a:bodyPr/>
                    <a:lstStyle/>
                    <a:p>
                      <a:pPr algn="ctr">
                        <a:defRPr sz="1200" b="1">
                          <a:solidFill>
                            <a:srgbClr val="FFFFFF"/>
                          </a:solidFill>
                          <a:latin typeface="Calibri"/>
                        </a:defRPr>
                      </a:pPr>
                      <a:r>
                        <a:t>Hành vi</a:t>
                      </a:r>
                    </a:p>
                  </a:txBody>
                  <a:tcPr>
                    <a:solidFill>
                      <a:srgbClr val="0A2E5C"/>
                    </a:solidFill>
                  </a:tcPr>
                </a:tc>
                <a:tc>
                  <a:txBody>
                    <a:bodyPr/>
                    <a:lstStyle/>
                    <a:p>
                      <a:pPr algn="ctr">
                        <a:defRPr sz="1200" b="1">
                          <a:solidFill>
                            <a:srgbClr val="FFFFFF"/>
                          </a:solidFill>
                          <a:latin typeface="Calibri"/>
                        </a:defRPr>
                      </a:pPr>
                      <a:r>
                        <a:t>TP</a:t>
                      </a:r>
                    </a:p>
                  </a:txBody>
                  <a:tcPr>
                    <a:solidFill>
                      <a:srgbClr val="0A2E5C"/>
                    </a:solidFill>
                  </a:tcPr>
                </a:tc>
                <a:tc>
                  <a:txBody>
                    <a:bodyPr/>
                    <a:lstStyle/>
                    <a:p>
                      <a:pPr algn="ctr">
                        <a:defRPr sz="1200" b="1">
                          <a:solidFill>
                            <a:srgbClr val="FFFFFF"/>
                          </a:solidFill>
                          <a:latin typeface="Calibri"/>
                        </a:defRPr>
                      </a:pPr>
                      <a:r>
                        <a:t>FP</a:t>
                      </a:r>
                    </a:p>
                  </a:txBody>
                  <a:tcPr>
                    <a:solidFill>
                      <a:srgbClr val="0A2E5C"/>
                    </a:solidFill>
                  </a:tcPr>
                </a:tc>
                <a:tc>
                  <a:txBody>
                    <a:bodyPr/>
                    <a:lstStyle/>
                    <a:p>
                      <a:pPr algn="ctr">
                        <a:defRPr sz="1200" b="1">
                          <a:solidFill>
                            <a:srgbClr val="FFFFFF"/>
                          </a:solidFill>
                          <a:latin typeface="Calibri"/>
                        </a:defRPr>
                      </a:pPr>
                      <a:r>
                        <a:t>FN</a:t>
                      </a:r>
                    </a:p>
                  </a:txBody>
                  <a:tcPr>
                    <a:solidFill>
                      <a:srgbClr val="0A2E5C"/>
                    </a:solidFill>
                  </a:tcPr>
                </a:tc>
                <a:tc>
                  <a:txBody>
                    <a:bodyPr/>
                    <a:lstStyle/>
                    <a:p>
                      <a:pPr algn="ctr">
                        <a:defRPr sz="1200" b="1">
                          <a:solidFill>
                            <a:srgbClr val="FFFFFF"/>
                          </a:solidFill>
                          <a:latin typeface="Calibri"/>
                        </a:defRPr>
                      </a:pPr>
                      <a:r>
                        <a:t>Precision</a:t>
                      </a:r>
                    </a:p>
                  </a:txBody>
                  <a:tcPr>
                    <a:solidFill>
                      <a:srgbClr val="0A2E5C"/>
                    </a:solidFill>
                  </a:tcPr>
                </a:tc>
                <a:tc>
                  <a:txBody>
                    <a:bodyPr/>
                    <a:lstStyle/>
                    <a:p>
                      <a:pPr algn="ctr">
                        <a:defRPr sz="1200" b="1">
                          <a:solidFill>
                            <a:srgbClr val="FFFFFF"/>
                          </a:solidFill>
                          <a:latin typeface="Calibri"/>
                        </a:defRPr>
                      </a:pPr>
                      <a:r>
                        <a:t>Recall</a:t>
                      </a:r>
                    </a:p>
                  </a:txBody>
                  <a:tcPr>
                    <a:solidFill>
                      <a:srgbClr val="0A2E5C"/>
                    </a:solidFill>
                  </a:tcPr>
                </a:tc>
                <a:tc>
                  <a:txBody>
                    <a:bodyPr/>
                    <a:lstStyle/>
                    <a:p>
                      <a:pPr algn="ctr">
                        <a:defRPr sz="1200" b="1">
                          <a:solidFill>
                            <a:srgbClr val="FFFFFF"/>
                          </a:solidFill>
                          <a:latin typeface="Calibri"/>
                        </a:defRPr>
                      </a:pPr>
                      <a:r>
                        <a:t>F1</a:t>
                      </a:r>
                    </a:p>
                  </a:txBody>
                  <a:tcPr>
                    <a:solidFill>
                      <a:srgbClr val="0A2E5C"/>
                    </a:solidFill>
                  </a:tcPr>
                </a:tc>
                <a:extLst>
                  <a:ext uri="{0D108BD9-81ED-4DB2-BD59-A6C34878D82A}">
                    <a16:rowId xmlns:a16="http://schemas.microsoft.com/office/drawing/2014/main" val="10000"/>
                  </a:ext>
                </a:extLst>
              </a:tr>
              <a:tr h="571500">
                <a:tc>
                  <a:txBody>
                    <a:bodyPr/>
                    <a:lstStyle/>
                    <a:p>
                      <a:pPr algn="ctr">
                        <a:defRPr sz="1200">
                          <a:solidFill>
                            <a:srgbClr val="424242"/>
                          </a:solidFill>
                          <a:latin typeface="Calibri"/>
                        </a:defRPr>
                      </a:pPr>
                      <a:r>
                        <a:t>Điện thoại</a:t>
                      </a:r>
                    </a:p>
                  </a:txBody>
                  <a:tcPr>
                    <a:solidFill>
                      <a:srgbClr val="FFFFFF"/>
                    </a:solidFill>
                  </a:tcPr>
                </a:tc>
                <a:tc>
                  <a:txBody>
                    <a:bodyPr/>
                    <a:lstStyle/>
                    <a:p>
                      <a:pPr algn="ctr">
                        <a:defRPr sz="1200">
                          <a:solidFill>
                            <a:srgbClr val="424242"/>
                          </a:solidFill>
                          <a:latin typeface="Calibri"/>
                        </a:defRPr>
                      </a:pPr>
                      <a:r>
                        <a:t>1165</a:t>
                      </a:r>
                    </a:p>
                  </a:txBody>
                  <a:tcPr>
                    <a:solidFill>
                      <a:srgbClr val="FFFFFF"/>
                    </a:solidFill>
                  </a:tcPr>
                </a:tc>
                <a:tc>
                  <a:txBody>
                    <a:bodyPr/>
                    <a:lstStyle/>
                    <a:p>
                      <a:pPr algn="ctr">
                        <a:defRPr sz="1200">
                          <a:solidFill>
                            <a:srgbClr val="424242"/>
                          </a:solidFill>
                          <a:latin typeface="Calibri"/>
                        </a:defRPr>
                      </a:pPr>
                      <a:r>
                        <a:t>90</a:t>
                      </a:r>
                    </a:p>
                  </a:txBody>
                  <a:tcPr>
                    <a:solidFill>
                      <a:srgbClr val="FFFFFF"/>
                    </a:solidFill>
                  </a:tcPr>
                </a:tc>
                <a:tc>
                  <a:txBody>
                    <a:bodyPr/>
                    <a:lstStyle/>
                    <a:p>
                      <a:pPr algn="ctr">
                        <a:defRPr sz="1200">
                          <a:solidFill>
                            <a:srgbClr val="424242"/>
                          </a:solidFill>
                          <a:latin typeface="Calibri"/>
                        </a:defRPr>
                      </a:pPr>
                      <a:r>
                        <a:t>88</a:t>
                      </a:r>
                    </a:p>
                  </a:txBody>
                  <a:tcPr>
                    <a:solidFill>
                      <a:srgbClr val="FFFFFF"/>
                    </a:solidFill>
                  </a:tcPr>
                </a:tc>
                <a:tc>
                  <a:txBody>
                    <a:bodyPr/>
                    <a:lstStyle/>
                    <a:p>
                      <a:pPr algn="ctr">
                        <a:defRPr sz="1200">
                          <a:solidFill>
                            <a:srgbClr val="424242"/>
                          </a:solidFill>
                          <a:latin typeface="Calibri"/>
                        </a:defRPr>
                      </a:pPr>
                      <a:r>
                        <a:t>92.86%</a:t>
                      </a:r>
                    </a:p>
                  </a:txBody>
                  <a:tcPr>
                    <a:solidFill>
                      <a:srgbClr val="FFFFFF"/>
                    </a:solidFill>
                  </a:tcPr>
                </a:tc>
                <a:tc>
                  <a:txBody>
                    <a:bodyPr/>
                    <a:lstStyle/>
                    <a:p>
                      <a:pPr algn="ctr">
                        <a:defRPr sz="1200">
                          <a:solidFill>
                            <a:srgbClr val="424242"/>
                          </a:solidFill>
                          <a:latin typeface="Calibri"/>
                        </a:defRPr>
                      </a:pPr>
                      <a:r>
                        <a:t>92.98%</a:t>
                      </a:r>
                    </a:p>
                  </a:txBody>
                  <a:tcPr>
                    <a:solidFill>
                      <a:srgbClr val="FFFFFF"/>
                    </a:solidFill>
                  </a:tcPr>
                </a:tc>
                <a:tc>
                  <a:txBody>
                    <a:bodyPr/>
                    <a:lstStyle/>
                    <a:p>
                      <a:pPr algn="ctr">
                        <a:defRPr sz="1200">
                          <a:solidFill>
                            <a:srgbClr val="424242"/>
                          </a:solidFill>
                          <a:latin typeface="Calibri"/>
                        </a:defRPr>
                      </a:pPr>
                      <a:r>
                        <a:t>92.92%</a:t>
                      </a:r>
                    </a:p>
                  </a:txBody>
                  <a:tcPr>
                    <a:solidFill>
                      <a:srgbClr val="FFFFFF"/>
                    </a:solidFill>
                  </a:tcPr>
                </a:tc>
                <a:extLst>
                  <a:ext uri="{0D108BD9-81ED-4DB2-BD59-A6C34878D82A}">
                    <a16:rowId xmlns:a16="http://schemas.microsoft.com/office/drawing/2014/main" val="10001"/>
                  </a:ext>
                </a:extLst>
              </a:tr>
              <a:tr h="571500">
                <a:tc>
                  <a:txBody>
                    <a:bodyPr/>
                    <a:lstStyle/>
                    <a:p>
                      <a:pPr algn="ctr">
                        <a:defRPr sz="1200">
                          <a:solidFill>
                            <a:srgbClr val="424242"/>
                          </a:solidFill>
                          <a:latin typeface="Calibri"/>
                        </a:defRPr>
                      </a:pPr>
                      <a:r>
                        <a:t>Hút thuốc</a:t>
                      </a:r>
                    </a:p>
                  </a:txBody>
                  <a:tcPr>
                    <a:solidFill>
                      <a:srgbClr val="E3F2FD"/>
                    </a:solidFill>
                  </a:tcPr>
                </a:tc>
                <a:tc>
                  <a:txBody>
                    <a:bodyPr/>
                    <a:lstStyle/>
                    <a:p>
                      <a:pPr algn="ctr">
                        <a:defRPr sz="1200">
                          <a:solidFill>
                            <a:srgbClr val="424242"/>
                          </a:solidFill>
                          <a:latin typeface="Calibri"/>
                        </a:defRPr>
                      </a:pPr>
                      <a:r>
                        <a:t>523</a:t>
                      </a:r>
                    </a:p>
                  </a:txBody>
                  <a:tcPr>
                    <a:solidFill>
                      <a:srgbClr val="E3F2FD"/>
                    </a:solidFill>
                  </a:tcPr>
                </a:tc>
                <a:tc>
                  <a:txBody>
                    <a:bodyPr/>
                    <a:lstStyle/>
                    <a:p>
                      <a:pPr algn="ctr">
                        <a:defRPr sz="1200">
                          <a:solidFill>
                            <a:srgbClr val="424242"/>
                          </a:solidFill>
                          <a:latin typeface="Calibri"/>
                        </a:defRPr>
                      </a:pPr>
                      <a:r>
                        <a:t>102</a:t>
                      </a:r>
                    </a:p>
                  </a:txBody>
                  <a:tcPr>
                    <a:solidFill>
                      <a:srgbClr val="E3F2FD"/>
                    </a:solidFill>
                  </a:tcPr>
                </a:tc>
                <a:tc>
                  <a:txBody>
                    <a:bodyPr/>
                    <a:lstStyle/>
                    <a:p>
                      <a:pPr algn="ctr">
                        <a:defRPr sz="1200">
                          <a:solidFill>
                            <a:srgbClr val="424242"/>
                          </a:solidFill>
                          <a:latin typeface="Calibri"/>
                        </a:defRPr>
                      </a:pPr>
                      <a:r>
                        <a:t>87</a:t>
                      </a:r>
                    </a:p>
                  </a:txBody>
                  <a:tcPr>
                    <a:solidFill>
                      <a:srgbClr val="E3F2FD"/>
                    </a:solidFill>
                  </a:tcPr>
                </a:tc>
                <a:tc>
                  <a:txBody>
                    <a:bodyPr/>
                    <a:lstStyle/>
                    <a:p>
                      <a:pPr algn="ctr">
                        <a:defRPr sz="1200">
                          <a:solidFill>
                            <a:srgbClr val="424242"/>
                          </a:solidFill>
                          <a:latin typeface="Calibri"/>
                        </a:defRPr>
                      </a:pPr>
                      <a:r>
                        <a:t>83.69%</a:t>
                      </a:r>
                    </a:p>
                  </a:txBody>
                  <a:tcPr>
                    <a:solidFill>
                      <a:srgbClr val="E3F2FD"/>
                    </a:solidFill>
                  </a:tcPr>
                </a:tc>
                <a:tc>
                  <a:txBody>
                    <a:bodyPr/>
                    <a:lstStyle/>
                    <a:p>
                      <a:pPr algn="ctr">
                        <a:defRPr sz="1200">
                          <a:solidFill>
                            <a:srgbClr val="424242"/>
                          </a:solidFill>
                          <a:latin typeface="Calibri"/>
                        </a:defRPr>
                      </a:pPr>
                      <a:r>
                        <a:t>85.74%</a:t>
                      </a:r>
                    </a:p>
                  </a:txBody>
                  <a:tcPr>
                    <a:solidFill>
                      <a:srgbClr val="E3F2FD"/>
                    </a:solidFill>
                  </a:tcPr>
                </a:tc>
                <a:tc>
                  <a:txBody>
                    <a:bodyPr/>
                    <a:lstStyle/>
                    <a:p>
                      <a:pPr algn="ctr">
                        <a:defRPr sz="1200">
                          <a:solidFill>
                            <a:srgbClr val="424242"/>
                          </a:solidFill>
                          <a:latin typeface="Calibri"/>
                        </a:defRPr>
                      </a:pPr>
                      <a:r>
                        <a:t>84.70%</a:t>
                      </a:r>
                    </a:p>
                  </a:txBody>
                  <a:tcPr>
                    <a:solidFill>
                      <a:srgbClr val="E3F2FD"/>
                    </a:solidFill>
                  </a:tcPr>
                </a:tc>
                <a:extLst>
                  <a:ext uri="{0D108BD9-81ED-4DB2-BD59-A6C34878D82A}">
                    <a16:rowId xmlns:a16="http://schemas.microsoft.com/office/drawing/2014/main" val="10002"/>
                  </a:ext>
                </a:extLst>
              </a:tr>
              <a:tr h="571500">
                <a:tc>
                  <a:txBody>
                    <a:bodyPr/>
                    <a:lstStyle/>
                    <a:p>
                      <a:pPr algn="ctr">
                        <a:defRPr sz="1200">
                          <a:solidFill>
                            <a:srgbClr val="424242"/>
                          </a:solidFill>
                          <a:latin typeface="Calibri"/>
                        </a:defRPr>
                      </a:pPr>
                      <a:r>
                        <a:t>Ko dây AT</a:t>
                      </a:r>
                    </a:p>
                  </a:txBody>
                  <a:tcPr>
                    <a:solidFill>
                      <a:srgbClr val="FFFFFF"/>
                    </a:solidFill>
                  </a:tcPr>
                </a:tc>
                <a:tc>
                  <a:txBody>
                    <a:bodyPr/>
                    <a:lstStyle/>
                    <a:p>
                      <a:pPr algn="ctr">
                        <a:defRPr sz="1200">
                          <a:solidFill>
                            <a:srgbClr val="424242"/>
                          </a:solidFill>
                          <a:latin typeface="Calibri"/>
                        </a:defRPr>
                      </a:pPr>
                      <a:r>
                        <a:t>600</a:t>
                      </a:r>
                    </a:p>
                  </a:txBody>
                  <a:tcPr>
                    <a:solidFill>
                      <a:srgbClr val="FFFFFF"/>
                    </a:solidFill>
                  </a:tcPr>
                </a:tc>
                <a:tc>
                  <a:txBody>
                    <a:bodyPr/>
                    <a:lstStyle/>
                    <a:p>
                      <a:pPr algn="ctr">
                        <a:defRPr sz="1200">
                          <a:solidFill>
                            <a:srgbClr val="424242"/>
                          </a:solidFill>
                          <a:latin typeface="Calibri"/>
                        </a:defRPr>
                      </a:pPr>
                      <a:r>
                        <a:t>47</a:t>
                      </a:r>
                    </a:p>
                  </a:txBody>
                  <a:tcPr>
                    <a:solidFill>
                      <a:srgbClr val="FFFFFF"/>
                    </a:solidFill>
                  </a:tcPr>
                </a:tc>
                <a:tc>
                  <a:txBody>
                    <a:bodyPr/>
                    <a:lstStyle/>
                    <a:p>
                      <a:pPr algn="ctr">
                        <a:defRPr sz="1200">
                          <a:solidFill>
                            <a:srgbClr val="424242"/>
                          </a:solidFill>
                          <a:latin typeface="Calibri"/>
                        </a:defRPr>
                      </a:pPr>
                      <a:r>
                        <a:t>109</a:t>
                      </a:r>
                    </a:p>
                  </a:txBody>
                  <a:tcPr>
                    <a:solidFill>
                      <a:srgbClr val="FFFFFF"/>
                    </a:solidFill>
                  </a:tcPr>
                </a:tc>
                <a:tc>
                  <a:txBody>
                    <a:bodyPr/>
                    <a:lstStyle/>
                    <a:p>
                      <a:pPr algn="ctr">
                        <a:defRPr sz="1200">
                          <a:solidFill>
                            <a:srgbClr val="424242"/>
                          </a:solidFill>
                          <a:latin typeface="Calibri"/>
                        </a:defRPr>
                      </a:pPr>
                      <a:r>
                        <a:t>92.73%</a:t>
                      </a:r>
                    </a:p>
                  </a:txBody>
                  <a:tcPr>
                    <a:solidFill>
                      <a:srgbClr val="FFFFFF"/>
                    </a:solidFill>
                  </a:tcPr>
                </a:tc>
                <a:tc>
                  <a:txBody>
                    <a:bodyPr/>
                    <a:lstStyle/>
                    <a:p>
                      <a:pPr algn="ctr">
                        <a:defRPr sz="1200">
                          <a:solidFill>
                            <a:srgbClr val="424242"/>
                          </a:solidFill>
                          <a:latin typeface="Calibri"/>
                        </a:defRPr>
                      </a:pPr>
                      <a:r>
                        <a:t>84.59%</a:t>
                      </a:r>
                    </a:p>
                  </a:txBody>
                  <a:tcPr>
                    <a:solidFill>
                      <a:srgbClr val="FFFFFF"/>
                    </a:solidFill>
                  </a:tcPr>
                </a:tc>
                <a:tc>
                  <a:txBody>
                    <a:bodyPr/>
                    <a:lstStyle/>
                    <a:p>
                      <a:pPr algn="ctr">
                        <a:defRPr sz="1200">
                          <a:solidFill>
                            <a:srgbClr val="424242"/>
                          </a:solidFill>
                          <a:latin typeface="Calibri"/>
                        </a:defRPr>
                      </a:pPr>
                      <a:r>
                        <a:t>88.47%</a:t>
                      </a:r>
                    </a:p>
                  </a:txBody>
                  <a:tcPr>
                    <a:solidFill>
                      <a:srgbClr val="FFFFFF"/>
                    </a:solidFill>
                  </a:tcPr>
                </a:tc>
                <a:extLst>
                  <a:ext uri="{0D108BD9-81ED-4DB2-BD59-A6C34878D82A}">
                    <a16:rowId xmlns:a16="http://schemas.microsoft.com/office/drawing/2014/main" val="10003"/>
                  </a:ext>
                </a:extLst>
              </a:tr>
            </a:tbl>
          </a:graphicData>
        </a:graphic>
      </p:graphicFrame>
      <p:sp>
        <p:nvSpPr>
          <p:cNvPr id="12" name="TextBox 11"/>
          <p:cNvSpPr txBox="1"/>
          <p:nvPr/>
        </p:nvSpPr>
        <p:spPr>
          <a:xfrm>
            <a:off x="731520" y="4572000"/>
            <a:ext cx="10972800" cy="365760"/>
          </a:xfrm>
          <a:prstGeom prst="rect">
            <a:avLst/>
          </a:prstGeom>
          <a:noFill/>
        </p:spPr>
        <p:txBody>
          <a:bodyPr wrap="square">
            <a:spAutoFit/>
          </a:bodyPr>
          <a:lstStyle/>
          <a:p>
            <a:pPr algn="l">
              <a:lnSpc>
                <a:spcPts val="1920"/>
              </a:lnSpc>
              <a:spcAft>
                <a:spcPts val="0"/>
              </a:spcAft>
              <a:defRPr sz="1600" b="1">
                <a:solidFill>
                  <a:srgbClr val="0A2E5C"/>
                </a:solidFill>
                <a:latin typeface="Calibri"/>
              </a:defRPr>
            </a:pPr>
            <a:r>
              <a:t>F1-Score theo từng hành vi:</a:t>
            </a:r>
          </a:p>
        </p:txBody>
      </p:sp>
      <p:sp>
        <p:nvSpPr>
          <p:cNvPr id="13" name="Rectangle 12"/>
          <p:cNvSpPr/>
          <p:nvPr/>
        </p:nvSpPr>
        <p:spPr>
          <a:xfrm>
            <a:off x="1371600" y="4839041"/>
            <a:ext cx="2286000" cy="110455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371600" y="4564721"/>
            <a:ext cx="2286000" cy="274320"/>
          </a:xfrm>
          <a:prstGeom prst="rect">
            <a:avLst/>
          </a:prstGeom>
          <a:noFill/>
        </p:spPr>
        <p:txBody>
          <a:bodyPr wrap="square">
            <a:spAutoFit/>
          </a:bodyPr>
          <a:lstStyle/>
          <a:p>
            <a:pPr algn="ctr">
              <a:lnSpc>
                <a:spcPts val="1920"/>
              </a:lnSpc>
              <a:spcAft>
                <a:spcPts val="0"/>
              </a:spcAft>
              <a:defRPr sz="1600" b="1">
                <a:solidFill>
                  <a:srgbClr val="2E7D32"/>
                </a:solidFill>
                <a:latin typeface="Calibri"/>
              </a:defRPr>
            </a:pPr>
            <a:r>
              <a:t>92.92%</a:t>
            </a:r>
          </a:p>
        </p:txBody>
      </p:sp>
      <p:sp>
        <p:nvSpPr>
          <p:cNvPr id="15" name="TextBox 14"/>
          <p:cNvSpPr txBox="1"/>
          <p:nvPr/>
        </p:nvSpPr>
        <p:spPr>
          <a:xfrm>
            <a:off x="1371600" y="5989320"/>
            <a:ext cx="2286000" cy="457200"/>
          </a:xfrm>
          <a:prstGeom prst="rect">
            <a:avLst/>
          </a:prstGeom>
          <a:noFill/>
        </p:spPr>
        <p:txBody>
          <a:bodyPr wrap="square">
            <a:spAutoFit/>
          </a:bodyPr>
          <a:lstStyle/>
          <a:p>
            <a:pPr algn="ctr">
              <a:lnSpc>
                <a:spcPts val="1439"/>
              </a:lnSpc>
              <a:spcAft>
                <a:spcPts val="0"/>
              </a:spcAft>
              <a:defRPr sz="1200" b="0">
                <a:solidFill>
                  <a:srgbClr val="424242"/>
                </a:solidFill>
                <a:latin typeface="Calibri"/>
              </a:defRPr>
            </a:pPr>
            <a:r>
              <a:t>Sử dụng</a:t>
            </a:r>
            <a:br/>
            <a:r>
              <a:t>điện thoại</a:t>
            </a:r>
          </a:p>
        </p:txBody>
      </p:sp>
      <p:sp>
        <p:nvSpPr>
          <p:cNvPr id="16" name="Rectangle 15"/>
          <p:cNvSpPr/>
          <p:nvPr/>
        </p:nvSpPr>
        <p:spPr>
          <a:xfrm>
            <a:off x="4572000" y="4936754"/>
            <a:ext cx="2286000" cy="1006845"/>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0" y="4662434"/>
            <a:ext cx="2286000" cy="274320"/>
          </a:xfrm>
          <a:prstGeom prst="rect">
            <a:avLst/>
          </a:prstGeom>
          <a:noFill/>
        </p:spPr>
        <p:txBody>
          <a:bodyPr wrap="square">
            <a:spAutoFit/>
          </a:bodyPr>
          <a:lstStyle/>
          <a:p>
            <a:pPr algn="ctr">
              <a:lnSpc>
                <a:spcPts val="1920"/>
              </a:lnSpc>
              <a:spcAft>
                <a:spcPts val="0"/>
              </a:spcAft>
              <a:defRPr sz="1600" b="1">
                <a:solidFill>
                  <a:srgbClr val="FF6F00"/>
                </a:solidFill>
                <a:latin typeface="Calibri"/>
              </a:defRPr>
            </a:pPr>
            <a:r>
              <a:t>84.7%</a:t>
            </a:r>
          </a:p>
        </p:txBody>
      </p:sp>
      <p:sp>
        <p:nvSpPr>
          <p:cNvPr id="18" name="TextBox 17"/>
          <p:cNvSpPr txBox="1"/>
          <p:nvPr/>
        </p:nvSpPr>
        <p:spPr>
          <a:xfrm>
            <a:off x="4572000" y="5989320"/>
            <a:ext cx="2286000" cy="457200"/>
          </a:xfrm>
          <a:prstGeom prst="rect">
            <a:avLst/>
          </a:prstGeom>
          <a:noFill/>
        </p:spPr>
        <p:txBody>
          <a:bodyPr wrap="square">
            <a:spAutoFit/>
          </a:bodyPr>
          <a:lstStyle/>
          <a:p>
            <a:pPr algn="ctr">
              <a:lnSpc>
                <a:spcPts val="1439"/>
              </a:lnSpc>
              <a:spcAft>
                <a:spcPts val="0"/>
              </a:spcAft>
              <a:defRPr sz="1200" b="0">
                <a:solidFill>
                  <a:srgbClr val="424242"/>
                </a:solidFill>
                <a:latin typeface="Calibri"/>
              </a:defRPr>
            </a:pPr>
            <a:r>
              <a:t>Hút thuốc</a:t>
            </a:r>
          </a:p>
        </p:txBody>
      </p:sp>
      <p:sp>
        <p:nvSpPr>
          <p:cNvPr id="19" name="Rectangle 18"/>
          <p:cNvSpPr/>
          <p:nvPr/>
        </p:nvSpPr>
        <p:spPr>
          <a:xfrm>
            <a:off x="7772400" y="4891939"/>
            <a:ext cx="2286000" cy="1051660"/>
          </a:xfrm>
          <a:prstGeom prst="rect">
            <a:avLst/>
          </a:prstGeom>
          <a:solidFill>
            <a:srgbClr val="144D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772400" y="4617619"/>
            <a:ext cx="2286000" cy="274320"/>
          </a:xfrm>
          <a:prstGeom prst="rect">
            <a:avLst/>
          </a:prstGeom>
          <a:noFill/>
        </p:spPr>
        <p:txBody>
          <a:bodyPr wrap="square">
            <a:spAutoFit/>
          </a:bodyPr>
          <a:lstStyle/>
          <a:p>
            <a:pPr algn="ctr">
              <a:lnSpc>
                <a:spcPts val="1920"/>
              </a:lnSpc>
              <a:spcAft>
                <a:spcPts val="0"/>
              </a:spcAft>
              <a:defRPr sz="1600" b="1">
                <a:solidFill>
                  <a:srgbClr val="144D8D"/>
                </a:solidFill>
                <a:latin typeface="Calibri"/>
              </a:defRPr>
            </a:pPr>
            <a:r>
              <a:t>88.47%</a:t>
            </a:r>
          </a:p>
        </p:txBody>
      </p:sp>
      <p:sp>
        <p:nvSpPr>
          <p:cNvPr id="21" name="TextBox 20"/>
          <p:cNvSpPr txBox="1"/>
          <p:nvPr/>
        </p:nvSpPr>
        <p:spPr>
          <a:xfrm>
            <a:off x="7772400" y="5989320"/>
            <a:ext cx="2286000" cy="457200"/>
          </a:xfrm>
          <a:prstGeom prst="rect">
            <a:avLst/>
          </a:prstGeom>
          <a:noFill/>
        </p:spPr>
        <p:txBody>
          <a:bodyPr wrap="square">
            <a:spAutoFit/>
          </a:bodyPr>
          <a:lstStyle/>
          <a:p>
            <a:pPr algn="ctr">
              <a:lnSpc>
                <a:spcPts val="1439"/>
              </a:lnSpc>
              <a:spcAft>
                <a:spcPts val="0"/>
              </a:spcAft>
              <a:defRPr sz="1200" b="0">
                <a:solidFill>
                  <a:srgbClr val="424242"/>
                </a:solidFill>
                <a:latin typeface="Calibri"/>
              </a:defRPr>
            </a:pPr>
            <a:r>
              <a:t>Ko thắt dây</a:t>
            </a:r>
            <a:br/>
            <a:r>
              <a:t>an toàn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0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37160"/>
            <a:ext cx="10058400" cy="640080"/>
          </a:xfrm>
          <a:prstGeom prst="rect">
            <a:avLst/>
          </a:prstGeom>
          <a:noFill/>
        </p:spPr>
        <p:txBody>
          <a:bodyPr wrap="square">
            <a:spAutoFit/>
          </a:bodyPr>
          <a:lstStyle/>
          <a:p>
            <a:pPr algn="l">
              <a:lnSpc>
                <a:spcPts val="3840"/>
              </a:lnSpc>
              <a:spcAft>
                <a:spcPts val="0"/>
              </a:spcAft>
              <a:defRPr sz="3200" b="1">
                <a:solidFill>
                  <a:srgbClr val="FFFFFF"/>
                </a:solidFill>
                <a:latin typeface="Calibri"/>
              </a:defRPr>
            </a:pPr>
            <a:r>
              <a:t>PHÂN TÍCH LỖI VÀ ĐÁNH GIÁ</a:t>
            </a:r>
          </a:p>
        </p:txBody>
      </p:sp>
      <p:sp>
        <p:nvSpPr>
          <p:cNvPr id="4" name="TextBox 3"/>
          <p:cNvSpPr txBox="1"/>
          <p:nvPr/>
        </p:nvSpPr>
        <p:spPr>
          <a:xfrm>
            <a:off x="731520" y="685800"/>
            <a:ext cx="10058400" cy="365760"/>
          </a:xfrm>
          <a:prstGeom prst="rect">
            <a:avLst/>
          </a:prstGeom>
          <a:noFill/>
        </p:spPr>
        <p:txBody>
          <a:bodyPr wrap="square">
            <a:spAutoFit/>
          </a:bodyPr>
          <a:lstStyle/>
          <a:p>
            <a:pPr algn="l">
              <a:lnSpc>
                <a:spcPts val="1920"/>
              </a:lnSpc>
              <a:spcAft>
                <a:spcPts val="0"/>
              </a:spcAft>
              <a:defRPr sz="1600" b="0">
                <a:solidFill>
                  <a:srgbClr val="42A5F5"/>
                </a:solidFill>
                <a:latin typeface="Calibri"/>
              </a:defRPr>
            </a:pPr>
            <a:r>
              <a:t>Chương 4.5.3 &amp; 4.5.4</a:t>
            </a:r>
          </a:p>
        </p:txBody>
      </p:sp>
      <p:sp>
        <p:nvSpPr>
          <p:cNvPr id="5" name="Rectangle 4"/>
          <p:cNvSpPr/>
          <p:nvPr/>
        </p:nvSpPr>
        <p:spPr>
          <a:xfrm>
            <a:off x="0" y="1097280"/>
            <a:ext cx="12191695" cy="4572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492240"/>
            <a:ext cx="12191695" cy="365760"/>
          </a:xfrm>
          <a:prstGeom prst="rect">
            <a:avLst/>
          </a:prstGeom>
          <a:solidFill>
            <a:srgbClr val="0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10528"/>
            <a:ext cx="10972800" cy="320040"/>
          </a:xfrm>
          <a:prstGeom prst="rect">
            <a:avLst/>
          </a:prstGeom>
          <a:noFill/>
        </p:spPr>
        <p:txBody>
          <a:bodyPr wrap="square">
            <a:spAutoFit/>
          </a:bodyPr>
          <a:lstStyle/>
          <a:p>
            <a:pPr algn="ctr">
              <a:lnSpc>
                <a:spcPts val="1200"/>
              </a:lnSpc>
              <a:spcAft>
                <a:spcPts val="0"/>
              </a:spcAft>
              <a:defRPr sz="1000" b="0">
                <a:solidFill>
                  <a:srgbClr val="BBDEFB"/>
                </a:solidFill>
                <a:latin typeface="Calibri"/>
              </a:defRPr>
            </a:pPr>
            <a:r>
              <a:t>La Đại Lộc | MSSV: 4551050116 | GVHD: TS. Nguyễn Thanh Bình | Trường Đại học Quy Nhơn</a:t>
            </a:r>
          </a:p>
        </p:txBody>
      </p:sp>
      <p:sp>
        <p:nvSpPr>
          <p:cNvPr id="8" name="Rounded Rectangle 7"/>
          <p:cNvSpPr/>
          <p:nvPr/>
        </p:nvSpPr>
        <p:spPr>
          <a:xfrm>
            <a:off x="731520" y="1645920"/>
            <a:ext cx="3474720" cy="2286000"/>
          </a:xfrm>
          <a:prstGeom prst="roundRect">
            <a:avLst/>
          </a:prstGeom>
          <a:solidFill>
            <a:srgbClr val="FFFFFF"/>
          </a:solidFill>
          <a:ln>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31520" y="1645920"/>
            <a:ext cx="3474720" cy="45720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1691640"/>
            <a:ext cx="3291840" cy="365760"/>
          </a:xfrm>
          <a:prstGeom prst="rect">
            <a:avLst/>
          </a:prstGeom>
          <a:noFill/>
        </p:spPr>
        <p:txBody>
          <a:bodyPr wrap="square">
            <a:spAutoFit/>
          </a:bodyPr>
          <a:lstStyle/>
          <a:p>
            <a:pPr algn="ctr">
              <a:lnSpc>
                <a:spcPts val="1800"/>
              </a:lnSpc>
              <a:spcAft>
                <a:spcPts val="0"/>
              </a:spcAft>
              <a:defRPr sz="1500" b="1">
                <a:solidFill>
                  <a:srgbClr val="FFFFFF"/>
                </a:solidFill>
                <a:latin typeface="Calibri"/>
              </a:defRPr>
            </a:pPr>
            <a:r>
              <a:t>⚠ Nhiễu thị giác</a:t>
            </a:r>
          </a:p>
        </p:txBody>
      </p:sp>
      <p:sp>
        <p:nvSpPr>
          <p:cNvPr id="11" name="TextBox 10"/>
          <p:cNvSpPr txBox="1"/>
          <p:nvPr/>
        </p:nvSpPr>
        <p:spPr>
          <a:xfrm>
            <a:off x="1005840" y="2286000"/>
            <a:ext cx="2926080" cy="640080"/>
          </a:xfrm>
          <a:prstGeom prst="rect">
            <a:avLst/>
          </a:prstGeom>
          <a:noFill/>
        </p:spPr>
        <p:txBody>
          <a:bodyPr wrap="square">
            <a:spAutoFit/>
          </a:bodyPr>
          <a:lstStyle/>
          <a:p>
            <a:pPr algn="l">
              <a:lnSpc>
                <a:spcPts val="1560"/>
              </a:lnSpc>
              <a:spcAft>
                <a:spcPts val="0"/>
              </a:spcAft>
              <a:defRPr sz="1200" b="0">
                <a:solidFill>
                  <a:srgbClr val="424242"/>
                </a:solidFill>
                <a:latin typeface="Calibri"/>
              </a:defRPr>
            </a:pPr>
            <a:r>
              <a:t>Vật thể hình hộp chữ nhật màu tối</a:t>
            </a:r>
            <a:br/>
            <a:r>
              <a:t>(ví, sạc dự phòng) bị nhận nhầm là điện thoại</a:t>
            </a:r>
          </a:p>
        </p:txBody>
      </p:sp>
      <p:sp>
        <p:nvSpPr>
          <p:cNvPr id="12" name="Rounded Rectangle 11"/>
          <p:cNvSpPr/>
          <p:nvPr/>
        </p:nvSpPr>
        <p:spPr>
          <a:xfrm>
            <a:off x="4480559" y="1645920"/>
            <a:ext cx="3474720" cy="2286000"/>
          </a:xfrm>
          <a:prstGeom prst="roundRect">
            <a:avLst/>
          </a:prstGeom>
          <a:solidFill>
            <a:srgbClr val="FFFFFF"/>
          </a:solidFill>
          <a:ln>
            <a:solidFill>
              <a:srgbClr val="FF6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480559" y="1645920"/>
            <a:ext cx="3474720" cy="457200"/>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71999" y="1691640"/>
            <a:ext cx="3291840" cy="365760"/>
          </a:xfrm>
          <a:prstGeom prst="rect">
            <a:avLst/>
          </a:prstGeom>
          <a:noFill/>
        </p:spPr>
        <p:txBody>
          <a:bodyPr wrap="square">
            <a:spAutoFit/>
          </a:bodyPr>
          <a:lstStyle/>
          <a:p>
            <a:pPr algn="ctr">
              <a:lnSpc>
                <a:spcPts val="1800"/>
              </a:lnSpc>
              <a:spcAft>
                <a:spcPts val="0"/>
              </a:spcAft>
              <a:defRPr sz="1500" b="1">
                <a:solidFill>
                  <a:srgbClr val="FFFFFF"/>
                </a:solidFill>
                <a:latin typeface="Calibri"/>
              </a:defRPr>
            </a:pPr>
            <a:r>
              <a:t>⚡ Suy thoái môi trường</a:t>
            </a:r>
          </a:p>
        </p:txBody>
      </p:sp>
      <p:sp>
        <p:nvSpPr>
          <p:cNvPr id="15" name="TextBox 14"/>
          <p:cNvSpPr txBox="1"/>
          <p:nvPr/>
        </p:nvSpPr>
        <p:spPr>
          <a:xfrm>
            <a:off x="4754879" y="2286000"/>
            <a:ext cx="2926080" cy="640080"/>
          </a:xfrm>
          <a:prstGeom prst="rect">
            <a:avLst/>
          </a:prstGeom>
          <a:noFill/>
        </p:spPr>
        <p:txBody>
          <a:bodyPr wrap="square">
            <a:spAutoFit/>
          </a:bodyPr>
          <a:lstStyle/>
          <a:p>
            <a:pPr algn="l">
              <a:lnSpc>
                <a:spcPts val="1560"/>
              </a:lnSpc>
              <a:spcAft>
                <a:spcPts val="0"/>
              </a:spcAft>
              <a:defRPr sz="1200" b="0">
                <a:solidFill>
                  <a:srgbClr val="424242"/>
                </a:solidFill>
                <a:latin typeface="Calibri"/>
              </a:defRPr>
            </a:pPr>
            <a:r>
              <a:t>Ngược sáng gắt hoặc thiếu sáng khiến</a:t>
            </a:r>
            <a:br/>
            <a:r>
              <a:t>MediaPipe mất landmarks</a:t>
            </a:r>
          </a:p>
        </p:txBody>
      </p:sp>
      <p:sp>
        <p:nvSpPr>
          <p:cNvPr id="16" name="TextBox 15"/>
          <p:cNvSpPr txBox="1"/>
          <p:nvPr/>
        </p:nvSpPr>
        <p:spPr>
          <a:xfrm>
            <a:off x="4754879" y="3017520"/>
            <a:ext cx="2926080" cy="640080"/>
          </a:xfrm>
          <a:prstGeom prst="rect">
            <a:avLst/>
          </a:prstGeom>
          <a:noFill/>
        </p:spPr>
        <p:txBody>
          <a:bodyPr wrap="square">
            <a:spAutoFit/>
          </a:bodyPr>
          <a:lstStyle/>
          <a:p>
            <a:pPr algn="l">
              <a:lnSpc>
                <a:spcPts val="1560"/>
              </a:lnSpc>
              <a:spcAft>
                <a:spcPts val="0"/>
              </a:spcAft>
              <a:defRPr sz="1200" b="0">
                <a:solidFill>
                  <a:srgbClr val="424242"/>
                </a:solidFill>
                <a:latin typeface="Calibri"/>
              </a:defRPr>
            </a:pPr>
            <a:r>
              <a:t>Dây an toàn hòa lẫn với áo khoác</a:t>
            </a:r>
          </a:p>
        </p:txBody>
      </p:sp>
      <p:sp>
        <p:nvSpPr>
          <p:cNvPr id="17" name="Rounded Rectangle 16"/>
          <p:cNvSpPr/>
          <p:nvPr/>
        </p:nvSpPr>
        <p:spPr>
          <a:xfrm>
            <a:off x="8229599" y="1645920"/>
            <a:ext cx="3474720" cy="2286000"/>
          </a:xfrm>
          <a:prstGeom prst="roundRect">
            <a:avLst/>
          </a:prstGeom>
          <a:solidFill>
            <a:srgbClr val="FFFFFF"/>
          </a:solidFill>
          <a:ln>
            <a:solidFill>
              <a:srgbClr val="6A1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229599" y="1645920"/>
            <a:ext cx="3474720" cy="457200"/>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21039" y="1691640"/>
            <a:ext cx="3291840" cy="365760"/>
          </a:xfrm>
          <a:prstGeom prst="rect">
            <a:avLst/>
          </a:prstGeom>
          <a:noFill/>
        </p:spPr>
        <p:txBody>
          <a:bodyPr wrap="square">
            <a:spAutoFit/>
          </a:bodyPr>
          <a:lstStyle/>
          <a:p>
            <a:pPr algn="ctr">
              <a:lnSpc>
                <a:spcPts val="1800"/>
              </a:lnSpc>
              <a:spcAft>
                <a:spcPts val="0"/>
              </a:spcAft>
              <a:defRPr sz="1500" b="1">
                <a:solidFill>
                  <a:srgbClr val="FFFFFF"/>
                </a:solidFill>
                <a:latin typeface="Calibri"/>
              </a:defRPr>
            </a:pPr>
            <a:r>
              <a:t>🔄 Biến dạng phối cảnh</a:t>
            </a:r>
          </a:p>
        </p:txBody>
      </p:sp>
      <p:sp>
        <p:nvSpPr>
          <p:cNvPr id="20" name="TextBox 19"/>
          <p:cNvSpPr txBox="1"/>
          <p:nvPr/>
        </p:nvSpPr>
        <p:spPr>
          <a:xfrm>
            <a:off x="8503919" y="2286000"/>
            <a:ext cx="2926080" cy="640080"/>
          </a:xfrm>
          <a:prstGeom prst="rect">
            <a:avLst/>
          </a:prstGeom>
          <a:noFill/>
        </p:spPr>
        <p:txBody>
          <a:bodyPr wrap="square">
            <a:spAutoFit/>
          </a:bodyPr>
          <a:lstStyle/>
          <a:p>
            <a:pPr algn="l">
              <a:lnSpc>
                <a:spcPts val="1560"/>
              </a:lnSpc>
              <a:spcAft>
                <a:spcPts val="0"/>
              </a:spcAft>
              <a:defRPr sz="1200" b="0">
                <a:solidFill>
                  <a:srgbClr val="424242"/>
                </a:solidFill>
                <a:latin typeface="Calibri"/>
              </a:defRPr>
            </a:pPr>
            <a:r>
              <a:t>Camera bị xô lệch do xe xóc</a:t>
            </a:r>
            <a:br/>
            <a:r>
              <a:t>làm Driver ROI dịch chuyển sai lệch</a:t>
            </a:r>
          </a:p>
        </p:txBody>
      </p:sp>
      <p:sp>
        <p:nvSpPr>
          <p:cNvPr id="21" name="TextBox 20"/>
          <p:cNvSpPr txBox="1"/>
          <p:nvPr/>
        </p:nvSpPr>
        <p:spPr>
          <a:xfrm>
            <a:off x="731520" y="4297680"/>
            <a:ext cx="10972800" cy="365760"/>
          </a:xfrm>
          <a:prstGeom prst="rect">
            <a:avLst/>
          </a:prstGeom>
          <a:noFill/>
        </p:spPr>
        <p:txBody>
          <a:bodyPr wrap="square">
            <a:spAutoFit/>
          </a:bodyPr>
          <a:lstStyle/>
          <a:p>
            <a:pPr algn="l">
              <a:lnSpc>
                <a:spcPts val="1920"/>
              </a:lnSpc>
              <a:spcAft>
                <a:spcPts val="0"/>
              </a:spcAft>
              <a:defRPr sz="1600" b="1">
                <a:solidFill>
                  <a:srgbClr val="0A2E5C"/>
                </a:solidFill>
                <a:latin typeface="Calibri"/>
              </a:defRPr>
            </a:pPr>
            <a:r>
              <a:t>Cơ chế lưu trữ và truy vết bằng chứng:</a:t>
            </a:r>
          </a:p>
        </p:txBody>
      </p:sp>
      <p:sp>
        <p:nvSpPr>
          <p:cNvPr id="22" name="Rounded Rectangle 21"/>
          <p:cNvSpPr/>
          <p:nvPr/>
        </p:nvSpPr>
        <p:spPr>
          <a:xfrm>
            <a:off x="731520" y="4846320"/>
            <a:ext cx="3474720" cy="1097280"/>
          </a:xfrm>
          <a:prstGeom prst="roundRect">
            <a:avLst/>
          </a:prstGeom>
          <a:solidFill>
            <a:srgbClr val="E3F2FD"/>
          </a:solidFill>
          <a:ln>
            <a:solidFill>
              <a:srgbClr val="144D8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2960" y="4937760"/>
            <a:ext cx="3291840" cy="320040"/>
          </a:xfrm>
          <a:prstGeom prst="rect">
            <a:avLst/>
          </a:prstGeom>
          <a:noFill/>
        </p:spPr>
        <p:txBody>
          <a:bodyPr wrap="square">
            <a:spAutoFit/>
          </a:bodyPr>
          <a:lstStyle/>
          <a:p>
            <a:pPr algn="ctr">
              <a:lnSpc>
                <a:spcPts val="1680"/>
              </a:lnSpc>
              <a:spcAft>
                <a:spcPts val="0"/>
              </a:spcAft>
              <a:defRPr sz="1400" b="1">
                <a:solidFill>
                  <a:srgbClr val="144D8D"/>
                </a:solidFill>
                <a:latin typeface="Calibri"/>
              </a:defRPr>
            </a:pPr>
            <a:r>
              <a:t>Tính pháp lý</a:t>
            </a:r>
          </a:p>
        </p:txBody>
      </p:sp>
      <p:sp>
        <p:nvSpPr>
          <p:cNvPr id="24" name="TextBox 23"/>
          <p:cNvSpPr txBox="1"/>
          <p:nvPr/>
        </p:nvSpPr>
        <p:spPr>
          <a:xfrm>
            <a:off x="822960" y="5303520"/>
            <a:ext cx="3291840" cy="548640"/>
          </a:xfrm>
          <a:prstGeom prst="rect">
            <a:avLst/>
          </a:prstGeom>
          <a:noFill/>
        </p:spPr>
        <p:txBody>
          <a:bodyPr wrap="square">
            <a:spAutoFit/>
          </a:bodyPr>
          <a:lstStyle/>
          <a:p>
            <a:pPr algn="ctr">
              <a:lnSpc>
                <a:spcPts val="1439"/>
              </a:lnSpc>
              <a:spcAft>
                <a:spcPts val="0"/>
              </a:spcAft>
              <a:defRPr sz="1200" b="0">
                <a:solidFill>
                  <a:srgbClr val="424242"/>
                </a:solidFill>
                <a:latin typeface="Calibri"/>
              </a:defRPr>
            </a:pPr>
            <a:r>
              <a:t>Đối soát thủ công trước khi xử phạt tài xế</a:t>
            </a:r>
          </a:p>
        </p:txBody>
      </p:sp>
      <p:sp>
        <p:nvSpPr>
          <p:cNvPr id="25" name="Rounded Rectangle 24"/>
          <p:cNvSpPr/>
          <p:nvPr/>
        </p:nvSpPr>
        <p:spPr>
          <a:xfrm>
            <a:off x="4480559" y="4846320"/>
            <a:ext cx="3474720" cy="1097280"/>
          </a:xfrm>
          <a:prstGeom prst="roundRect">
            <a:avLst/>
          </a:prstGeom>
          <a:solidFill>
            <a:srgbClr val="E3F2FD"/>
          </a:solidFill>
          <a:ln>
            <a:solidFill>
              <a:srgbClr val="0069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571999" y="4937760"/>
            <a:ext cx="3291840" cy="320040"/>
          </a:xfrm>
          <a:prstGeom prst="rect">
            <a:avLst/>
          </a:prstGeom>
          <a:noFill/>
        </p:spPr>
        <p:txBody>
          <a:bodyPr wrap="square">
            <a:spAutoFit/>
          </a:bodyPr>
          <a:lstStyle/>
          <a:p>
            <a:pPr algn="ctr">
              <a:lnSpc>
                <a:spcPts val="1680"/>
              </a:lnSpc>
              <a:spcAft>
                <a:spcPts val="0"/>
              </a:spcAft>
              <a:defRPr sz="1400" b="1">
                <a:solidFill>
                  <a:srgbClr val="00695C"/>
                </a:solidFill>
                <a:latin typeface="Calibri"/>
              </a:defRPr>
            </a:pPr>
            <a:r>
              <a:t>Vòng lặp dữ liệu</a:t>
            </a:r>
          </a:p>
        </p:txBody>
      </p:sp>
      <p:sp>
        <p:nvSpPr>
          <p:cNvPr id="27" name="TextBox 26"/>
          <p:cNvSpPr txBox="1"/>
          <p:nvPr/>
        </p:nvSpPr>
        <p:spPr>
          <a:xfrm>
            <a:off x="4571999" y="5303520"/>
            <a:ext cx="3291840" cy="548640"/>
          </a:xfrm>
          <a:prstGeom prst="rect">
            <a:avLst/>
          </a:prstGeom>
          <a:noFill/>
        </p:spPr>
        <p:txBody>
          <a:bodyPr wrap="square">
            <a:spAutoFit/>
          </a:bodyPr>
          <a:lstStyle/>
          <a:p>
            <a:pPr algn="ctr">
              <a:lnSpc>
                <a:spcPts val="1439"/>
              </a:lnSpc>
              <a:spcAft>
                <a:spcPts val="0"/>
              </a:spcAft>
              <a:defRPr sz="1200" b="0">
                <a:solidFill>
                  <a:srgbClr val="424242"/>
                </a:solidFill>
                <a:latin typeface="Calibri"/>
              </a:defRPr>
            </a:pPr>
            <a:r>
              <a:t>Ảnh FP/FN được đẩy về kho dữ liệu để tái huấn luyện</a:t>
            </a:r>
          </a:p>
        </p:txBody>
      </p:sp>
      <p:sp>
        <p:nvSpPr>
          <p:cNvPr id="28" name="Rounded Rectangle 27"/>
          <p:cNvSpPr/>
          <p:nvPr/>
        </p:nvSpPr>
        <p:spPr>
          <a:xfrm>
            <a:off x="8229599" y="4846320"/>
            <a:ext cx="3474720" cy="1097280"/>
          </a:xfrm>
          <a:prstGeom prst="roundRect">
            <a:avLst/>
          </a:prstGeom>
          <a:solidFill>
            <a:srgbClr val="E3F2FD"/>
          </a:solidFill>
          <a:ln>
            <a:solidFill>
              <a:srgbClr val="FF6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321039" y="4937760"/>
            <a:ext cx="3291840" cy="320040"/>
          </a:xfrm>
          <a:prstGeom prst="rect">
            <a:avLst/>
          </a:prstGeom>
          <a:noFill/>
        </p:spPr>
        <p:txBody>
          <a:bodyPr wrap="square">
            <a:spAutoFit/>
          </a:bodyPr>
          <a:lstStyle/>
          <a:p>
            <a:pPr algn="ctr">
              <a:lnSpc>
                <a:spcPts val="1680"/>
              </a:lnSpc>
              <a:spcAft>
                <a:spcPts val="0"/>
              </a:spcAft>
              <a:defRPr sz="1400" b="1">
                <a:solidFill>
                  <a:srgbClr val="FF6F00"/>
                </a:solidFill>
                <a:latin typeface="Calibri"/>
              </a:defRPr>
            </a:pPr>
            <a:r>
              <a:t>Tinh chỉnh tham số</a:t>
            </a:r>
          </a:p>
        </p:txBody>
      </p:sp>
      <p:sp>
        <p:nvSpPr>
          <p:cNvPr id="30" name="TextBox 29"/>
          <p:cNvSpPr txBox="1"/>
          <p:nvPr/>
        </p:nvSpPr>
        <p:spPr>
          <a:xfrm>
            <a:off x="8321039" y="5303520"/>
            <a:ext cx="3291840" cy="548640"/>
          </a:xfrm>
          <a:prstGeom prst="rect">
            <a:avLst/>
          </a:prstGeom>
          <a:noFill/>
        </p:spPr>
        <p:txBody>
          <a:bodyPr wrap="square">
            <a:spAutoFit/>
          </a:bodyPr>
          <a:lstStyle/>
          <a:p>
            <a:pPr algn="ctr">
              <a:lnSpc>
                <a:spcPts val="1439"/>
              </a:lnSpc>
              <a:spcAft>
                <a:spcPts val="0"/>
              </a:spcAft>
              <a:defRPr sz="1200" b="0">
                <a:solidFill>
                  <a:srgbClr val="424242"/>
                </a:solidFill>
                <a:latin typeface="Calibri"/>
              </a:defRPr>
            </a:pPr>
            <a:r>
              <a:t>Phân tích bằng chứng để điều chỉnh ngưỡng và rules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0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37160"/>
            <a:ext cx="10058400" cy="640080"/>
          </a:xfrm>
          <a:prstGeom prst="rect">
            <a:avLst/>
          </a:prstGeom>
          <a:noFill/>
        </p:spPr>
        <p:txBody>
          <a:bodyPr wrap="square">
            <a:spAutoFit/>
          </a:bodyPr>
          <a:lstStyle/>
          <a:p>
            <a:pPr algn="l">
              <a:lnSpc>
                <a:spcPts val="3840"/>
              </a:lnSpc>
              <a:spcAft>
                <a:spcPts val="0"/>
              </a:spcAft>
              <a:defRPr sz="3200" b="1">
                <a:solidFill>
                  <a:srgbClr val="FFFFFF"/>
                </a:solidFill>
                <a:latin typeface="Calibri"/>
              </a:defRPr>
            </a:pPr>
            <a:r>
              <a:t>KẾT LUẬN</a:t>
            </a:r>
          </a:p>
        </p:txBody>
      </p:sp>
      <p:sp>
        <p:nvSpPr>
          <p:cNvPr id="4" name="TextBox 3"/>
          <p:cNvSpPr txBox="1"/>
          <p:nvPr/>
        </p:nvSpPr>
        <p:spPr>
          <a:xfrm>
            <a:off x="731520" y="685800"/>
            <a:ext cx="10058400" cy="365760"/>
          </a:xfrm>
          <a:prstGeom prst="rect">
            <a:avLst/>
          </a:prstGeom>
          <a:noFill/>
        </p:spPr>
        <p:txBody>
          <a:bodyPr wrap="square">
            <a:spAutoFit/>
          </a:bodyPr>
          <a:lstStyle/>
          <a:p>
            <a:pPr algn="l">
              <a:lnSpc>
                <a:spcPts val="1920"/>
              </a:lnSpc>
              <a:spcAft>
                <a:spcPts val="0"/>
              </a:spcAft>
              <a:defRPr sz="1600" b="0">
                <a:solidFill>
                  <a:srgbClr val="42A5F5"/>
                </a:solidFill>
                <a:latin typeface="Calibri"/>
              </a:defRPr>
            </a:pPr>
            <a:r>
              <a:t>Chương 5.1: Kết quả đạt được</a:t>
            </a:r>
          </a:p>
        </p:txBody>
      </p:sp>
      <p:sp>
        <p:nvSpPr>
          <p:cNvPr id="5" name="Rectangle 4"/>
          <p:cNvSpPr/>
          <p:nvPr/>
        </p:nvSpPr>
        <p:spPr>
          <a:xfrm>
            <a:off x="0" y="1097280"/>
            <a:ext cx="12191695" cy="4572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492240"/>
            <a:ext cx="12191695" cy="365760"/>
          </a:xfrm>
          <a:prstGeom prst="rect">
            <a:avLst/>
          </a:prstGeom>
          <a:solidFill>
            <a:srgbClr val="0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10528"/>
            <a:ext cx="10972800" cy="320040"/>
          </a:xfrm>
          <a:prstGeom prst="rect">
            <a:avLst/>
          </a:prstGeom>
          <a:noFill/>
        </p:spPr>
        <p:txBody>
          <a:bodyPr wrap="square">
            <a:spAutoFit/>
          </a:bodyPr>
          <a:lstStyle/>
          <a:p>
            <a:pPr algn="ctr">
              <a:lnSpc>
                <a:spcPts val="1200"/>
              </a:lnSpc>
              <a:spcAft>
                <a:spcPts val="0"/>
              </a:spcAft>
              <a:defRPr sz="1000" b="0">
                <a:solidFill>
                  <a:srgbClr val="BBDEFB"/>
                </a:solidFill>
                <a:latin typeface="Calibri"/>
              </a:defRPr>
            </a:pPr>
            <a:r>
              <a:t>La Đại Lộc | MSSV: 4551050116 | GVHD: TS. Nguyễn Thanh Bình | Trường Đại học Quy Nhơn</a:t>
            </a:r>
          </a:p>
        </p:txBody>
      </p:sp>
      <p:sp>
        <p:nvSpPr>
          <p:cNvPr id="8" name="Rounded Rectangle 7"/>
          <p:cNvSpPr/>
          <p:nvPr/>
        </p:nvSpPr>
        <p:spPr>
          <a:xfrm>
            <a:off x="731520" y="1645920"/>
            <a:ext cx="2560320" cy="3200400"/>
          </a:xfrm>
          <a:prstGeom prst="roundRect">
            <a:avLst/>
          </a:prstGeom>
          <a:solidFill>
            <a:srgbClr val="FFFFFF"/>
          </a:solidFill>
          <a:ln>
            <a:solidFill>
              <a:srgbClr val="144D8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31520" y="1645920"/>
            <a:ext cx="2560320" cy="548640"/>
          </a:xfrm>
          <a:prstGeom prst="rect">
            <a:avLst/>
          </a:prstGeom>
          <a:solidFill>
            <a:srgbClr val="144D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1737360"/>
            <a:ext cx="2560320" cy="365760"/>
          </a:xfrm>
          <a:prstGeom prst="rect">
            <a:avLst/>
          </a:prstGeom>
          <a:noFill/>
        </p:spPr>
        <p:txBody>
          <a:bodyPr wrap="square">
            <a:spAutoFit/>
          </a:bodyPr>
          <a:lstStyle/>
          <a:p>
            <a:pPr algn="ctr">
              <a:lnSpc>
                <a:spcPts val="1680"/>
              </a:lnSpc>
              <a:spcAft>
                <a:spcPts val="0"/>
              </a:spcAft>
              <a:defRPr sz="1400" b="1">
                <a:solidFill>
                  <a:srgbClr val="FFFFFF"/>
                </a:solidFill>
                <a:latin typeface="Calibri"/>
              </a:defRPr>
            </a:pPr>
            <a:r>
              <a:t>🏗️ Thiết kế kiến trúc</a:t>
            </a:r>
          </a:p>
        </p:txBody>
      </p:sp>
      <p:sp>
        <p:nvSpPr>
          <p:cNvPr id="11" name="TextBox 10"/>
          <p:cNvSpPr txBox="1"/>
          <p:nvPr/>
        </p:nvSpPr>
        <p:spPr>
          <a:xfrm>
            <a:off x="914400" y="2377440"/>
            <a:ext cx="2194560" cy="2286000"/>
          </a:xfrm>
          <a:prstGeom prst="rect">
            <a:avLst/>
          </a:prstGeom>
          <a:noFill/>
        </p:spPr>
        <p:txBody>
          <a:bodyPr wrap="square">
            <a:spAutoFit/>
          </a:bodyPr>
          <a:lstStyle/>
          <a:p>
            <a:pPr algn="ctr">
              <a:lnSpc>
                <a:spcPts val="1959"/>
              </a:lnSpc>
              <a:spcAft>
                <a:spcPts val="0"/>
              </a:spcAft>
              <a:defRPr sz="1400" b="0">
                <a:solidFill>
                  <a:srgbClr val="424242"/>
                </a:solidFill>
                <a:latin typeface="Calibri"/>
              </a:defRPr>
            </a:pPr>
            <a:r>
              <a:t>Hệ thống DMS theo kiến trúc Hybrid Edge–Cloud</a:t>
            </a:r>
            <a:br/>
            <a:r>
              <a:t>với phân vai rõ ràng giữa Edge và Cloud</a:t>
            </a:r>
          </a:p>
        </p:txBody>
      </p:sp>
      <p:sp>
        <p:nvSpPr>
          <p:cNvPr id="12" name="Rounded Rectangle 11"/>
          <p:cNvSpPr/>
          <p:nvPr/>
        </p:nvSpPr>
        <p:spPr>
          <a:xfrm>
            <a:off x="3520440" y="1645920"/>
            <a:ext cx="2560320" cy="3200400"/>
          </a:xfrm>
          <a:prstGeom prst="roundRect">
            <a:avLst/>
          </a:prstGeom>
          <a:solidFill>
            <a:srgbClr val="FFFFFF"/>
          </a:solidFill>
          <a:ln>
            <a:solidFill>
              <a:srgbClr val="0069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520440" y="1645920"/>
            <a:ext cx="2560320" cy="548640"/>
          </a:xfrm>
          <a:prstGeom prst="rect">
            <a:avLst/>
          </a:prstGeom>
          <a:solidFill>
            <a:srgbClr val="006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520440" y="1737360"/>
            <a:ext cx="2560320" cy="365760"/>
          </a:xfrm>
          <a:prstGeom prst="rect">
            <a:avLst/>
          </a:prstGeom>
          <a:noFill/>
        </p:spPr>
        <p:txBody>
          <a:bodyPr wrap="square">
            <a:spAutoFit/>
          </a:bodyPr>
          <a:lstStyle/>
          <a:p>
            <a:pPr algn="ctr">
              <a:lnSpc>
                <a:spcPts val="1680"/>
              </a:lnSpc>
              <a:spcAft>
                <a:spcPts val="0"/>
              </a:spcAft>
              <a:defRPr sz="1400" b="1">
                <a:solidFill>
                  <a:srgbClr val="FFFFFF"/>
                </a:solidFill>
                <a:latin typeface="Calibri"/>
              </a:defRPr>
            </a:pPr>
            <a:r>
              <a:t>⚡ Xử lý tại Edge</a:t>
            </a:r>
          </a:p>
        </p:txBody>
      </p:sp>
      <p:sp>
        <p:nvSpPr>
          <p:cNvPr id="15" name="TextBox 14"/>
          <p:cNvSpPr txBox="1"/>
          <p:nvPr/>
        </p:nvSpPr>
        <p:spPr>
          <a:xfrm>
            <a:off x="3703320" y="2377440"/>
            <a:ext cx="2194560" cy="2286000"/>
          </a:xfrm>
          <a:prstGeom prst="rect">
            <a:avLst/>
          </a:prstGeom>
          <a:noFill/>
        </p:spPr>
        <p:txBody>
          <a:bodyPr wrap="square">
            <a:spAutoFit/>
          </a:bodyPr>
          <a:lstStyle/>
          <a:p>
            <a:pPr algn="ctr">
              <a:lnSpc>
                <a:spcPts val="1959"/>
              </a:lnSpc>
              <a:spcAft>
                <a:spcPts val="0"/>
              </a:spcAft>
              <a:defRPr sz="1400" b="0">
                <a:solidFill>
                  <a:srgbClr val="424242"/>
                </a:solidFill>
                <a:latin typeface="Calibri"/>
              </a:defRPr>
            </a:pPr>
            <a:r>
              <a:t>Kết hợp YOLO + MediaPipe Pose</a:t>
            </a:r>
            <a:br/>
            <a:r>
              <a:t>cùng Behavior Rules Engine</a:t>
            </a:r>
            <a:br/>
            <a:r>
              <a:t>cảnh báo gần thời gian thực</a:t>
            </a:r>
          </a:p>
        </p:txBody>
      </p:sp>
      <p:sp>
        <p:nvSpPr>
          <p:cNvPr id="16" name="Rounded Rectangle 15"/>
          <p:cNvSpPr/>
          <p:nvPr/>
        </p:nvSpPr>
        <p:spPr>
          <a:xfrm>
            <a:off x="6309360" y="1645920"/>
            <a:ext cx="2560320" cy="3200400"/>
          </a:xfrm>
          <a:prstGeom prst="roundRect">
            <a:avLst/>
          </a:prstGeom>
          <a:solidFill>
            <a:srgbClr val="FFFFFF"/>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309360" y="1645920"/>
            <a:ext cx="2560320" cy="54864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09360" y="1737360"/>
            <a:ext cx="2560320" cy="365760"/>
          </a:xfrm>
          <a:prstGeom prst="rect">
            <a:avLst/>
          </a:prstGeom>
          <a:noFill/>
        </p:spPr>
        <p:txBody>
          <a:bodyPr wrap="square">
            <a:spAutoFit/>
          </a:bodyPr>
          <a:lstStyle/>
          <a:p>
            <a:pPr algn="ctr">
              <a:lnSpc>
                <a:spcPts val="1680"/>
              </a:lnSpc>
              <a:spcAft>
                <a:spcPts val="0"/>
              </a:spcAft>
              <a:defRPr sz="1400" b="1">
                <a:solidFill>
                  <a:srgbClr val="FFFFFF"/>
                </a:solidFill>
                <a:latin typeface="Calibri"/>
              </a:defRPr>
            </a:pPr>
            <a:r>
              <a:t>☁️ Quản lý trên Cloud</a:t>
            </a:r>
          </a:p>
        </p:txBody>
      </p:sp>
      <p:sp>
        <p:nvSpPr>
          <p:cNvPr id="19" name="TextBox 18"/>
          <p:cNvSpPr txBox="1"/>
          <p:nvPr/>
        </p:nvSpPr>
        <p:spPr>
          <a:xfrm>
            <a:off x="6492240" y="2377440"/>
            <a:ext cx="2194560" cy="2286000"/>
          </a:xfrm>
          <a:prstGeom prst="rect">
            <a:avLst/>
          </a:prstGeom>
          <a:noFill/>
        </p:spPr>
        <p:txBody>
          <a:bodyPr wrap="square">
            <a:spAutoFit/>
          </a:bodyPr>
          <a:lstStyle/>
          <a:p>
            <a:pPr algn="ctr">
              <a:lnSpc>
                <a:spcPts val="1959"/>
              </a:lnSpc>
              <a:spcAft>
                <a:spcPts val="0"/>
              </a:spcAft>
              <a:defRPr sz="1400" b="0">
                <a:solidFill>
                  <a:srgbClr val="424242"/>
                </a:solidFill>
                <a:latin typeface="Calibri"/>
              </a:defRPr>
            </a:pPr>
            <a:r>
              <a:t>FastAPI + SQLite + Dashboard</a:t>
            </a:r>
            <a:br/>
            <a:r>
              <a:t>lưu trữ, quản lý và giám sát</a:t>
            </a:r>
            <a:br/>
            <a:r>
              <a:t>cảnh báo tập trung</a:t>
            </a:r>
          </a:p>
        </p:txBody>
      </p:sp>
      <p:sp>
        <p:nvSpPr>
          <p:cNvPr id="20" name="Rounded Rectangle 19"/>
          <p:cNvSpPr/>
          <p:nvPr/>
        </p:nvSpPr>
        <p:spPr>
          <a:xfrm>
            <a:off x="9098279" y="1645920"/>
            <a:ext cx="2560320" cy="3200400"/>
          </a:xfrm>
          <a:prstGeom prst="roundRect">
            <a:avLst/>
          </a:prstGeom>
          <a:solidFill>
            <a:srgbClr val="FFFFFF"/>
          </a:solidFill>
          <a:ln>
            <a:solidFill>
              <a:srgbClr val="FF6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9098279" y="1645920"/>
            <a:ext cx="2560320" cy="548640"/>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098279" y="1737360"/>
            <a:ext cx="2560320" cy="365760"/>
          </a:xfrm>
          <a:prstGeom prst="rect">
            <a:avLst/>
          </a:prstGeom>
          <a:noFill/>
        </p:spPr>
        <p:txBody>
          <a:bodyPr wrap="square">
            <a:spAutoFit/>
          </a:bodyPr>
          <a:lstStyle/>
          <a:p>
            <a:pPr algn="ctr">
              <a:lnSpc>
                <a:spcPts val="1680"/>
              </a:lnSpc>
              <a:spcAft>
                <a:spcPts val="0"/>
              </a:spcAft>
              <a:defRPr sz="1400" b="1">
                <a:solidFill>
                  <a:srgbClr val="FFFFFF"/>
                </a:solidFill>
                <a:latin typeface="Calibri"/>
              </a:defRPr>
            </a:pPr>
            <a:r>
              <a:t>✅ Tính khả thi</a:t>
            </a:r>
          </a:p>
        </p:txBody>
      </p:sp>
      <p:sp>
        <p:nvSpPr>
          <p:cNvPr id="23" name="TextBox 22"/>
          <p:cNvSpPr txBox="1"/>
          <p:nvPr/>
        </p:nvSpPr>
        <p:spPr>
          <a:xfrm>
            <a:off x="9281159" y="2377440"/>
            <a:ext cx="2194560" cy="2286000"/>
          </a:xfrm>
          <a:prstGeom prst="rect">
            <a:avLst/>
          </a:prstGeom>
          <a:noFill/>
        </p:spPr>
        <p:txBody>
          <a:bodyPr wrap="square">
            <a:spAutoFit/>
          </a:bodyPr>
          <a:lstStyle/>
          <a:p>
            <a:pPr algn="ctr">
              <a:lnSpc>
                <a:spcPts val="1959"/>
              </a:lnSpc>
              <a:spcAft>
                <a:spcPts val="0"/>
              </a:spcAft>
              <a:defRPr sz="1400" b="0">
                <a:solidFill>
                  <a:srgbClr val="424242"/>
                </a:solidFill>
                <a:latin typeface="Calibri"/>
              </a:defRPr>
            </a:pPr>
            <a:r>
              <a:t>Chứng minh qua thực nghiệm:</a:t>
            </a:r>
            <a:br/>
            <a:r>
              <a:t>FPS cải thiện, F1-Score cao</a:t>
            </a:r>
            <a:br/>
            <a:r>
              <a:t>Cơ chế giảm cảnh báo sai hiệu quả</a:t>
            </a:r>
          </a:p>
        </p:txBody>
      </p:sp>
      <p:sp>
        <p:nvSpPr>
          <p:cNvPr id="24" name="Rounded Rectangle 23"/>
          <p:cNvSpPr/>
          <p:nvPr/>
        </p:nvSpPr>
        <p:spPr>
          <a:xfrm>
            <a:off x="731520" y="5120640"/>
            <a:ext cx="10515600" cy="1097280"/>
          </a:xfrm>
          <a:prstGeom prst="roundRect">
            <a:avLst/>
          </a:prstGeom>
          <a:solidFill>
            <a:srgbClr val="E3F2FD"/>
          </a:solidFill>
          <a:ln>
            <a:solidFill>
              <a:srgbClr val="144D8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97280" y="5212080"/>
            <a:ext cx="10058400" cy="914400"/>
          </a:xfrm>
          <a:prstGeom prst="rect">
            <a:avLst/>
          </a:prstGeom>
          <a:noFill/>
        </p:spPr>
        <p:txBody>
          <a:bodyPr wrap="square">
            <a:spAutoFit/>
          </a:bodyPr>
          <a:lstStyle/>
          <a:p>
            <a:pPr algn="ctr">
              <a:lnSpc>
                <a:spcPts val="2100"/>
              </a:lnSpc>
              <a:spcAft>
                <a:spcPts val="0"/>
              </a:spcAft>
              <a:defRPr sz="1500" b="1">
                <a:solidFill>
                  <a:srgbClr val="0A2E5C"/>
                </a:solidFill>
                <a:latin typeface="Calibri"/>
              </a:defRPr>
            </a:pPr>
            <a:r>
              <a:t>Đề tài đã hoàn thành các mục tiêu chính ở mức nguyên mẫu thử nghiệm. Hệ thống chứng minh tính khả thi của kiến trúc Hybrid Edge–Cloud trong bài toán nhận diện hành vi tài xế xe khách, vừa đáp ứng yêu cầu phản hồi thời gian thực tại Edge, vừa hỗ trợ quản trị tập trung trên Cloud.</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0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37160"/>
            <a:ext cx="10058400" cy="640080"/>
          </a:xfrm>
          <a:prstGeom prst="rect">
            <a:avLst/>
          </a:prstGeom>
          <a:noFill/>
        </p:spPr>
        <p:txBody>
          <a:bodyPr wrap="square">
            <a:spAutoFit/>
          </a:bodyPr>
          <a:lstStyle/>
          <a:p>
            <a:pPr algn="l">
              <a:lnSpc>
                <a:spcPts val="3840"/>
              </a:lnSpc>
              <a:spcAft>
                <a:spcPts val="0"/>
              </a:spcAft>
              <a:defRPr sz="3200" b="1">
                <a:solidFill>
                  <a:srgbClr val="FFFFFF"/>
                </a:solidFill>
                <a:latin typeface="Calibri"/>
              </a:defRPr>
            </a:pPr>
            <a:r>
              <a:t>HẠN CHẾ VÀ HƯỚNG PHÁT TRIỂN</a:t>
            </a:r>
          </a:p>
        </p:txBody>
      </p:sp>
      <p:sp>
        <p:nvSpPr>
          <p:cNvPr id="4" name="TextBox 3"/>
          <p:cNvSpPr txBox="1"/>
          <p:nvPr/>
        </p:nvSpPr>
        <p:spPr>
          <a:xfrm>
            <a:off x="731520" y="685800"/>
            <a:ext cx="10058400" cy="365760"/>
          </a:xfrm>
          <a:prstGeom prst="rect">
            <a:avLst/>
          </a:prstGeom>
          <a:noFill/>
        </p:spPr>
        <p:txBody>
          <a:bodyPr wrap="square">
            <a:spAutoFit/>
          </a:bodyPr>
          <a:lstStyle/>
          <a:p>
            <a:pPr algn="l">
              <a:lnSpc>
                <a:spcPts val="1920"/>
              </a:lnSpc>
              <a:spcAft>
                <a:spcPts val="0"/>
              </a:spcAft>
              <a:defRPr sz="1600" b="0">
                <a:solidFill>
                  <a:srgbClr val="42A5F5"/>
                </a:solidFill>
                <a:latin typeface="Calibri"/>
              </a:defRPr>
            </a:pPr>
            <a:r>
              <a:t>Chương 5.2 &amp; 5.3</a:t>
            </a:r>
          </a:p>
        </p:txBody>
      </p:sp>
      <p:sp>
        <p:nvSpPr>
          <p:cNvPr id="5" name="Rectangle 4"/>
          <p:cNvSpPr/>
          <p:nvPr/>
        </p:nvSpPr>
        <p:spPr>
          <a:xfrm>
            <a:off x="0" y="1097280"/>
            <a:ext cx="12191695" cy="4572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492240"/>
            <a:ext cx="12191695" cy="365760"/>
          </a:xfrm>
          <a:prstGeom prst="rect">
            <a:avLst/>
          </a:prstGeom>
          <a:solidFill>
            <a:srgbClr val="0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10528"/>
            <a:ext cx="10972800" cy="320040"/>
          </a:xfrm>
          <a:prstGeom prst="rect">
            <a:avLst/>
          </a:prstGeom>
          <a:noFill/>
        </p:spPr>
        <p:txBody>
          <a:bodyPr wrap="square">
            <a:spAutoFit/>
          </a:bodyPr>
          <a:lstStyle/>
          <a:p>
            <a:pPr algn="ctr">
              <a:lnSpc>
                <a:spcPts val="1200"/>
              </a:lnSpc>
              <a:spcAft>
                <a:spcPts val="0"/>
              </a:spcAft>
              <a:defRPr sz="1000" b="0">
                <a:solidFill>
                  <a:srgbClr val="BBDEFB"/>
                </a:solidFill>
                <a:latin typeface="Calibri"/>
              </a:defRPr>
            </a:pPr>
            <a:r>
              <a:t>La Đại Lộc | MSSV: 4551050116 | GVHD: TS. Nguyễn Thanh Bình | Trường Đại học Quy Nhơn</a:t>
            </a:r>
          </a:p>
        </p:txBody>
      </p:sp>
      <p:sp>
        <p:nvSpPr>
          <p:cNvPr id="8" name="TextBox 7"/>
          <p:cNvSpPr txBox="1"/>
          <p:nvPr/>
        </p:nvSpPr>
        <p:spPr>
          <a:xfrm>
            <a:off x="731520" y="1463040"/>
            <a:ext cx="5029200" cy="365760"/>
          </a:xfrm>
          <a:prstGeom prst="rect">
            <a:avLst/>
          </a:prstGeom>
          <a:noFill/>
        </p:spPr>
        <p:txBody>
          <a:bodyPr wrap="square">
            <a:spAutoFit/>
          </a:bodyPr>
          <a:lstStyle/>
          <a:p>
            <a:pPr algn="l">
              <a:lnSpc>
                <a:spcPts val="2160"/>
              </a:lnSpc>
              <a:spcAft>
                <a:spcPts val="0"/>
              </a:spcAft>
              <a:defRPr sz="1800" b="1">
                <a:solidFill>
                  <a:srgbClr val="C62828"/>
                </a:solidFill>
                <a:latin typeface="Calibri"/>
              </a:defRPr>
            </a:pPr>
            <a:r>
              <a:t>⚠️ Hạn chế hiện tại</a:t>
            </a:r>
          </a:p>
        </p:txBody>
      </p:sp>
      <p:sp>
        <p:nvSpPr>
          <p:cNvPr id="9" name="TextBox 8"/>
          <p:cNvSpPr txBox="1"/>
          <p:nvPr/>
        </p:nvSpPr>
        <p:spPr>
          <a:xfrm>
            <a:off x="731520" y="2011680"/>
            <a:ext cx="5303520" cy="4114800"/>
          </a:xfrm>
          <a:prstGeom prst="rect">
            <a:avLst/>
          </a:prstGeom>
          <a:noFill/>
        </p:spPr>
        <p:txBody>
          <a:bodyPr wrap="square">
            <a:spAutoFit/>
          </a:bodyPr>
          <a:lstStyle/>
          <a:p>
            <a:pPr algn="l">
              <a:lnSpc>
                <a:spcPts val="1820"/>
              </a:lnSpc>
              <a:spcAft>
                <a:spcPts val="600"/>
              </a:spcAft>
              <a:defRPr sz="1300">
                <a:solidFill>
                  <a:srgbClr val="C62828"/>
                </a:solidFill>
                <a:latin typeface="Calibri"/>
              </a:defRPr>
            </a:pPr>
            <a:r>
              <a:t>✗ Nhạy cảm với môi trường quang học (ngược sáng, thiếu sáng)</a:t>
            </a:r>
          </a:p>
          <a:p>
            <a:pPr algn="l">
              <a:lnSpc>
                <a:spcPts val="1820"/>
              </a:lnSpc>
              <a:spcAft>
                <a:spcPts val="600"/>
              </a:spcAft>
              <a:defRPr sz="1300">
                <a:solidFill>
                  <a:srgbClr val="C62828"/>
                </a:solidFill>
                <a:latin typeface="Calibri"/>
              </a:defRPr>
            </a:pPr>
            <a:r>
              <a:t>✗ Dataset chưa đủ độ phủ cho mọi tình huống thực tế</a:t>
            </a:r>
          </a:p>
          <a:p>
            <a:pPr algn="l">
              <a:lnSpc>
                <a:spcPts val="1820"/>
              </a:lnSpc>
              <a:spcAft>
                <a:spcPts val="600"/>
              </a:spcAft>
              <a:defRPr sz="1300">
                <a:solidFill>
                  <a:srgbClr val="C62828"/>
                </a:solidFill>
                <a:latin typeface="Calibri"/>
              </a:defRPr>
            </a:pPr>
            <a:r>
              <a:t>✗ Luật tất định với ngưỡng thủ công, thiếu thích ứng động</a:t>
            </a:r>
          </a:p>
          <a:p>
            <a:pPr algn="l">
              <a:lnSpc>
                <a:spcPts val="1820"/>
              </a:lnSpc>
              <a:spcAft>
                <a:spcPts val="600"/>
              </a:spcAft>
              <a:defRPr sz="1300">
                <a:solidFill>
                  <a:srgbClr val="C62828"/>
                </a:solidFill>
                <a:latin typeface="Calibri"/>
              </a:defRPr>
            </a:pPr>
            <a:r>
              <a:t>✗ Chỉ giới hạn 3 hành vi, chưa mở rộng micro-biometric</a:t>
            </a:r>
          </a:p>
          <a:p>
            <a:pPr algn="l">
              <a:lnSpc>
                <a:spcPts val="1820"/>
              </a:lnSpc>
              <a:spcAft>
                <a:spcPts val="600"/>
              </a:spcAft>
              <a:defRPr sz="1300">
                <a:solidFill>
                  <a:srgbClr val="C62828"/>
                </a:solidFill>
                <a:latin typeface="Calibri"/>
              </a:defRPr>
            </a:pPr>
            <a:r>
              <a:t>✗ SlowFast mới ở baseline, chưa fine-tune cho hành vi tài xế</a:t>
            </a:r>
          </a:p>
          <a:p>
            <a:pPr algn="l">
              <a:lnSpc>
                <a:spcPts val="1820"/>
              </a:lnSpc>
              <a:spcAft>
                <a:spcPts val="600"/>
              </a:spcAft>
              <a:defRPr sz="1300">
                <a:solidFill>
                  <a:srgbClr val="C62828"/>
                </a:solidFill>
                <a:latin typeface="Calibri"/>
              </a:defRPr>
            </a:pPr>
            <a:r>
              <a:t>✗ Chưa kiểm thử trên bo mạch nhúng (Jetson) dài hạn</a:t>
            </a:r>
          </a:p>
        </p:txBody>
      </p:sp>
      <p:sp>
        <p:nvSpPr>
          <p:cNvPr id="10" name="TextBox 9"/>
          <p:cNvSpPr txBox="1"/>
          <p:nvPr/>
        </p:nvSpPr>
        <p:spPr>
          <a:xfrm>
            <a:off x="6400800" y="1463040"/>
            <a:ext cx="5029200" cy="365760"/>
          </a:xfrm>
          <a:prstGeom prst="rect">
            <a:avLst/>
          </a:prstGeom>
          <a:noFill/>
        </p:spPr>
        <p:txBody>
          <a:bodyPr wrap="square">
            <a:spAutoFit/>
          </a:bodyPr>
          <a:lstStyle/>
          <a:p>
            <a:pPr algn="l">
              <a:lnSpc>
                <a:spcPts val="2160"/>
              </a:lnSpc>
              <a:spcAft>
                <a:spcPts val="0"/>
              </a:spcAft>
              <a:defRPr sz="1800" b="1">
                <a:solidFill>
                  <a:srgbClr val="2E7D32"/>
                </a:solidFill>
                <a:latin typeface="Calibri"/>
              </a:defRPr>
            </a:pPr>
            <a:r>
              <a:t>🚀 Hướng phát triển</a:t>
            </a:r>
          </a:p>
        </p:txBody>
      </p:sp>
      <p:sp>
        <p:nvSpPr>
          <p:cNvPr id="11" name="TextBox 10"/>
          <p:cNvSpPr txBox="1"/>
          <p:nvPr/>
        </p:nvSpPr>
        <p:spPr>
          <a:xfrm>
            <a:off x="6400800" y="2011680"/>
            <a:ext cx="5303520" cy="4114800"/>
          </a:xfrm>
          <a:prstGeom prst="rect">
            <a:avLst/>
          </a:prstGeom>
          <a:noFill/>
        </p:spPr>
        <p:txBody>
          <a:bodyPr wrap="square">
            <a:spAutoFit/>
          </a:bodyPr>
          <a:lstStyle/>
          <a:p>
            <a:pPr algn="l">
              <a:lnSpc>
                <a:spcPts val="1820"/>
              </a:lnSpc>
              <a:spcAft>
                <a:spcPts val="600"/>
              </a:spcAft>
              <a:defRPr sz="1300">
                <a:solidFill>
                  <a:srgbClr val="2E7D32"/>
                </a:solidFill>
                <a:latin typeface="Calibri"/>
              </a:defRPr>
            </a:pPr>
            <a:r>
              <a:t>✓ Mở rộng dataset đa miền, tích hợp Camera hồng ngoại (IR)</a:t>
            </a:r>
          </a:p>
          <a:p>
            <a:pPr algn="l">
              <a:lnSpc>
                <a:spcPts val="1820"/>
              </a:lnSpc>
              <a:spcAft>
                <a:spcPts val="600"/>
              </a:spcAft>
              <a:defRPr sz="1300">
                <a:solidFill>
                  <a:srgbClr val="2E7D32"/>
                </a:solidFill>
                <a:latin typeface="Calibri"/>
              </a:defRPr>
            </a:pPr>
            <a:r>
              <a:t>✓ Thay thế bằng RT-DETR, Vision Transformers (ViT)</a:t>
            </a:r>
          </a:p>
          <a:p>
            <a:pPr algn="l">
              <a:lnSpc>
                <a:spcPts val="1820"/>
              </a:lnSpc>
              <a:spcAft>
                <a:spcPts val="600"/>
              </a:spcAft>
              <a:defRPr sz="1300">
                <a:solidFill>
                  <a:srgbClr val="2E7D32"/>
                </a:solidFill>
                <a:latin typeface="Calibri"/>
              </a:defRPr>
            </a:pPr>
            <a:r>
              <a:t>✓ Mở rộng: Gaze Estimation, Head Pose, PERCLOS (buồn ngủ)</a:t>
            </a:r>
          </a:p>
          <a:p>
            <a:pPr algn="l">
              <a:lnSpc>
                <a:spcPts val="1820"/>
              </a:lnSpc>
              <a:spcAft>
                <a:spcPts val="600"/>
              </a:spcAft>
              <a:defRPr sz="1300">
                <a:solidFill>
                  <a:srgbClr val="2E7D32"/>
                </a:solidFill>
                <a:latin typeface="Calibri"/>
              </a:defRPr>
            </a:pPr>
            <a:r>
              <a:t>✓ Triển khai trên Jetson Orin, tối ưu TensorRT INT8</a:t>
            </a:r>
          </a:p>
          <a:p>
            <a:pPr algn="l">
              <a:lnSpc>
                <a:spcPts val="1820"/>
              </a:lnSpc>
              <a:spcAft>
                <a:spcPts val="600"/>
              </a:spcAft>
              <a:defRPr sz="1300">
                <a:solidFill>
                  <a:srgbClr val="2E7D32"/>
                </a:solidFill>
                <a:latin typeface="Calibri"/>
              </a:defRPr>
            </a:pPr>
            <a:r>
              <a:t>✓ Hoàn thiện SlowFast pipeline, fine-tune chuyên sâu</a:t>
            </a:r>
          </a:p>
          <a:p>
            <a:pPr algn="l">
              <a:lnSpc>
                <a:spcPts val="1820"/>
              </a:lnSpc>
              <a:spcAft>
                <a:spcPts val="600"/>
              </a:spcAft>
              <a:defRPr sz="1300">
                <a:solidFill>
                  <a:srgbClr val="2E7D32"/>
                </a:solidFill>
                <a:latin typeface="Calibri"/>
              </a:defRPr>
            </a:pPr>
            <a:r>
              <a:t>✓ Triển khai thực địa trên đội xe doanh nghiệp</a:t>
            </a:r>
          </a:p>
        </p:txBody>
      </p:sp>
      <p:sp>
        <p:nvSpPr>
          <p:cNvPr id="12" name="Rounded Rectangle 11"/>
          <p:cNvSpPr/>
          <p:nvPr/>
        </p:nvSpPr>
        <p:spPr>
          <a:xfrm>
            <a:off x="1371600" y="5486400"/>
            <a:ext cx="9144000" cy="640080"/>
          </a:xfrm>
          <a:prstGeom prst="roundRect">
            <a:avLst/>
          </a:prstGeom>
          <a:solidFill>
            <a:srgbClr val="FFF3E0"/>
          </a:solidFill>
          <a:ln>
            <a:solidFill>
              <a:srgbClr val="FF6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645920" y="5577840"/>
            <a:ext cx="8686800" cy="457200"/>
          </a:xfrm>
          <a:prstGeom prst="rect">
            <a:avLst/>
          </a:prstGeom>
          <a:noFill/>
        </p:spPr>
        <p:txBody>
          <a:bodyPr wrap="square">
            <a:spAutoFit/>
          </a:bodyPr>
          <a:lstStyle/>
          <a:p>
            <a:pPr algn="ctr">
              <a:lnSpc>
                <a:spcPts val="1680"/>
              </a:lnSpc>
              <a:spcAft>
                <a:spcPts val="0"/>
              </a:spcAft>
              <a:defRPr sz="1400" b="1">
                <a:solidFill>
                  <a:srgbClr val="FF6F00"/>
                </a:solidFill>
                <a:latin typeface="Calibri"/>
              </a:defRPr>
            </a:pPr>
            <a:r>
              <a:t>Đề tài tạo nền tảng để tiếp tục cải thiện độ chính xác, khả năng tối ưu và mức độ ổn định khi triển khai thực tế</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83680"/>
            <a:ext cx="12191695" cy="27432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71600" y="1371600"/>
            <a:ext cx="9144000" cy="914400"/>
          </a:xfrm>
          <a:prstGeom prst="rect">
            <a:avLst/>
          </a:prstGeom>
          <a:noFill/>
        </p:spPr>
        <p:txBody>
          <a:bodyPr wrap="square">
            <a:spAutoFit/>
          </a:bodyPr>
          <a:lstStyle/>
          <a:p>
            <a:pPr algn="ctr">
              <a:lnSpc>
                <a:spcPts val="4800"/>
              </a:lnSpc>
              <a:spcAft>
                <a:spcPts val="0"/>
              </a:spcAft>
              <a:defRPr sz="4000" b="1">
                <a:solidFill>
                  <a:srgbClr val="FFFFFF"/>
                </a:solidFill>
                <a:latin typeface="Calibri"/>
              </a:defRPr>
            </a:pPr>
            <a:r>
              <a:t>EM XIN CHÂN THÀNH CẢM ƠN</a:t>
            </a:r>
          </a:p>
        </p:txBody>
      </p:sp>
      <p:sp>
        <p:nvSpPr>
          <p:cNvPr id="6" name="TextBox 5"/>
          <p:cNvSpPr txBox="1"/>
          <p:nvPr/>
        </p:nvSpPr>
        <p:spPr>
          <a:xfrm>
            <a:off x="1371600" y="2560320"/>
            <a:ext cx="9144000" cy="731520"/>
          </a:xfrm>
          <a:prstGeom prst="rect">
            <a:avLst/>
          </a:prstGeom>
          <a:noFill/>
        </p:spPr>
        <p:txBody>
          <a:bodyPr wrap="square">
            <a:spAutoFit/>
          </a:bodyPr>
          <a:lstStyle/>
          <a:p>
            <a:pPr algn="ctr">
              <a:lnSpc>
                <a:spcPts val="2879"/>
              </a:lnSpc>
              <a:spcAft>
                <a:spcPts val="0"/>
              </a:spcAft>
              <a:defRPr sz="2400" b="0">
                <a:solidFill>
                  <a:srgbClr val="42A5F5"/>
                </a:solidFill>
                <a:latin typeface="Calibri"/>
              </a:defRPr>
            </a:pPr>
            <a:r>
              <a:t>quý thầy cô trong hội đồng đã lắng nghe và góp ý</a:t>
            </a:r>
          </a:p>
        </p:txBody>
      </p:sp>
      <p:sp>
        <p:nvSpPr>
          <p:cNvPr id="7" name="Rectangle 6"/>
          <p:cNvSpPr/>
          <p:nvPr/>
        </p:nvSpPr>
        <p:spPr>
          <a:xfrm>
            <a:off x="4572000" y="3474720"/>
            <a:ext cx="2743200" cy="36576"/>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371600" y="3840480"/>
            <a:ext cx="9144000" cy="731520"/>
          </a:xfrm>
          <a:prstGeom prst="rect">
            <a:avLst/>
          </a:prstGeom>
          <a:noFill/>
        </p:spPr>
        <p:txBody>
          <a:bodyPr wrap="square">
            <a:spAutoFit/>
          </a:bodyPr>
          <a:lstStyle/>
          <a:p>
            <a:pPr algn="ctr">
              <a:lnSpc>
                <a:spcPts val="5759"/>
              </a:lnSpc>
              <a:spcAft>
                <a:spcPts val="0"/>
              </a:spcAft>
              <a:defRPr sz="4800" b="1">
                <a:solidFill>
                  <a:srgbClr val="FF6F00"/>
                </a:solidFill>
                <a:latin typeface="Calibri"/>
              </a:defRPr>
            </a:pPr>
            <a:r>
              <a:t>Q &amp; A</a:t>
            </a:r>
          </a:p>
        </p:txBody>
      </p:sp>
      <p:sp>
        <p:nvSpPr>
          <p:cNvPr id="9" name="TextBox 8"/>
          <p:cNvSpPr txBox="1"/>
          <p:nvPr/>
        </p:nvSpPr>
        <p:spPr>
          <a:xfrm>
            <a:off x="1371600" y="4754880"/>
            <a:ext cx="9144000" cy="548640"/>
          </a:xfrm>
          <a:prstGeom prst="rect">
            <a:avLst/>
          </a:prstGeom>
          <a:noFill/>
        </p:spPr>
        <p:txBody>
          <a:bodyPr wrap="square">
            <a:spAutoFit/>
          </a:bodyPr>
          <a:lstStyle/>
          <a:p>
            <a:pPr algn="ctr">
              <a:lnSpc>
                <a:spcPts val="2160"/>
              </a:lnSpc>
              <a:spcAft>
                <a:spcPts val="0"/>
              </a:spcAft>
              <a:defRPr sz="1800" b="0">
                <a:solidFill>
                  <a:srgbClr val="BBDEFB"/>
                </a:solidFill>
                <a:latin typeface="Calibri"/>
              </a:defRPr>
            </a:pPr>
            <a:r>
              <a:t>Em sẵn sàng giải đáp mọi thắc mắc của quý thầy cô</a:t>
            </a:r>
          </a:p>
        </p:txBody>
      </p:sp>
      <p:sp>
        <p:nvSpPr>
          <p:cNvPr id="10" name="TextBox 9"/>
          <p:cNvSpPr txBox="1"/>
          <p:nvPr/>
        </p:nvSpPr>
        <p:spPr>
          <a:xfrm>
            <a:off x="1371600" y="5486400"/>
            <a:ext cx="9144000" cy="731520"/>
          </a:xfrm>
          <a:prstGeom prst="rect">
            <a:avLst/>
          </a:prstGeom>
          <a:noFill/>
        </p:spPr>
        <p:txBody>
          <a:bodyPr wrap="square">
            <a:spAutoFit/>
          </a:bodyPr>
          <a:lstStyle/>
          <a:p>
            <a:pPr algn="ctr">
              <a:lnSpc>
                <a:spcPts val="2400"/>
              </a:lnSpc>
              <a:spcAft>
                <a:spcPts val="0"/>
              </a:spcAft>
              <a:defRPr sz="1600" b="0">
                <a:solidFill>
                  <a:srgbClr val="90CAF9"/>
                </a:solidFill>
                <a:latin typeface="Calibri"/>
              </a:defRPr>
            </a:pPr>
            <a:r>
              <a:t>Sinh viên: La Đại Lộc  |  MSSV: 4551050116</a:t>
            </a:r>
            <a:br/>
            <a:r>
              <a:t>GVHD: TS. Nguyễn Thanh Bình  |  Trường Đại học Quy Nhơn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99</TotalTime>
  <Words>7986</Words>
  <Application>Microsoft Office PowerPoint</Application>
  <PresentationFormat>Widescreen</PresentationFormat>
  <Paragraphs>795</Paragraphs>
  <Slides>29</Slides>
  <Notes>29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ADMIN</cp:lastModifiedBy>
  <cp:revision>6</cp:revision>
  <dcterms:created xsi:type="dcterms:W3CDTF">2013-01-27T09:14:16Z</dcterms:created>
  <dcterms:modified xsi:type="dcterms:W3CDTF">2026-06-09T10:00:07Z</dcterms:modified>
  <cp:category/>
</cp:coreProperties>
</file>